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x="18288000" cy="10287000"/>
  <p:notesSz cx="6858000" cy="9144000"/>
  <p:embeddedFontLst>
    <p:embeddedFont>
      <p:font typeface="Luktao Bold" charset="1" panose="00000000000000000000"/>
      <p:regular r:id="rId64"/>
    </p:embeddedFont>
    <p:embeddedFont>
      <p:font typeface="Nourd Bold" charset="1" panose="00000800000000000000"/>
      <p:regular r:id="rId65"/>
    </p:embeddedFont>
    <p:embeddedFont>
      <p:font typeface="Nourd" charset="1" panose="00000500000000000000"/>
      <p:regular r:id="rId66"/>
    </p:embeddedFont>
    <p:embeddedFont>
      <p:font typeface="Luktao" charset="1" panose="00000000000000000000"/>
      <p:regular r:id="rId67"/>
    </p:embeddedFont>
    <p:embeddedFont>
      <p:font typeface="Times New Roman MT" charset="1" panose="02030502070405020303"/>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5954" y="2346610"/>
            <a:ext cx="18262046" cy="3502026"/>
          </a:xfrm>
          <a:prstGeom prst="rect">
            <a:avLst/>
          </a:prstGeom>
        </p:spPr>
        <p:txBody>
          <a:bodyPr anchor="t" rtlCol="false" tIns="0" lIns="0" bIns="0" rIns="0">
            <a:spAutoFit/>
          </a:bodyPr>
          <a:lstStyle/>
          <a:p>
            <a:pPr algn="ctr">
              <a:lnSpc>
                <a:spcPts val="6999"/>
              </a:lnSpc>
            </a:pPr>
            <a:r>
              <a:rPr lang="en-US" b="true" sz="4999">
                <a:solidFill>
                  <a:srgbClr val="0166C2"/>
                </a:solidFill>
                <a:latin typeface="Luktao Bold"/>
                <a:ea typeface="Luktao Bold"/>
                <a:cs typeface="Luktao Bold"/>
                <a:sym typeface="Luktao Bold"/>
              </a:rPr>
              <a:t>A HYBRID MACHINE LEARNING-BASED SMART HOME IOT SECURITY SYSTEM FOR THREAT DETECTION, CLASSIFICATION, AND ALERT MECHANISMS</a:t>
            </a:r>
          </a:p>
          <a:p>
            <a:pPr algn="ctr">
              <a:lnSpc>
                <a:spcPts val="6999"/>
              </a:lnSpc>
            </a:pPr>
          </a:p>
        </p:txBody>
      </p:sp>
      <p:sp>
        <p:nvSpPr>
          <p:cNvPr name="TextBox 4" id="4"/>
          <p:cNvSpPr txBox="true"/>
          <p:nvPr/>
        </p:nvSpPr>
        <p:spPr>
          <a:xfrm rot="0">
            <a:off x="1888860" y="5519341"/>
            <a:ext cx="4407236" cy="2980690"/>
          </a:xfrm>
          <a:prstGeom prst="rect">
            <a:avLst/>
          </a:prstGeom>
        </p:spPr>
        <p:txBody>
          <a:bodyPr anchor="t" rtlCol="false" tIns="0" lIns="0" bIns="0" rIns="0">
            <a:spAutoFit/>
          </a:bodyPr>
          <a:lstStyle/>
          <a:p>
            <a:pPr algn="ctr">
              <a:lnSpc>
                <a:spcPts val="4759"/>
              </a:lnSpc>
            </a:pPr>
            <a:r>
              <a:rPr lang="en-US" sz="3399" b="true">
                <a:solidFill>
                  <a:srgbClr val="0166C2"/>
                </a:solidFill>
                <a:latin typeface="Nourd Bold"/>
                <a:ea typeface="Nourd Bold"/>
                <a:cs typeface="Nourd Bold"/>
                <a:sym typeface="Nourd Bold"/>
              </a:rPr>
              <a:t>Guide  </a:t>
            </a:r>
          </a:p>
          <a:p>
            <a:pPr algn="ctr">
              <a:lnSpc>
                <a:spcPts val="4759"/>
              </a:lnSpc>
              <a:spcBef>
                <a:spcPct val="0"/>
              </a:spcBef>
            </a:pPr>
            <a:r>
              <a:rPr lang="en-US" b="true" sz="3399">
                <a:solidFill>
                  <a:srgbClr val="0166C2"/>
                </a:solidFill>
                <a:latin typeface="Nourd Bold"/>
                <a:ea typeface="Nourd Bold"/>
                <a:cs typeface="Nourd Bold"/>
                <a:sym typeface="Nourd Bold"/>
              </a:rPr>
              <a:t>M</a:t>
            </a:r>
            <a:r>
              <a:rPr lang="en-US" b="true" sz="3399">
                <a:solidFill>
                  <a:srgbClr val="0166C2"/>
                </a:solidFill>
                <a:latin typeface="Nourd Bold"/>
                <a:ea typeface="Nourd Bold"/>
                <a:cs typeface="Nourd Bold"/>
                <a:sym typeface="Nourd Bold"/>
              </a:rPr>
              <a:t>r P. Praveen </a:t>
            </a:r>
          </a:p>
          <a:p>
            <a:pPr algn="ctr">
              <a:lnSpc>
                <a:spcPts val="4759"/>
              </a:lnSpc>
              <a:spcBef>
                <a:spcPct val="0"/>
              </a:spcBef>
            </a:pPr>
            <a:r>
              <a:rPr lang="en-US" b="true" sz="3399">
                <a:solidFill>
                  <a:srgbClr val="0166C2"/>
                </a:solidFill>
                <a:latin typeface="Nourd Bold"/>
                <a:ea typeface="Nourd Bold"/>
                <a:cs typeface="Nourd Bold"/>
                <a:sym typeface="Nourd Bold"/>
              </a:rPr>
              <a:t>Assistant Professor</a:t>
            </a:r>
          </a:p>
          <a:p>
            <a:pPr algn="ctr">
              <a:lnSpc>
                <a:spcPts val="4759"/>
              </a:lnSpc>
              <a:spcBef>
                <a:spcPct val="0"/>
              </a:spcBef>
            </a:pPr>
            <a:r>
              <a:rPr lang="en-US" b="true" sz="3399">
                <a:solidFill>
                  <a:srgbClr val="0166C2"/>
                </a:solidFill>
                <a:latin typeface="Nourd Bold"/>
                <a:ea typeface="Nourd Bold"/>
                <a:cs typeface="Nourd Bold"/>
                <a:sym typeface="Nourd Bold"/>
              </a:rPr>
              <a:t>Department of CSE</a:t>
            </a:r>
          </a:p>
          <a:p>
            <a:pPr algn="ctr">
              <a:lnSpc>
                <a:spcPts val="4759"/>
              </a:lnSpc>
              <a:spcBef>
                <a:spcPct val="0"/>
              </a:spcBef>
            </a:pPr>
          </a:p>
        </p:txBody>
      </p:sp>
      <p:sp>
        <p:nvSpPr>
          <p:cNvPr name="TextBox 5" id="5"/>
          <p:cNvSpPr txBox="true"/>
          <p:nvPr/>
        </p:nvSpPr>
        <p:spPr>
          <a:xfrm rot="0">
            <a:off x="9982526" y="5528866"/>
            <a:ext cx="7276774" cy="3181350"/>
          </a:xfrm>
          <a:prstGeom prst="rect">
            <a:avLst/>
          </a:prstGeom>
        </p:spPr>
        <p:txBody>
          <a:bodyPr anchor="t" rtlCol="false" tIns="0" lIns="0" bIns="0" rIns="0">
            <a:spAutoFit/>
          </a:bodyPr>
          <a:lstStyle/>
          <a:p>
            <a:pPr algn="just">
              <a:lnSpc>
                <a:spcPts val="4200"/>
              </a:lnSpc>
            </a:pPr>
            <a:r>
              <a:rPr lang="en-US" b="true" sz="3000" spc="432">
                <a:solidFill>
                  <a:srgbClr val="0166C2"/>
                </a:solidFill>
                <a:latin typeface="Nourd Bold"/>
                <a:ea typeface="Nourd Bold"/>
                <a:cs typeface="Nourd Bold"/>
                <a:sym typeface="Nourd Bold"/>
              </a:rPr>
              <a:t>TEAM MEMBERS:</a:t>
            </a:r>
          </a:p>
          <a:p>
            <a:pPr algn="just">
              <a:lnSpc>
                <a:spcPts val="4200"/>
              </a:lnSpc>
            </a:pPr>
            <a:r>
              <a:rPr lang="en-US" sz="3000" spc="432">
                <a:solidFill>
                  <a:srgbClr val="0166C2"/>
                </a:solidFill>
                <a:latin typeface="Nourd"/>
                <a:ea typeface="Nourd"/>
                <a:cs typeface="Nourd"/>
                <a:sym typeface="Nourd"/>
              </a:rPr>
              <a:t>22071A0518-G.ABHISHEK GOUD </a:t>
            </a:r>
          </a:p>
          <a:p>
            <a:pPr algn="just">
              <a:lnSpc>
                <a:spcPts val="4200"/>
              </a:lnSpc>
            </a:pPr>
            <a:r>
              <a:rPr lang="en-US" sz="3000" spc="432">
                <a:solidFill>
                  <a:srgbClr val="0166C2"/>
                </a:solidFill>
                <a:latin typeface="Nourd"/>
                <a:ea typeface="Nourd"/>
                <a:cs typeface="Nourd"/>
                <a:sym typeface="Nourd"/>
              </a:rPr>
              <a:t>22071A0521-G.SAI SRUJITH </a:t>
            </a:r>
          </a:p>
          <a:p>
            <a:pPr algn="just">
              <a:lnSpc>
                <a:spcPts val="4200"/>
              </a:lnSpc>
            </a:pPr>
            <a:r>
              <a:rPr lang="en-US" sz="3000" spc="432">
                <a:solidFill>
                  <a:srgbClr val="0166C2"/>
                </a:solidFill>
                <a:latin typeface="Nourd"/>
                <a:ea typeface="Nourd"/>
                <a:cs typeface="Nourd"/>
                <a:sym typeface="Nourd"/>
              </a:rPr>
              <a:t>22071A0559-V.PAVAN KUMAR</a:t>
            </a:r>
          </a:p>
          <a:p>
            <a:pPr algn="just">
              <a:lnSpc>
                <a:spcPts val="4200"/>
              </a:lnSpc>
            </a:pPr>
            <a:r>
              <a:rPr lang="en-US" sz="3000" spc="432">
                <a:solidFill>
                  <a:srgbClr val="0166C2"/>
                </a:solidFill>
                <a:latin typeface="Nourd"/>
                <a:ea typeface="Nourd"/>
                <a:cs typeface="Nourd"/>
                <a:sym typeface="Nourd"/>
              </a:rPr>
              <a:t>22071A0564-Y.SAKETH</a:t>
            </a:r>
          </a:p>
          <a:p>
            <a:pPr algn="just">
              <a:lnSpc>
                <a:spcPts val="4200"/>
              </a:lnSpc>
              <a:spcBef>
                <a:spcPct val="0"/>
              </a:spcBef>
            </a:pPr>
          </a:p>
        </p:txBody>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3598663" y="1357518"/>
            <a:ext cx="11090675" cy="1739893"/>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AGENDA</a:t>
            </a:r>
          </a:p>
          <a:p>
            <a:pPr algn="ctr">
              <a:lnSpc>
                <a:spcPts val="7000"/>
              </a:lnSpc>
            </a:pPr>
          </a:p>
        </p:txBody>
      </p:sp>
      <p:sp>
        <p:nvSpPr>
          <p:cNvPr name="TextBox 3" id="3"/>
          <p:cNvSpPr txBox="true"/>
          <p:nvPr/>
        </p:nvSpPr>
        <p:spPr>
          <a:xfrm rot="0">
            <a:off x="2908972" y="1788781"/>
            <a:ext cx="12692935" cy="95821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166C2"/>
                </a:solidFill>
                <a:latin typeface="Nourd"/>
                <a:ea typeface="Nourd"/>
                <a:cs typeface="Nourd"/>
                <a:sym typeface="Nourd"/>
              </a:rPr>
              <a:t>Abstract                                                   </a:t>
            </a:r>
          </a:p>
          <a:p>
            <a:pPr algn="just" marL="647700" indent="-323850" lvl="1">
              <a:lnSpc>
                <a:spcPts val="4200"/>
              </a:lnSpc>
              <a:buFont typeface="Arial"/>
              <a:buChar char="•"/>
            </a:pPr>
            <a:r>
              <a:rPr lang="en-US" sz="3000">
                <a:solidFill>
                  <a:srgbClr val="0166C2"/>
                </a:solidFill>
                <a:latin typeface="Nourd"/>
                <a:ea typeface="Nourd"/>
                <a:cs typeface="Nourd"/>
                <a:sym typeface="Nourd"/>
              </a:rPr>
              <a:t>Introduction</a:t>
            </a:r>
          </a:p>
          <a:p>
            <a:pPr algn="just" marL="647700" indent="-323850" lvl="1">
              <a:lnSpc>
                <a:spcPts val="4200"/>
              </a:lnSpc>
              <a:buFont typeface="Arial"/>
              <a:buChar char="•"/>
            </a:pPr>
            <a:r>
              <a:rPr lang="en-US" sz="3000">
                <a:solidFill>
                  <a:srgbClr val="0166C2"/>
                </a:solidFill>
                <a:latin typeface="Nourd"/>
                <a:ea typeface="Nourd"/>
                <a:cs typeface="Nourd"/>
                <a:sym typeface="Nourd"/>
              </a:rPr>
              <a:t>Literature Review</a:t>
            </a:r>
          </a:p>
          <a:p>
            <a:pPr algn="just" marL="647700" indent="-323850" lvl="1">
              <a:lnSpc>
                <a:spcPts val="4200"/>
              </a:lnSpc>
              <a:buFont typeface="Arial"/>
              <a:buChar char="•"/>
            </a:pPr>
            <a:r>
              <a:rPr lang="en-US" sz="3000">
                <a:solidFill>
                  <a:srgbClr val="0166C2"/>
                </a:solidFill>
                <a:latin typeface="Nourd"/>
                <a:ea typeface="Nourd"/>
                <a:cs typeface="Nourd"/>
                <a:sym typeface="Nourd"/>
              </a:rPr>
              <a:t>Existing System &amp; Limitations</a:t>
            </a:r>
          </a:p>
          <a:p>
            <a:pPr algn="just" marL="647700" indent="-323850" lvl="1">
              <a:lnSpc>
                <a:spcPts val="4200"/>
              </a:lnSpc>
              <a:buFont typeface="Arial"/>
              <a:buChar char="•"/>
            </a:pPr>
            <a:r>
              <a:rPr lang="en-US" sz="3000">
                <a:solidFill>
                  <a:srgbClr val="0166C2"/>
                </a:solidFill>
                <a:latin typeface="Nourd"/>
                <a:ea typeface="Nourd"/>
                <a:cs typeface="Nourd"/>
                <a:sym typeface="Nourd"/>
              </a:rPr>
              <a:t>Proposed System</a:t>
            </a:r>
          </a:p>
          <a:p>
            <a:pPr algn="just" marL="647700" indent="-323850" lvl="1">
              <a:lnSpc>
                <a:spcPts val="4200"/>
              </a:lnSpc>
              <a:buFont typeface="Arial"/>
              <a:buChar char="•"/>
            </a:pPr>
            <a:r>
              <a:rPr lang="en-US" sz="3000">
                <a:solidFill>
                  <a:srgbClr val="0166C2"/>
                </a:solidFill>
                <a:latin typeface="Nourd"/>
                <a:ea typeface="Nourd"/>
                <a:cs typeface="Nourd"/>
                <a:sym typeface="Nourd"/>
              </a:rPr>
              <a:t>System Requirements</a:t>
            </a:r>
          </a:p>
          <a:p>
            <a:pPr algn="just" marL="647700" indent="-323850" lvl="1">
              <a:lnSpc>
                <a:spcPts val="4200"/>
              </a:lnSpc>
              <a:buFont typeface="Arial"/>
              <a:buChar char="•"/>
            </a:pPr>
            <a:r>
              <a:rPr lang="en-US" sz="3000">
                <a:solidFill>
                  <a:srgbClr val="0166C2"/>
                </a:solidFill>
                <a:latin typeface="Nourd"/>
                <a:ea typeface="Nourd"/>
                <a:cs typeface="Nourd"/>
                <a:sym typeface="Nourd"/>
              </a:rPr>
              <a:t>Objectives</a:t>
            </a:r>
          </a:p>
          <a:p>
            <a:pPr algn="just" marL="647700" indent="-323850" lvl="1">
              <a:lnSpc>
                <a:spcPts val="4200"/>
              </a:lnSpc>
              <a:buFont typeface="Arial"/>
              <a:buChar char="•"/>
            </a:pPr>
            <a:r>
              <a:rPr lang="en-US" sz="3000">
                <a:solidFill>
                  <a:srgbClr val="0166C2"/>
                </a:solidFill>
                <a:latin typeface="Nourd"/>
                <a:ea typeface="Nourd"/>
                <a:cs typeface="Nourd"/>
                <a:sym typeface="Nourd"/>
              </a:rPr>
              <a:t>Architecture</a:t>
            </a:r>
          </a:p>
          <a:p>
            <a:pPr algn="just" marL="647700" indent="-323850" lvl="1">
              <a:lnSpc>
                <a:spcPts val="4200"/>
              </a:lnSpc>
              <a:buFont typeface="Arial"/>
              <a:buChar char="•"/>
            </a:pPr>
            <a:r>
              <a:rPr lang="en-US" sz="3000">
                <a:solidFill>
                  <a:srgbClr val="0166C2"/>
                </a:solidFill>
                <a:latin typeface="Nourd"/>
                <a:ea typeface="Nourd"/>
                <a:cs typeface="Nourd"/>
                <a:sym typeface="Nourd"/>
              </a:rPr>
              <a:t>Methodology</a:t>
            </a:r>
          </a:p>
          <a:p>
            <a:pPr algn="just" marL="647700" indent="-323850" lvl="1">
              <a:lnSpc>
                <a:spcPts val="4200"/>
              </a:lnSpc>
              <a:buFont typeface="Arial"/>
              <a:buChar char="•"/>
            </a:pPr>
            <a:r>
              <a:rPr lang="en-US" sz="3000">
                <a:solidFill>
                  <a:srgbClr val="0166C2"/>
                </a:solidFill>
                <a:latin typeface="Nourd"/>
                <a:ea typeface="Nourd"/>
                <a:cs typeface="Nourd"/>
                <a:sym typeface="Nourd"/>
              </a:rPr>
              <a:t>System Design</a:t>
            </a:r>
          </a:p>
          <a:p>
            <a:pPr algn="just" marL="647700" indent="-323850" lvl="1">
              <a:lnSpc>
                <a:spcPts val="4200"/>
              </a:lnSpc>
              <a:buFont typeface="Arial"/>
              <a:buChar char="•"/>
            </a:pPr>
            <a:r>
              <a:rPr lang="en-US" sz="3000">
                <a:solidFill>
                  <a:srgbClr val="0166C2"/>
                </a:solidFill>
                <a:latin typeface="Nourd"/>
                <a:ea typeface="Nourd"/>
                <a:cs typeface="Nourd"/>
                <a:sym typeface="Nourd"/>
              </a:rPr>
              <a:t>Implementation</a:t>
            </a:r>
          </a:p>
          <a:p>
            <a:pPr algn="just" marL="647700" indent="-323850" lvl="1">
              <a:lnSpc>
                <a:spcPts val="4200"/>
              </a:lnSpc>
              <a:buFont typeface="Arial"/>
              <a:buChar char="•"/>
            </a:pPr>
            <a:r>
              <a:rPr lang="en-US" sz="3000">
                <a:solidFill>
                  <a:srgbClr val="0166C2"/>
                </a:solidFill>
                <a:latin typeface="Nourd"/>
                <a:ea typeface="Nourd"/>
                <a:cs typeface="Nourd"/>
                <a:sym typeface="Nourd"/>
              </a:rPr>
              <a:t>Conclusion</a:t>
            </a:r>
          </a:p>
          <a:p>
            <a:pPr algn="just" marL="647700" indent="-323850" lvl="1">
              <a:lnSpc>
                <a:spcPts val="4200"/>
              </a:lnSpc>
              <a:buFont typeface="Arial"/>
              <a:buChar char="•"/>
            </a:pPr>
            <a:r>
              <a:rPr lang="en-US" sz="3000">
                <a:solidFill>
                  <a:srgbClr val="0166C2"/>
                </a:solidFill>
                <a:latin typeface="Nourd"/>
                <a:ea typeface="Nourd"/>
                <a:cs typeface="Nourd"/>
                <a:sym typeface="Nourd"/>
              </a:rPr>
              <a:t>Future Scope</a:t>
            </a:r>
          </a:p>
          <a:p>
            <a:pPr algn="just" marL="647700" indent="-323850" lvl="1">
              <a:lnSpc>
                <a:spcPts val="4200"/>
              </a:lnSpc>
              <a:buFont typeface="Arial"/>
              <a:buChar char="•"/>
            </a:pPr>
            <a:r>
              <a:rPr lang="en-US" sz="3000">
                <a:solidFill>
                  <a:srgbClr val="0166C2"/>
                </a:solidFill>
                <a:latin typeface="Nourd"/>
                <a:ea typeface="Nourd"/>
                <a:cs typeface="Nourd"/>
                <a:sym typeface="Nourd"/>
              </a:rPr>
              <a:t>Work Plan </a:t>
            </a:r>
          </a:p>
          <a:p>
            <a:pPr algn="just" marL="647700" indent="-323850" lvl="1">
              <a:lnSpc>
                <a:spcPts val="4200"/>
              </a:lnSpc>
              <a:buFont typeface="Arial"/>
              <a:buChar char="•"/>
            </a:pPr>
            <a:r>
              <a:rPr lang="en-US" sz="3000">
                <a:solidFill>
                  <a:srgbClr val="0166C2"/>
                </a:solidFill>
                <a:latin typeface="Nourd"/>
                <a:ea typeface="Nourd"/>
                <a:cs typeface="Nourd"/>
                <a:sym typeface="Nourd"/>
              </a:rPr>
              <a:t>References</a:t>
            </a:r>
          </a:p>
          <a:p>
            <a:pPr algn="just">
              <a:lnSpc>
                <a:spcPts val="4200"/>
              </a:lnSpc>
            </a:pPr>
          </a:p>
          <a:p>
            <a:pPr algn="just">
              <a:lnSpc>
                <a:spcPts val="4200"/>
              </a:lnSpc>
            </a:pPr>
          </a:p>
          <a:p>
            <a:pPr algn="just">
              <a:lnSpc>
                <a:spcPts val="4200"/>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7" id="7"/>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Freeform 8" id="8"/>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9" id="9"/>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5580913" y="1750681"/>
            <a:ext cx="6350538" cy="1739893"/>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ABSTRACT</a:t>
            </a:r>
          </a:p>
          <a:p>
            <a:pPr algn="ctr">
              <a:lnSpc>
                <a:spcPts val="7000"/>
              </a:lnSpc>
            </a:pPr>
          </a:p>
        </p:txBody>
      </p:sp>
      <p:sp>
        <p:nvSpPr>
          <p:cNvPr name="TextBox 3" id="3"/>
          <p:cNvSpPr txBox="true"/>
          <p:nvPr/>
        </p:nvSpPr>
        <p:spPr>
          <a:xfrm rot="0">
            <a:off x="1436649" y="2611102"/>
            <a:ext cx="15414702" cy="6791325"/>
          </a:xfrm>
          <a:prstGeom prst="rect">
            <a:avLst/>
          </a:prstGeom>
        </p:spPr>
        <p:txBody>
          <a:bodyPr anchor="t" rtlCol="false" tIns="0" lIns="0" bIns="0" rIns="0">
            <a:spAutoFit/>
          </a:bodyPr>
          <a:lstStyle/>
          <a:p>
            <a:pPr algn="just" marL="0" indent="0" lvl="0">
              <a:lnSpc>
                <a:spcPts val="4199"/>
              </a:lnSpc>
            </a:pPr>
            <a:r>
              <a:rPr lang="en-US" sz="2999" spc="-116">
                <a:solidFill>
                  <a:srgbClr val="0166C2"/>
                </a:solidFill>
                <a:latin typeface="Nourd"/>
                <a:ea typeface="Nourd"/>
                <a:cs typeface="Nourd"/>
                <a:sym typeface="Nourd"/>
              </a:rPr>
              <a:t>T</a:t>
            </a:r>
            <a:r>
              <a:rPr lang="en-US" sz="2999" spc="-116">
                <a:solidFill>
                  <a:srgbClr val="0166C2"/>
                </a:solidFill>
                <a:latin typeface="Nourd"/>
                <a:ea typeface="Nourd"/>
                <a:cs typeface="Nourd"/>
                <a:sym typeface="Nourd"/>
              </a:rPr>
              <a:t>he rapid growth of Internet of Things (IoT) devices in smart home environments has increased the risk of cyber-attacks, making security a critical concern. This project presents an IoT-based smart home security system that detects and classifies network anomalies using machine learning techniques. A smart bulb controlled through ESP32 devices is used to simulate real-time IoT communication, and network traffic is captured under both normal and attack conditions using Wireshark. The collected data is preprocessed through feature cleaning, encoding, scaling, and dimensionality reduction using Principal Component Analysis (PCA). A hybrid approach is implemented where Local Outlier Factor (LOF) is used for anomaly detection and Random Forest is used for attack classification. The system identifies normal traffic, known attacks, and abnormal patterns based on confidence scores. An automated email alert mechanism is integrated to notify users of detected threats. Experimental results demonstrate that the system effectively detects anomalies and provides reliable classification, making it suitable for enhancing security in IoT-based smart home environments.</a:t>
            </a: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1732585" y="2611106"/>
            <a:ext cx="14822831" cy="6915150"/>
          </a:xfrm>
          <a:prstGeom prst="rect">
            <a:avLst/>
          </a:prstGeom>
        </p:spPr>
        <p:txBody>
          <a:bodyPr anchor="t" rtlCol="false" tIns="0" lIns="0" bIns="0" rIns="0">
            <a:spAutoFit/>
          </a:bodyPr>
          <a:lstStyle/>
          <a:p>
            <a:pPr algn="just">
              <a:lnSpc>
                <a:spcPts val="4200"/>
              </a:lnSpc>
            </a:pPr>
            <a:r>
              <a:rPr lang="en-US" sz="3000" spc="-117">
                <a:solidFill>
                  <a:srgbClr val="0166C2"/>
                </a:solidFill>
                <a:latin typeface="Nourd"/>
                <a:ea typeface="Nourd"/>
                <a:cs typeface="Nourd"/>
                <a:sym typeface="Nourd"/>
              </a:rPr>
              <a:t>The increasing adoption of Internet of Things (IoT) devices in smart home environments has significantly enhanced automation and user convenience, but it has also introduced serious security vulnerabilities. Devices such as smart bulbs and controllers communicate continuously over networks, making them potential targets for cyber-attacks including brute force, replay, and man-in-the-middle attacks. Conventional security mechanisms are often insufficient in such environments due to limited device resources and the dynamic nature of network traffic. To address these challenges, this project presents a smart home security system that captures IoT network traffic and applies a hybrid machine learning approach for threat detection. The system uses Local Outlier Factor (LOF) to detect anomalies and a Random Forest classifier to identify attack types. With a consistent preprocessing pipeline and an alert mechanism for detected threats, the system provides an effective solution for monitoring and enhancing security in IoT-based smart home environments.</a:t>
            </a:r>
          </a:p>
          <a:p>
            <a:pPr algn="just">
              <a:lnSpc>
                <a:spcPts val="4200"/>
              </a:lnSpc>
            </a:pPr>
          </a:p>
        </p:txBody>
      </p:sp>
      <p:sp>
        <p:nvSpPr>
          <p:cNvPr name="TextBox 3" id="3"/>
          <p:cNvSpPr txBox="true"/>
          <p:nvPr/>
        </p:nvSpPr>
        <p:spPr>
          <a:xfrm rot="0">
            <a:off x="5134564" y="1750681"/>
            <a:ext cx="8018873" cy="1739900"/>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INTRODUCTION</a:t>
            </a:r>
          </a:p>
          <a:p>
            <a:pPr algn="ctr">
              <a:lnSpc>
                <a:spcPts val="7000"/>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072725" y="3340008"/>
            <a:ext cx="10142550" cy="2946401"/>
          </a:xfrm>
          <a:prstGeom prst="rect">
            <a:avLst/>
          </a:prstGeom>
        </p:spPr>
        <p:txBody>
          <a:bodyPr anchor="t" rtlCol="false" tIns="0" lIns="0" bIns="0" rIns="0">
            <a:spAutoFit/>
          </a:bodyPr>
          <a:lstStyle/>
          <a:p>
            <a:pPr algn="ctr">
              <a:lnSpc>
                <a:spcPts val="11899"/>
              </a:lnSpc>
            </a:pPr>
            <a:r>
              <a:rPr lang="en-US" b="true" sz="8499">
                <a:solidFill>
                  <a:srgbClr val="0166C2"/>
                </a:solidFill>
                <a:latin typeface="Luktao Bold"/>
                <a:ea typeface="Luktao Bold"/>
                <a:cs typeface="Luktao Bold"/>
                <a:sym typeface="Luktao Bold"/>
              </a:rPr>
              <a:t>LITERATURE REVIEW</a:t>
            </a:r>
          </a:p>
        </p:txBody>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322249" y="1914732"/>
            <a:ext cx="17643502" cy="7699121"/>
            <a:chOff x="0" y="0"/>
            <a:chExt cx="23524670" cy="10265495"/>
          </a:xfrm>
        </p:grpSpPr>
        <p:sp>
          <p:nvSpPr>
            <p:cNvPr name="TextBox 9" id="9"/>
            <p:cNvSpPr txBox="true"/>
            <p:nvPr/>
          </p:nvSpPr>
          <p:spPr>
            <a:xfrm rot="0">
              <a:off x="1060553" y="2583932"/>
              <a:ext cx="1869559" cy="33204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Design and Imp</a:t>
              </a:r>
              <a:r>
                <a:rPr lang="en-US" sz="1800">
                  <a:solidFill>
                    <a:srgbClr val="000000"/>
                  </a:solidFill>
                  <a:latin typeface="Luktao"/>
                  <a:ea typeface="Luktao"/>
                  <a:cs typeface="Luktao"/>
                  <a:sym typeface="Luktao"/>
                </a:rPr>
                <a:t>lementation of Automated IoT Security Testbed.</a:t>
              </a:r>
            </a:p>
            <a:p>
              <a:pPr algn="ctr">
                <a:lnSpc>
                  <a:spcPts val="2520"/>
                </a:lnSpc>
                <a:spcBef>
                  <a:spcPct val="0"/>
                </a:spcBef>
              </a:pPr>
              <a:r>
                <a:rPr lang="en-US" sz="1800">
                  <a:solidFill>
                    <a:srgbClr val="000000"/>
                  </a:solidFill>
                  <a:latin typeface="Luktao"/>
                  <a:ea typeface="Luktao"/>
                  <a:cs typeface="Luktao"/>
                  <a:sym typeface="Luktao"/>
                </a:rPr>
                <a:t> Published in 2020.</a:t>
              </a:r>
            </a:p>
          </p:txBody>
        </p:sp>
        <p:sp>
          <p:nvSpPr>
            <p:cNvPr name="TextBox 10" id="10"/>
            <p:cNvSpPr txBox="true"/>
            <p:nvPr/>
          </p:nvSpPr>
          <p:spPr>
            <a:xfrm rot="0">
              <a:off x="3424054" y="2583932"/>
              <a:ext cx="2649907" cy="45777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Real </a:t>
              </a:r>
              <a:r>
                <a:rPr lang="en-US" sz="1800">
                  <a:solidFill>
                    <a:srgbClr val="000000"/>
                  </a:solidFill>
                  <a:latin typeface="Luktao"/>
                  <a:ea typeface="Luktao"/>
                  <a:cs typeface="Luktao"/>
                  <a:sym typeface="Luktao"/>
                </a:rPr>
                <a:t>consumer devices hide security problems that simple lab tests miss.</a:t>
              </a:r>
            </a:p>
            <a:p>
              <a:pPr algn="ctr">
                <a:lnSpc>
                  <a:spcPts val="2520"/>
                </a:lnSpc>
                <a:spcBef>
                  <a:spcPct val="0"/>
                </a:spcBef>
              </a:pPr>
              <a:r>
                <a:rPr lang="en-US" sz="1800">
                  <a:solidFill>
                    <a:srgbClr val="000000"/>
                  </a:solidFill>
                  <a:latin typeface="Luktao"/>
                  <a:ea typeface="Luktao"/>
                  <a:cs typeface="Luktao"/>
                  <a:sym typeface="Luktao"/>
                </a:rPr>
                <a:t> Researchers needed a repeatable testbed to show real attacks on real devices.</a:t>
              </a:r>
            </a:p>
          </p:txBody>
        </p:sp>
        <p:sp>
          <p:nvSpPr>
            <p:cNvPr name="TextBox 11" id="11"/>
            <p:cNvSpPr txBox="true"/>
            <p:nvPr/>
          </p:nvSpPr>
          <p:spPr>
            <a:xfrm rot="0">
              <a:off x="6360833" y="2583932"/>
              <a:ext cx="2679920" cy="4158615"/>
            </a:xfrm>
            <a:prstGeom prst="rect">
              <a:avLst/>
            </a:prstGeom>
          </p:spPr>
          <p:txBody>
            <a:bodyPr anchor="t" rtlCol="false" tIns="0" lIns="0" bIns="0" rIns="0">
              <a:spAutoFit/>
            </a:bodyPr>
            <a:lstStyle/>
            <a:p>
              <a:pPr algn="ctr">
                <a:lnSpc>
                  <a:spcPts val="2520"/>
                </a:lnSpc>
              </a:pPr>
              <a:r>
                <a:rPr lang="en-US" sz="1800">
                  <a:solidFill>
                    <a:srgbClr val="000000"/>
                  </a:solidFill>
                  <a:latin typeface="Luktao"/>
                  <a:ea typeface="Luktao"/>
                  <a:cs typeface="Luktao"/>
                  <a:sym typeface="Luktao"/>
                </a:rPr>
                <a:t>Make an automated testbed to run attacks and collect evidence.</a:t>
              </a:r>
            </a:p>
            <a:p>
              <a:pPr algn="ctr">
                <a:lnSpc>
                  <a:spcPts val="2520"/>
                </a:lnSpc>
                <a:spcBef>
                  <a:spcPct val="0"/>
                </a:spcBef>
              </a:pPr>
              <a:r>
                <a:rPr lang="en-US" sz="1800">
                  <a:solidFill>
                    <a:srgbClr val="000000"/>
                  </a:solidFill>
                  <a:latin typeface="Luktao"/>
                  <a:ea typeface="Luktao"/>
                  <a:cs typeface="Luktao"/>
                  <a:sym typeface="Luktao"/>
                </a:rPr>
                <a:t> Show how common devices</a:t>
              </a:r>
              <a:r>
                <a:rPr lang="en-US" sz="1800">
                  <a:solidFill>
                    <a:srgbClr val="000000"/>
                  </a:solidFill>
                  <a:latin typeface="Luktao"/>
                  <a:ea typeface="Luktao"/>
                  <a:cs typeface="Luktao"/>
                  <a:sym typeface="Luktao"/>
                </a:rPr>
                <a:t> (like bulbs) react to network attacks.</a:t>
              </a:r>
            </a:p>
          </p:txBody>
        </p:sp>
        <p:sp>
          <p:nvSpPr>
            <p:cNvPr name="TextBox 12" id="12"/>
            <p:cNvSpPr txBox="true"/>
            <p:nvPr/>
          </p:nvSpPr>
          <p:spPr>
            <a:xfrm rot="0">
              <a:off x="9332853" y="2583932"/>
              <a:ext cx="2883120" cy="37395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They built a controlled</a:t>
              </a:r>
              <a:r>
                <a:rPr lang="en-US" sz="1800">
                  <a:solidFill>
                    <a:srgbClr val="000000"/>
                  </a:solidFill>
                  <a:latin typeface="Luktao"/>
                  <a:ea typeface="Luktao"/>
                  <a:cs typeface="Luktao"/>
                  <a:sym typeface="Luktao"/>
                </a:rPr>
                <a:t> lab and scripted attacks to test devices.</a:t>
              </a:r>
            </a:p>
            <a:p>
              <a:pPr algn="ctr">
                <a:lnSpc>
                  <a:spcPts val="2520"/>
                </a:lnSpc>
                <a:spcBef>
                  <a:spcPct val="0"/>
                </a:spcBef>
              </a:pPr>
              <a:r>
                <a:rPr lang="en-US" sz="1800">
                  <a:solidFill>
                    <a:srgbClr val="000000"/>
                  </a:solidFill>
                  <a:latin typeface="Luktao"/>
                  <a:ea typeface="Luktao"/>
                  <a:cs typeface="Luktao"/>
                  <a:sym typeface="Luktao"/>
                </a:rPr>
                <a:t> They recorded traffic and device responses to measure vulnerabilities.</a:t>
              </a:r>
            </a:p>
          </p:txBody>
        </p:sp>
        <p:sp>
          <p:nvSpPr>
            <p:cNvPr name="TextBox 13" id="13"/>
            <p:cNvSpPr txBox="true"/>
            <p:nvPr/>
          </p:nvSpPr>
          <p:spPr>
            <a:xfrm rot="0">
              <a:off x="12508074" y="2583932"/>
              <a:ext cx="3634595" cy="24822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Many off-the-shelf devices accept malicious or replay</a:t>
              </a:r>
              <a:r>
                <a:rPr lang="en-US" sz="1800">
                  <a:solidFill>
                    <a:srgbClr val="000000"/>
                  </a:solidFill>
                  <a:latin typeface="Luktao"/>
                  <a:ea typeface="Luktao"/>
                  <a:cs typeface="Luktao"/>
                  <a:sym typeface="Luktao"/>
                </a:rPr>
                <a:t>ed commands.</a:t>
              </a:r>
            </a:p>
            <a:p>
              <a:pPr algn="ctr">
                <a:lnSpc>
                  <a:spcPts val="2520"/>
                </a:lnSpc>
                <a:spcBef>
                  <a:spcPct val="0"/>
                </a:spcBef>
              </a:pPr>
              <a:r>
                <a:rPr lang="en-US" sz="1800">
                  <a:solidFill>
                    <a:srgbClr val="000000"/>
                  </a:solidFill>
                  <a:latin typeface="Luktao"/>
                  <a:ea typeface="Luktao"/>
                  <a:cs typeface="Luktao"/>
                  <a:sym typeface="Luktao"/>
                </a:rPr>
                <a:t> Safety controls on these devices are often weak or missing.</a:t>
              </a:r>
            </a:p>
          </p:txBody>
        </p:sp>
        <p:sp>
          <p:nvSpPr>
            <p:cNvPr name="TextBox 14" id="14"/>
            <p:cNvSpPr txBox="true"/>
            <p:nvPr/>
          </p:nvSpPr>
          <p:spPr>
            <a:xfrm rot="0">
              <a:off x="16523669" y="2793482"/>
              <a:ext cx="3123227" cy="33204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Create more testbeds and</a:t>
              </a:r>
              <a:r>
                <a:rPr lang="en-US" sz="1800">
                  <a:solidFill>
                    <a:srgbClr val="000000"/>
                  </a:solidFill>
                  <a:latin typeface="Luktao"/>
                  <a:ea typeface="Luktao"/>
                  <a:cs typeface="Luktao"/>
                  <a:sym typeface="Luktao"/>
                </a:rPr>
                <a:t> test more kinds of devices and protocols.</a:t>
              </a:r>
            </a:p>
            <a:p>
              <a:pPr algn="ctr">
                <a:lnSpc>
                  <a:spcPts val="2520"/>
                </a:lnSpc>
                <a:spcBef>
                  <a:spcPct val="0"/>
                </a:spcBef>
              </a:pPr>
              <a:r>
                <a:rPr lang="en-US" sz="1800">
                  <a:solidFill>
                    <a:srgbClr val="000000"/>
                  </a:solidFill>
                  <a:latin typeface="Luktao"/>
                  <a:ea typeface="Luktao"/>
                  <a:cs typeface="Luktao"/>
                  <a:sym typeface="Luktao"/>
                </a:rPr>
                <a:t> Add detection and defenses to reduce easy attacks in real homes.</a:t>
              </a:r>
            </a:p>
          </p:txBody>
        </p:sp>
        <p:sp>
          <p:nvSpPr>
            <p:cNvPr name="TextBox 15" id="15"/>
            <p:cNvSpPr txBox="true"/>
            <p:nvPr/>
          </p:nvSpPr>
          <p:spPr>
            <a:xfrm rot="0">
              <a:off x="19938996" y="2583932"/>
              <a:ext cx="3585674" cy="332041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Luktao"/>
                  <a:ea typeface="Luktao"/>
                  <a:cs typeface="Luktao"/>
                  <a:sym typeface="Luktao"/>
                </a:rPr>
                <a:t>We build a low-cost ESP32 + MQTT testbed and record labeled trace</a:t>
              </a:r>
              <a:r>
                <a:rPr lang="en-US" sz="1800">
                  <a:solidFill>
                    <a:srgbClr val="000000"/>
                  </a:solidFill>
                  <a:latin typeface="Luktao"/>
                  <a:ea typeface="Luktao"/>
                  <a:cs typeface="Luktao"/>
                  <a:sym typeface="Luktao"/>
                </a:rPr>
                <a:t>s.</a:t>
              </a:r>
            </a:p>
            <a:p>
              <a:pPr algn="ctr">
                <a:lnSpc>
                  <a:spcPts val="2520"/>
                </a:lnSpc>
                <a:spcBef>
                  <a:spcPct val="0"/>
                </a:spcBef>
              </a:pPr>
              <a:r>
                <a:rPr lang="en-US" sz="1800">
                  <a:solidFill>
                    <a:srgbClr val="000000"/>
                  </a:solidFill>
                  <a:latin typeface="Luktao"/>
                  <a:ea typeface="Luktao"/>
                  <a:cs typeface="Luktao"/>
                  <a:sym typeface="Luktao"/>
                </a:rPr>
                <a:t> Our work adds anomaly detection and shows how defenses reduce attacks.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1</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101693" y="2010698"/>
            <a:ext cx="17737338" cy="7740069"/>
            <a:chOff x="0" y="0"/>
            <a:chExt cx="23649784" cy="10320092"/>
          </a:xfrm>
        </p:grpSpPr>
        <p:sp>
          <p:nvSpPr>
            <p:cNvPr name="TextBox 9" id="9"/>
            <p:cNvSpPr txBox="true"/>
            <p:nvPr/>
          </p:nvSpPr>
          <p:spPr>
            <a:xfrm rot="0">
              <a:off x="1066193" y="2597826"/>
              <a:ext cx="1879502"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IoT Inspector: Cr</a:t>
              </a:r>
              <a:r>
                <a:rPr lang="en-US" sz="1809">
                  <a:solidFill>
                    <a:srgbClr val="000000"/>
                  </a:solidFill>
                  <a:latin typeface="Luktao"/>
                  <a:ea typeface="Luktao"/>
                  <a:cs typeface="Luktao"/>
                  <a:sym typeface="Luktao"/>
                </a:rPr>
                <a:t>owdsourcing Labeled Network Traffic.</a:t>
              </a:r>
            </a:p>
            <a:p>
              <a:pPr algn="ctr">
                <a:lnSpc>
                  <a:spcPts val="2533"/>
                </a:lnSpc>
                <a:spcBef>
                  <a:spcPct val="0"/>
                </a:spcBef>
              </a:pPr>
              <a:r>
                <a:rPr lang="en-US" sz="1809">
                  <a:solidFill>
                    <a:srgbClr val="000000"/>
                  </a:solidFill>
                  <a:latin typeface="Luktao"/>
                  <a:ea typeface="Luktao"/>
                  <a:cs typeface="Luktao"/>
                  <a:sym typeface="Luktao"/>
                </a:rPr>
                <a:t> Published in 2019.</a:t>
              </a:r>
            </a:p>
          </p:txBody>
        </p:sp>
        <p:sp>
          <p:nvSpPr>
            <p:cNvPr name="TextBox 10" id="10"/>
            <p:cNvSpPr txBox="true"/>
            <p:nvPr/>
          </p:nvSpPr>
          <p:spPr>
            <a:xfrm rot="0">
              <a:off x="3442265" y="2597826"/>
              <a:ext cx="2664000"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There were not enough large, labeled data</a:t>
              </a:r>
              <a:r>
                <a:rPr lang="en-US" sz="1809">
                  <a:solidFill>
                    <a:srgbClr val="000000"/>
                  </a:solidFill>
                  <a:latin typeface="Luktao"/>
                  <a:ea typeface="Luktao"/>
                  <a:cs typeface="Luktao"/>
                  <a:sym typeface="Luktao"/>
                </a:rPr>
                <a:t>sets of real smart-home traffic.</a:t>
              </a:r>
            </a:p>
            <a:p>
              <a:pPr algn="ctr">
                <a:lnSpc>
                  <a:spcPts val="2533"/>
                </a:lnSpc>
                <a:spcBef>
                  <a:spcPct val="0"/>
                </a:spcBef>
              </a:pPr>
              <a:r>
                <a:rPr lang="en-US" sz="1809">
                  <a:solidFill>
                    <a:srgbClr val="000000"/>
                  </a:solidFill>
                  <a:latin typeface="Luktao"/>
                  <a:ea typeface="Luktao"/>
                  <a:cs typeface="Luktao"/>
                  <a:sym typeface="Luktao"/>
                </a:rPr>
                <a:t> This made it hard to train and test detection algorithms.</a:t>
              </a:r>
            </a:p>
          </p:txBody>
        </p:sp>
        <p:sp>
          <p:nvSpPr>
            <p:cNvPr name="TextBox 11" id="11"/>
            <p:cNvSpPr txBox="true"/>
            <p:nvPr/>
          </p:nvSpPr>
          <p:spPr>
            <a:xfrm rot="0">
              <a:off x="6394663" y="2597826"/>
              <a:ext cx="2694173"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Collect many labeled device traffic records from</a:t>
              </a:r>
              <a:r>
                <a:rPr lang="en-US" sz="1809">
                  <a:solidFill>
                    <a:srgbClr val="000000"/>
                  </a:solidFill>
                  <a:latin typeface="Luktao"/>
                  <a:ea typeface="Luktao"/>
                  <a:cs typeface="Luktao"/>
                  <a:sym typeface="Luktao"/>
                </a:rPr>
                <a:t> real homes.</a:t>
              </a:r>
            </a:p>
            <a:p>
              <a:pPr algn="ctr">
                <a:lnSpc>
                  <a:spcPts val="2533"/>
                </a:lnSpc>
                <a:spcBef>
                  <a:spcPct val="0"/>
                </a:spcBef>
              </a:pPr>
              <a:r>
                <a:rPr lang="en-US" sz="1809">
                  <a:solidFill>
                    <a:srgbClr val="000000"/>
                  </a:solidFill>
                  <a:latin typeface="Luktao"/>
                  <a:ea typeface="Luktao"/>
                  <a:cs typeface="Luktao"/>
                  <a:sym typeface="Luktao"/>
                </a:rPr>
                <a:t> Provide a dataset researchers can use for analysis and ML.</a:t>
              </a:r>
            </a:p>
          </p:txBody>
        </p:sp>
        <p:sp>
          <p:nvSpPr>
            <p:cNvPr name="TextBox 12" id="12"/>
            <p:cNvSpPr txBox="true"/>
            <p:nvPr/>
          </p:nvSpPr>
          <p:spPr>
            <a:xfrm rot="0">
              <a:off x="9382490" y="2597826"/>
              <a:ext cx="289845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a:t>
              </a:r>
              <a:r>
                <a:rPr lang="en-US" sz="1809">
                  <a:solidFill>
                    <a:srgbClr val="000000"/>
                  </a:solidFill>
                  <a:latin typeface="Luktao"/>
                  <a:ea typeface="Luktao"/>
                  <a:cs typeface="Luktao"/>
                  <a:sym typeface="Luktao"/>
                </a:rPr>
                <a:t> used a software tool to collect traffic and user labels at scale.</a:t>
              </a:r>
            </a:p>
            <a:p>
              <a:pPr algn="ctr">
                <a:lnSpc>
                  <a:spcPts val="2533"/>
                </a:lnSpc>
                <a:spcBef>
                  <a:spcPct val="0"/>
                </a:spcBef>
              </a:pPr>
              <a:r>
                <a:rPr lang="en-US" sz="1809">
                  <a:solidFill>
                    <a:srgbClr val="000000"/>
                  </a:solidFill>
                  <a:latin typeface="Luktao"/>
                  <a:ea typeface="Luktao"/>
                  <a:cs typeface="Luktao"/>
                  <a:sym typeface="Luktao"/>
                </a:rPr>
                <a:t> They aggregated data from thousands of devices and many homes.</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Device behavior varies widely and many devices contact trackers or cl</a:t>
              </a:r>
              <a:r>
                <a:rPr lang="en-US" sz="1809">
                  <a:solidFill>
                    <a:srgbClr val="000000"/>
                  </a:solidFill>
                  <a:latin typeface="Luktao"/>
                  <a:ea typeface="Luktao"/>
                  <a:cs typeface="Luktao"/>
                  <a:sym typeface="Luktao"/>
                </a:rPr>
                <a:t>oud services.</a:t>
              </a:r>
            </a:p>
            <a:p>
              <a:pPr algn="ctr">
                <a:lnSpc>
                  <a:spcPts val="2533"/>
                </a:lnSpc>
                <a:spcBef>
                  <a:spcPct val="0"/>
                </a:spcBef>
              </a:pPr>
              <a:r>
                <a:rPr lang="en-US" sz="1809">
                  <a:solidFill>
                    <a:srgbClr val="000000"/>
                  </a:solidFill>
                  <a:latin typeface="Luktao"/>
                  <a:ea typeface="Luktao"/>
                  <a:cs typeface="Luktao"/>
                  <a:sym typeface="Luktao"/>
                </a:rPr>
                <a:t> Large labeled datasets reveal patterns not visible in small lab tests.</a:t>
              </a:r>
            </a:p>
          </p:txBody>
        </p:sp>
        <p:sp>
          <p:nvSpPr>
            <p:cNvPr name="TextBox 14" id="14"/>
            <p:cNvSpPr txBox="true"/>
            <p:nvPr/>
          </p:nvSpPr>
          <p:spPr>
            <a:xfrm rot="0">
              <a:off x="16611549" y="2808491"/>
              <a:ext cx="3139838"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Use crowdsourced data for ML and to study device ecosystems.</a:t>
              </a:r>
            </a:p>
            <a:p>
              <a:pPr algn="ctr">
                <a:lnSpc>
                  <a:spcPts val="2533"/>
                </a:lnSpc>
                <a:spcBef>
                  <a:spcPct val="0"/>
                </a:spcBef>
              </a:pPr>
              <a:r>
                <a:rPr lang="en-US" sz="1809">
                  <a:solidFill>
                    <a:srgbClr val="000000"/>
                  </a:solidFill>
                  <a:latin typeface="Luktao"/>
                  <a:ea typeface="Luktao"/>
                  <a:cs typeface="Luktao"/>
                  <a:sym typeface="Luktao"/>
                </a:rPr>
                <a:t> Combine large-scale in-the-wild data with controlled lab traces.</a:t>
              </a:r>
            </a:p>
          </p:txBody>
        </p:sp>
        <p:sp>
          <p:nvSpPr>
            <p:cNvPr name="TextBox 15" id="15"/>
            <p:cNvSpPr txBox="true"/>
            <p:nvPr/>
          </p:nvSpPr>
          <p:spPr>
            <a:xfrm rot="0">
              <a:off x="20045041" y="2597826"/>
              <a:ext cx="360474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add ground-truth lab data of normal vs attack behavior to the crowdsourced m</a:t>
              </a:r>
              <a:r>
                <a:rPr lang="en-US" sz="1809">
                  <a:solidFill>
                    <a:srgbClr val="000000"/>
                  </a:solidFill>
                  <a:latin typeface="Luktao"/>
                  <a:ea typeface="Luktao"/>
                  <a:cs typeface="Luktao"/>
                  <a:sym typeface="Luktao"/>
                </a:rPr>
                <a:t>ix.</a:t>
              </a:r>
            </a:p>
            <a:p>
              <a:pPr algn="ctr">
                <a:lnSpc>
                  <a:spcPts val="2533"/>
                </a:lnSpc>
                <a:spcBef>
                  <a:spcPct val="0"/>
                </a:spcBef>
              </a:pPr>
              <a:r>
                <a:rPr lang="en-US" sz="1809">
                  <a:solidFill>
                    <a:srgbClr val="000000"/>
                  </a:solidFill>
                  <a:latin typeface="Luktao"/>
                  <a:ea typeface="Luktao"/>
                  <a:cs typeface="Luktao"/>
                  <a:sym typeface="Luktao"/>
                </a:rPr>
                <a:t> This helps ML models learn both realistic and attack patterns with labels.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380408"/>
                <a:gridCol w="2055439"/>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2</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754799"/>
            <a:ext cx="17737338" cy="7740069"/>
            <a:chOff x="0" y="0"/>
            <a:chExt cx="23649784" cy="10320092"/>
          </a:xfrm>
        </p:grpSpPr>
        <p:sp>
          <p:nvSpPr>
            <p:cNvPr name="TextBox 9" id="9"/>
            <p:cNvSpPr txBox="true"/>
            <p:nvPr/>
          </p:nvSpPr>
          <p:spPr>
            <a:xfrm rot="0">
              <a:off x="1066193" y="2597826"/>
              <a:ext cx="1879502"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HoMonit:</a:t>
              </a:r>
              <a:r>
                <a:rPr lang="en-US" sz="1809">
                  <a:solidFill>
                    <a:srgbClr val="000000"/>
                  </a:solidFill>
                  <a:latin typeface="Luktao"/>
                  <a:ea typeface="Luktao"/>
                  <a:cs typeface="Luktao"/>
                  <a:sym typeface="Luktao"/>
                </a:rPr>
                <a:t> Monitoring Smart Home Apps from Encrypted Traffic.</a:t>
              </a:r>
            </a:p>
            <a:p>
              <a:pPr algn="ctr">
                <a:lnSpc>
                  <a:spcPts val="2533"/>
                </a:lnSpc>
                <a:spcBef>
                  <a:spcPct val="0"/>
                </a:spcBef>
              </a:pPr>
              <a:r>
                <a:rPr lang="en-US" sz="1809">
                  <a:solidFill>
                    <a:srgbClr val="000000"/>
                  </a:solidFill>
                  <a:latin typeface="Luktao"/>
                  <a:ea typeface="Luktao"/>
                  <a:cs typeface="Luktao"/>
                  <a:sym typeface="Luktao"/>
                </a:rPr>
                <a:t> Published in 2018.</a:t>
              </a:r>
            </a:p>
          </p:txBody>
        </p:sp>
        <p:sp>
          <p:nvSpPr>
            <p:cNvPr name="TextBox 10" id="10"/>
            <p:cNvSpPr txBox="true"/>
            <p:nvPr/>
          </p:nvSpPr>
          <p:spPr>
            <a:xfrm rot="0">
              <a:off x="3442265" y="2597826"/>
              <a:ext cx="2664000"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Encrypted traffic hides app actions so bad behavi</a:t>
              </a:r>
              <a:r>
                <a:rPr lang="en-US" sz="1809">
                  <a:solidFill>
                    <a:srgbClr val="000000"/>
                  </a:solidFill>
                  <a:latin typeface="Luktao"/>
                  <a:ea typeface="Luktao"/>
                  <a:cs typeface="Luktao"/>
                  <a:sym typeface="Luktao"/>
                </a:rPr>
                <a:t>or is hard to spot.</a:t>
              </a:r>
            </a:p>
            <a:p>
              <a:pPr algn="ctr">
                <a:lnSpc>
                  <a:spcPts val="2533"/>
                </a:lnSpc>
                <a:spcBef>
                  <a:spcPct val="0"/>
                </a:spcBef>
              </a:pPr>
              <a:r>
                <a:rPr lang="en-US" sz="1809">
                  <a:solidFill>
                    <a:srgbClr val="000000"/>
                  </a:solidFill>
                  <a:latin typeface="Luktao"/>
                  <a:ea typeface="Luktao"/>
                  <a:cs typeface="Luktao"/>
                  <a:sym typeface="Luktao"/>
                </a:rPr>
                <a:t> Simple packet capture does not show app logic inside TLS.</a:t>
              </a:r>
            </a:p>
          </p:txBody>
        </p:sp>
        <p:sp>
          <p:nvSpPr>
            <p:cNvPr name="TextBox 11" id="11"/>
            <p:cNvSpPr txBox="true"/>
            <p:nvPr/>
          </p:nvSpPr>
          <p:spPr>
            <a:xfrm rot="0">
              <a:off x="6394663" y="2597826"/>
              <a:ext cx="2694173"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Detect app</a:t>
              </a:r>
              <a:r>
                <a:rPr lang="en-US" sz="1809">
                  <a:solidFill>
                    <a:srgbClr val="000000"/>
                  </a:solidFill>
                  <a:latin typeface="Luktao"/>
                  <a:ea typeface="Luktao"/>
                  <a:cs typeface="Luktao"/>
                  <a:sym typeface="Luktao"/>
                </a:rPr>
                <a:t> misbehavior using side-channel features like size and timing.</a:t>
              </a:r>
            </a:p>
            <a:p>
              <a:pPr algn="ctr">
                <a:lnSpc>
                  <a:spcPts val="2533"/>
                </a:lnSpc>
                <a:spcBef>
                  <a:spcPct val="0"/>
                </a:spcBef>
              </a:pPr>
              <a:r>
                <a:rPr lang="en-US" sz="1809">
                  <a:solidFill>
                    <a:srgbClr val="000000"/>
                  </a:solidFill>
                  <a:latin typeface="Luktao"/>
                  <a:ea typeface="Luktao"/>
                  <a:cs typeface="Luktao"/>
                  <a:sym typeface="Luktao"/>
                </a:rPr>
                <a:t> Infer app workflows from patterns in encrypted traffic.</a:t>
              </a:r>
            </a:p>
          </p:txBody>
        </p:sp>
        <p:sp>
          <p:nvSpPr>
            <p:cNvPr name="TextBox 12" id="12"/>
            <p:cNvSpPr txBox="true"/>
            <p:nvPr/>
          </p:nvSpPr>
          <p:spPr>
            <a:xfrm rot="0">
              <a:off x="9382490" y="2597826"/>
              <a:ext cx="289845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 build</a:t>
              </a:r>
              <a:r>
                <a:rPr lang="en-US" sz="1809">
                  <a:solidFill>
                    <a:srgbClr val="000000"/>
                  </a:solidFill>
                  <a:latin typeface="Luktao"/>
                  <a:ea typeface="Luktao"/>
                  <a:cs typeface="Luktao"/>
                  <a:sym typeface="Luktao"/>
                </a:rPr>
                <a:t> models (DFAs) that match app logic with traffic patterns.</a:t>
              </a:r>
            </a:p>
            <a:p>
              <a:pPr algn="ctr">
                <a:lnSpc>
                  <a:spcPts val="2533"/>
                </a:lnSpc>
                <a:spcBef>
                  <a:spcPct val="0"/>
                </a:spcBef>
              </a:pPr>
              <a:r>
                <a:rPr lang="en-US" sz="1809">
                  <a:solidFill>
                    <a:srgbClr val="000000"/>
                  </a:solidFill>
                  <a:latin typeface="Luktao"/>
                  <a:ea typeface="Luktao"/>
                  <a:cs typeface="Luktao"/>
                  <a:sym typeface="Luktao"/>
                </a:rPr>
                <a:t> They compare observed encrypted flows to expected app behavior.</a:t>
              </a:r>
            </a:p>
          </p:txBody>
        </p:sp>
        <p:sp>
          <p:nvSpPr>
            <p:cNvPr name="TextBox 13" id="13"/>
            <p:cNvSpPr txBox="true"/>
            <p:nvPr/>
          </p:nvSpPr>
          <p:spPr>
            <a:xfrm rot="0">
              <a:off x="12574597" y="2597826"/>
              <a:ext cx="3653925" cy="3337923"/>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Side-channel features (timing, packet size) reveal app actions despite TLS.</a:t>
              </a:r>
            </a:p>
            <a:p>
              <a:pPr algn="ctr">
                <a:lnSpc>
                  <a:spcPts val="2533"/>
                </a:lnSpc>
                <a:spcBef>
                  <a:spcPct val="0"/>
                </a:spcBef>
              </a:pPr>
              <a:r>
                <a:rPr lang="en-US" sz="1809">
                  <a:solidFill>
                    <a:srgbClr val="000000"/>
                  </a:solidFill>
                  <a:latin typeface="Luktao"/>
                  <a:ea typeface="Luktao"/>
                  <a:cs typeface="Luktao"/>
                  <a:sym typeface="Luktao"/>
                </a:rPr>
                <a:t> This lets monit</a:t>
              </a:r>
              <a:r>
                <a:rPr lang="en-US" sz="1809">
                  <a:solidFill>
                    <a:srgbClr val="000000"/>
                  </a:solidFill>
                  <a:latin typeface="Luktao"/>
                  <a:ea typeface="Luktao"/>
                  <a:cs typeface="Luktao"/>
                  <a:sym typeface="Luktao"/>
                </a:rPr>
                <a:t>ors detect abnormal app behavior without decrypting.</a:t>
              </a:r>
            </a:p>
          </p:txBody>
        </p:sp>
        <p:sp>
          <p:nvSpPr>
            <p:cNvPr name="TextBox 14" id="14"/>
            <p:cNvSpPr txBox="true"/>
            <p:nvPr/>
          </p:nvSpPr>
          <p:spPr>
            <a:xfrm rot="0">
              <a:off x="16611549" y="2808491"/>
              <a:ext cx="3139838" cy="3337923"/>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Combine code analysis with traffic monitoring for stronger detection.</a:t>
              </a:r>
            </a:p>
            <a:p>
              <a:pPr algn="ctr">
                <a:lnSpc>
                  <a:spcPts val="2533"/>
                </a:lnSpc>
                <a:spcBef>
                  <a:spcPct val="0"/>
                </a:spcBef>
              </a:pPr>
              <a:r>
                <a:rPr lang="en-US" sz="1809">
                  <a:solidFill>
                    <a:srgbClr val="000000"/>
                  </a:solidFill>
                  <a:latin typeface="Luktao"/>
                  <a:ea typeface="Luktao"/>
                  <a:cs typeface="Luktao"/>
                  <a:sym typeface="Luktao"/>
                </a:rPr>
                <a:t> Refine side-channel models for more app types and richer features.</a:t>
              </a:r>
            </a:p>
          </p:txBody>
        </p:sp>
        <p:sp>
          <p:nvSpPr>
            <p:cNvPr name="TextBox 15" id="15"/>
            <p:cNvSpPr txBox="true"/>
            <p:nvPr/>
          </p:nvSpPr>
          <p:spPr>
            <a:xfrm rot="0">
              <a:off x="20045041" y="2597826"/>
              <a:ext cx="360474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use MQTT timing, message rates and top</a:t>
              </a:r>
              <a:r>
                <a:rPr lang="en-US" sz="1809">
                  <a:solidFill>
                    <a:srgbClr val="000000"/>
                  </a:solidFill>
                  <a:latin typeface="Luktao"/>
                  <a:ea typeface="Luktao"/>
                  <a:cs typeface="Luktao"/>
                  <a:sym typeface="Luktao"/>
                </a:rPr>
                <a:t>ic patterns as side-channel features.</a:t>
              </a:r>
            </a:p>
            <a:p>
              <a:pPr algn="ctr">
                <a:lnSpc>
                  <a:spcPts val="2533"/>
                </a:lnSpc>
                <a:spcBef>
                  <a:spcPct val="0"/>
                </a:spcBef>
              </a:pPr>
              <a:r>
                <a:rPr lang="en-US" sz="1809">
                  <a:solidFill>
                    <a:srgbClr val="000000"/>
                  </a:solidFill>
                  <a:latin typeface="Luktao"/>
                  <a:ea typeface="Luktao"/>
                  <a:cs typeface="Luktao"/>
                  <a:sym typeface="Luktao"/>
                </a:rPr>
                <a:t> Our ML detector checks these patterns to spot replay or flood attacks.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3</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731686"/>
            <a:ext cx="17737338" cy="7740069"/>
            <a:chOff x="0" y="0"/>
            <a:chExt cx="23649784" cy="10320092"/>
          </a:xfrm>
        </p:grpSpPr>
        <p:sp>
          <p:nvSpPr>
            <p:cNvPr name="TextBox 9" id="9"/>
            <p:cNvSpPr txBox="true"/>
            <p:nvPr/>
          </p:nvSpPr>
          <p:spPr>
            <a:xfrm rot="0">
              <a:off x="852298" y="2597826"/>
              <a:ext cx="2093397" cy="3337923"/>
            </a:xfrm>
            <a:prstGeom prst="rect">
              <a:avLst/>
            </a:prstGeom>
          </p:spPr>
          <p:txBody>
            <a:bodyPr anchor="t" rtlCol="false" tIns="0" lIns="0" bIns="0" rIns="0">
              <a:spAutoFit/>
            </a:bodyPr>
            <a:lstStyle/>
            <a:p>
              <a:pPr algn="ctr">
                <a:lnSpc>
                  <a:spcPts val="2533"/>
                </a:lnSpc>
              </a:pPr>
            </a:p>
            <a:p>
              <a:pPr algn="ctr">
                <a:lnSpc>
                  <a:spcPts val="2533"/>
                </a:lnSpc>
                <a:spcBef>
                  <a:spcPct val="0"/>
                </a:spcBef>
              </a:pPr>
              <a:r>
                <a:rPr lang="en-US" sz="1809">
                  <a:solidFill>
                    <a:srgbClr val="000000"/>
                  </a:solidFill>
                  <a:latin typeface="Luktao"/>
                  <a:ea typeface="Luktao"/>
                  <a:cs typeface="Luktao"/>
                  <a:sym typeface="Luktao"/>
                </a:rPr>
                <a:t>N</a:t>
              </a:r>
              <a:r>
                <a:rPr lang="en-US" sz="1809">
                  <a:solidFill>
                    <a:srgbClr val="000000"/>
                  </a:solidFill>
                  <a:latin typeface="Luktao"/>
                  <a:ea typeface="Luktao"/>
                  <a:cs typeface="Luktao"/>
                  <a:sym typeface="Luktao"/>
                </a:rPr>
                <a:t>DSS paper (ID</a:t>
              </a:r>
              <a:r>
                <a:rPr lang="en-US" sz="1809">
                  <a:solidFill>
                    <a:srgbClr val="000000"/>
                  </a:solidFill>
                  <a:latin typeface="Luktao"/>
                  <a:ea typeface="Luktao"/>
                  <a:cs typeface="Luktao"/>
                  <a:sym typeface="Luktao"/>
                </a:rPr>
                <a:t> 24097) on smart-home system vulnerabilities.</a:t>
              </a:r>
            </a:p>
            <a:p>
              <a:pPr algn="ctr">
                <a:lnSpc>
                  <a:spcPts val="2533"/>
                </a:lnSpc>
                <a:spcBef>
                  <a:spcPct val="0"/>
                </a:spcBef>
              </a:pPr>
              <a:r>
                <a:rPr lang="en-US" sz="1809">
                  <a:solidFill>
                    <a:srgbClr val="000000"/>
                  </a:solidFill>
                  <a:latin typeface="Luktao"/>
                  <a:ea typeface="Luktao"/>
                  <a:cs typeface="Luktao"/>
                  <a:sym typeface="Luktao"/>
                </a:rPr>
                <a:t> Published in 2020.</a:t>
              </a:r>
            </a:p>
          </p:txBody>
        </p:sp>
        <p:sp>
          <p:nvSpPr>
            <p:cNvPr name="TextBox 10" id="10"/>
            <p:cNvSpPr txBox="true"/>
            <p:nvPr/>
          </p:nvSpPr>
          <p:spPr>
            <a:xfrm rot="0">
              <a:off x="3442265" y="2597826"/>
              <a:ext cx="2664000" cy="4601909"/>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Smart-home ecosystems have many chained weak</a:t>
              </a:r>
              <a:r>
                <a:rPr lang="en-US" sz="1809">
                  <a:solidFill>
                    <a:srgbClr val="000000"/>
                  </a:solidFill>
                  <a:latin typeface="Luktao"/>
                  <a:ea typeface="Luktao"/>
                  <a:cs typeface="Luktao"/>
                  <a:sym typeface="Luktao"/>
                </a:rPr>
                <a:t>nesses across devices and cloud.</a:t>
              </a:r>
            </a:p>
            <a:p>
              <a:pPr algn="ctr">
                <a:lnSpc>
                  <a:spcPts val="2533"/>
                </a:lnSpc>
                <a:spcBef>
                  <a:spcPct val="0"/>
                </a:spcBef>
              </a:pPr>
              <a:r>
                <a:rPr lang="en-US" sz="1809">
                  <a:solidFill>
                    <a:srgbClr val="000000"/>
                  </a:solidFill>
                  <a:latin typeface="Luktao"/>
                  <a:ea typeface="Luktao"/>
                  <a:cs typeface="Luktao"/>
                  <a:sym typeface="Luktao"/>
                </a:rPr>
                <a:t> Single-device fixes do not stop attacks that cross components.</a:t>
              </a:r>
            </a:p>
          </p:txBody>
        </p:sp>
        <p:sp>
          <p:nvSpPr>
            <p:cNvPr name="TextBox 11" id="11"/>
            <p:cNvSpPr txBox="true"/>
            <p:nvPr/>
          </p:nvSpPr>
          <p:spPr>
            <a:xfrm rot="0">
              <a:off x="6394663" y="2597826"/>
              <a:ext cx="2694173"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Analyze system-leve</a:t>
              </a:r>
              <a:r>
                <a:rPr lang="en-US" sz="1809">
                  <a:solidFill>
                    <a:srgbClr val="000000"/>
                  </a:solidFill>
                  <a:latin typeface="Luktao"/>
                  <a:ea typeface="Luktao"/>
                  <a:cs typeface="Luktao"/>
                  <a:sym typeface="Luktao"/>
                </a:rPr>
                <a:t>l attack paths and demonstrate exploits.</a:t>
              </a:r>
            </a:p>
            <a:p>
              <a:pPr algn="ctr">
                <a:lnSpc>
                  <a:spcPts val="2533"/>
                </a:lnSpc>
                <a:spcBef>
                  <a:spcPct val="0"/>
                </a:spcBef>
              </a:pPr>
              <a:r>
                <a:rPr lang="en-US" sz="1809">
                  <a:solidFill>
                    <a:srgbClr val="000000"/>
                  </a:solidFill>
                  <a:latin typeface="Luktao"/>
                  <a:ea typeface="Luktao"/>
                  <a:cs typeface="Luktao"/>
                  <a:sym typeface="Luktao"/>
                </a:rPr>
                <a:t> Show how multi-step attacks can affect the whole home.</a:t>
              </a:r>
            </a:p>
          </p:txBody>
        </p:sp>
        <p:sp>
          <p:nvSpPr>
            <p:cNvPr name="TextBox 12" id="12"/>
            <p:cNvSpPr txBox="true"/>
            <p:nvPr/>
          </p:nvSpPr>
          <p:spPr>
            <a:xfrm rot="0">
              <a:off x="9382490" y="2597826"/>
              <a:ext cx="289845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 performed empirical </a:t>
              </a:r>
              <a:r>
                <a:rPr lang="en-US" sz="1809">
                  <a:solidFill>
                    <a:srgbClr val="000000"/>
                  </a:solidFill>
                  <a:latin typeface="Luktao"/>
                  <a:ea typeface="Luktao"/>
                  <a:cs typeface="Luktao"/>
                  <a:sym typeface="Luktao"/>
                </a:rPr>
                <a:t>tests and modeled vulnerability chains.</a:t>
              </a:r>
            </a:p>
            <a:p>
              <a:pPr algn="ctr">
                <a:lnSpc>
                  <a:spcPts val="2533"/>
                </a:lnSpc>
                <a:spcBef>
                  <a:spcPct val="0"/>
                </a:spcBef>
              </a:pPr>
              <a:r>
                <a:rPr lang="en-US" sz="1809">
                  <a:solidFill>
                    <a:srgbClr val="000000"/>
                  </a:solidFill>
                  <a:latin typeface="Luktao"/>
                  <a:ea typeface="Luktao"/>
                  <a:cs typeface="Luktao"/>
                  <a:sym typeface="Luktao"/>
                </a:rPr>
                <a:t> They used repeatable experiments to show real attack outcomes.</a:t>
              </a:r>
            </a:p>
          </p:txBody>
        </p:sp>
        <p:sp>
          <p:nvSpPr>
            <p:cNvPr name="TextBox 13" id="13"/>
            <p:cNvSpPr txBox="true"/>
            <p:nvPr/>
          </p:nvSpPr>
          <p:spPr>
            <a:xfrm rot="0">
              <a:off x="12574597" y="2597826"/>
              <a:ext cx="3653925" cy="2495265"/>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Many attack paths exist and small flaws can cause large impact.</a:t>
              </a:r>
            </a:p>
            <a:p>
              <a:pPr algn="ctr">
                <a:lnSpc>
                  <a:spcPts val="2533"/>
                </a:lnSpc>
                <a:spcBef>
                  <a:spcPct val="0"/>
                </a:spcBef>
              </a:pPr>
              <a:r>
                <a:rPr lang="en-US" sz="1809">
                  <a:solidFill>
                    <a:srgbClr val="000000"/>
                  </a:solidFill>
                  <a:latin typeface="Luktao"/>
                  <a:ea typeface="Luktao"/>
                  <a:cs typeface="Luktao"/>
                  <a:sym typeface="Luktao"/>
                </a:rPr>
                <a:t> Defenses must consider</a:t>
              </a:r>
              <a:r>
                <a:rPr lang="en-US" sz="1809">
                  <a:solidFill>
                    <a:srgbClr val="000000"/>
                  </a:solidFill>
                  <a:latin typeface="Luktao"/>
                  <a:ea typeface="Luktao"/>
                  <a:cs typeface="Luktao"/>
                  <a:sym typeface="Luktao"/>
                </a:rPr>
                <a:t> the whole system, not only one device.</a:t>
              </a:r>
            </a:p>
          </p:txBody>
        </p:sp>
        <p:sp>
          <p:nvSpPr>
            <p:cNvPr name="TextBox 14" id="14"/>
            <p:cNvSpPr txBox="true"/>
            <p:nvPr/>
          </p:nvSpPr>
          <p:spPr>
            <a:xfrm rot="0">
              <a:off x="16522176" y="2597826"/>
              <a:ext cx="3139838" cy="249526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Prioritize fixes that reduce the largest attack</a:t>
              </a:r>
              <a:r>
                <a:rPr lang="en-US" sz="1809">
                  <a:solidFill>
                    <a:srgbClr val="000000"/>
                  </a:solidFill>
                  <a:latin typeface="Luktao"/>
                  <a:ea typeface="Luktao"/>
                  <a:cs typeface="Luktao"/>
                  <a:sym typeface="Luktao"/>
                </a:rPr>
                <a:t> impact first.</a:t>
              </a:r>
            </a:p>
            <a:p>
              <a:pPr algn="ctr">
                <a:lnSpc>
                  <a:spcPts val="2533"/>
                </a:lnSpc>
                <a:spcBef>
                  <a:spcPct val="0"/>
                </a:spcBef>
              </a:pPr>
              <a:r>
                <a:rPr lang="en-US" sz="1809">
                  <a:solidFill>
                    <a:srgbClr val="000000"/>
                  </a:solidFill>
                  <a:latin typeface="Luktao"/>
                  <a:ea typeface="Luktao"/>
                  <a:cs typeface="Luktao"/>
                  <a:sym typeface="Luktao"/>
                </a:rPr>
                <a:t> Build tools that find and block multi-step attack chains.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4</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15475721" y="3715921"/>
            <a:ext cx="2354879" cy="2826582"/>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include an attacker ESP32 and log end-to-end flows to map attack</a:t>
            </a:r>
            <a:r>
              <a:rPr lang="en-US" sz="1809">
                <a:solidFill>
                  <a:srgbClr val="000000"/>
                </a:solidFill>
                <a:latin typeface="Luktao"/>
                <a:ea typeface="Luktao"/>
                <a:cs typeface="Luktao"/>
                <a:sym typeface="Luktao"/>
              </a:rPr>
              <a:t> chains.</a:t>
            </a:r>
          </a:p>
          <a:p>
            <a:pPr algn="ctr">
              <a:lnSpc>
                <a:spcPts val="2533"/>
              </a:lnSpc>
              <a:spcBef>
                <a:spcPct val="0"/>
              </a:spcBef>
            </a:pPr>
            <a:r>
              <a:rPr lang="en-US" sz="1809">
                <a:solidFill>
                  <a:srgbClr val="000000"/>
                </a:solidFill>
                <a:latin typeface="Luktao"/>
                <a:ea typeface="Luktao"/>
                <a:cs typeface="Luktao"/>
                <a:sym typeface="Luktao"/>
              </a:rPr>
              <a:t> Our ML alerts are tested against these chains to see if they catch system-level attacks.</a:t>
            </a:r>
          </a:p>
        </p:txBody>
      </p:sp>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894258"/>
            <a:ext cx="17737338" cy="7740069"/>
            <a:chOff x="0" y="0"/>
            <a:chExt cx="23649784" cy="10320092"/>
          </a:xfrm>
        </p:grpSpPr>
        <p:sp>
          <p:nvSpPr>
            <p:cNvPr name="TextBox 9" id="9"/>
            <p:cNvSpPr txBox="true"/>
            <p:nvPr/>
          </p:nvSpPr>
          <p:spPr>
            <a:xfrm rot="0">
              <a:off x="1066193" y="2597826"/>
              <a:ext cx="1879502"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Charact</a:t>
              </a:r>
              <a:r>
                <a:rPr lang="en-US" sz="1809">
                  <a:solidFill>
                    <a:srgbClr val="000000"/>
                  </a:solidFill>
                  <a:latin typeface="Luktao"/>
                  <a:ea typeface="Luktao"/>
                  <a:cs typeface="Luktao"/>
                  <a:sym typeface="Luktao"/>
                </a:rPr>
                <a:t>erizing S</a:t>
              </a:r>
              <a:r>
                <a:rPr lang="en-US" sz="1809">
                  <a:solidFill>
                    <a:srgbClr val="000000"/>
                  </a:solidFill>
                  <a:latin typeface="Luktao"/>
                  <a:ea typeface="Luktao"/>
                  <a:cs typeface="Luktao"/>
                  <a:sym typeface="Luktao"/>
                </a:rPr>
                <a:t>mart-Home IoT Traffic in </a:t>
              </a:r>
              <a:r>
                <a:rPr lang="en-US" sz="1809">
                  <a:solidFill>
                    <a:srgbClr val="000000"/>
                  </a:solidFill>
                  <a:latin typeface="Luktao"/>
                  <a:ea typeface="Luktao"/>
                  <a:cs typeface="Luktao"/>
                  <a:sym typeface="Luktao"/>
                </a:rPr>
                <a:t>the Wild.</a:t>
              </a:r>
            </a:p>
            <a:p>
              <a:pPr algn="ctr">
                <a:lnSpc>
                  <a:spcPts val="2533"/>
                </a:lnSpc>
                <a:spcBef>
                  <a:spcPct val="0"/>
                </a:spcBef>
              </a:pPr>
              <a:r>
                <a:rPr lang="en-US" sz="1809">
                  <a:solidFill>
                    <a:srgbClr val="000000"/>
                  </a:solidFill>
                  <a:latin typeface="Luktao"/>
                  <a:ea typeface="Luktao"/>
                  <a:cs typeface="Luktao"/>
                  <a:sym typeface="Luktao"/>
                </a:rPr>
                <a:t> Publish</a:t>
              </a:r>
              <a:r>
                <a:rPr lang="en-US" sz="1809">
                  <a:solidFill>
                    <a:srgbClr val="000000"/>
                  </a:solidFill>
                  <a:latin typeface="Luktao"/>
                  <a:ea typeface="Luktao"/>
                  <a:cs typeface="Luktao"/>
                  <a:sym typeface="Luktao"/>
                </a:rPr>
                <a:t>ed </a:t>
              </a:r>
              <a:r>
                <a:rPr lang="en-US" sz="1809">
                  <a:solidFill>
                    <a:srgbClr val="000000"/>
                  </a:solidFill>
                  <a:latin typeface="Luktao"/>
                  <a:ea typeface="Luktao"/>
                  <a:cs typeface="Luktao"/>
                  <a:sym typeface="Luktao"/>
                </a:rPr>
                <a:t>in</a:t>
              </a:r>
              <a:r>
                <a:rPr lang="en-US" sz="1809">
                  <a:solidFill>
                    <a:srgbClr val="000000"/>
                  </a:solidFill>
                  <a:latin typeface="Luktao"/>
                  <a:ea typeface="Luktao"/>
                  <a:cs typeface="Luktao"/>
                  <a:sym typeface="Luktao"/>
                </a:rPr>
                <a:t> 2020 (IoTDI).</a:t>
              </a:r>
            </a:p>
          </p:txBody>
        </p:sp>
        <p:sp>
          <p:nvSpPr>
            <p:cNvPr name="TextBox 10" id="10"/>
            <p:cNvSpPr txBox="true"/>
            <p:nvPr/>
          </p:nvSpPr>
          <p:spPr>
            <a:xfrm rot="0">
              <a:off x="3442265" y="2597826"/>
              <a:ext cx="2664000"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Lab studies miss how devices be</a:t>
              </a:r>
              <a:r>
                <a:rPr lang="en-US" sz="1809">
                  <a:solidFill>
                    <a:srgbClr val="000000"/>
                  </a:solidFill>
                  <a:latin typeface="Luktao"/>
                  <a:ea typeface="Luktao"/>
                  <a:cs typeface="Luktao"/>
                  <a:sym typeface="Luktao"/>
                </a:rPr>
                <a:t>have in real homes under real workloads.</a:t>
              </a:r>
            </a:p>
            <a:p>
              <a:pPr algn="ctr">
                <a:lnSpc>
                  <a:spcPts val="2533"/>
                </a:lnSpc>
                <a:spcBef>
                  <a:spcPct val="0"/>
                </a:spcBef>
              </a:pPr>
              <a:r>
                <a:rPr lang="en-US" sz="1809">
                  <a:solidFill>
                    <a:srgbClr val="000000"/>
                  </a:solidFill>
                  <a:latin typeface="Luktao"/>
                  <a:ea typeface="Luktao"/>
                  <a:cs typeface="Luktao"/>
                  <a:sym typeface="Luktao"/>
                </a:rPr>
                <a:t> Large-scale, real-use patterns were not well documented.</a:t>
              </a:r>
            </a:p>
          </p:txBody>
        </p:sp>
        <p:sp>
          <p:nvSpPr>
            <p:cNvPr name="TextBox 11" id="11"/>
            <p:cNvSpPr txBox="true"/>
            <p:nvPr/>
          </p:nvSpPr>
          <p:spPr>
            <a:xfrm rot="0">
              <a:off x="6394663" y="2597826"/>
              <a:ext cx="2694173"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Me</a:t>
              </a:r>
              <a:r>
                <a:rPr lang="en-US" sz="1809">
                  <a:solidFill>
                    <a:srgbClr val="000000"/>
                  </a:solidFill>
                  <a:latin typeface="Luktao"/>
                  <a:ea typeface="Luktao"/>
                  <a:cs typeface="Luktao"/>
                  <a:sym typeface="Luktao"/>
                </a:rPr>
                <a:t>asure device behavior in real homes and report patterns and issues.</a:t>
              </a:r>
            </a:p>
            <a:p>
              <a:pPr algn="ctr">
                <a:lnSpc>
                  <a:spcPts val="2533"/>
                </a:lnSpc>
                <a:spcBef>
                  <a:spcPct val="0"/>
                </a:spcBef>
              </a:pPr>
              <a:r>
                <a:rPr lang="en-US" sz="1809">
                  <a:solidFill>
                    <a:srgbClr val="000000"/>
                  </a:solidFill>
                  <a:latin typeface="Luktao"/>
                  <a:ea typeface="Luktao"/>
                  <a:cs typeface="Luktao"/>
                  <a:sym typeface="Luktao"/>
                </a:rPr>
                <a:t> Compare passive observations with scan-based results.</a:t>
              </a:r>
            </a:p>
          </p:txBody>
        </p:sp>
        <p:sp>
          <p:nvSpPr>
            <p:cNvPr name="TextBox 12" id="12"/>
            <p:cNvSpPr txBox="true"/>
            <p:nvPr/>
          </p:nvSpPr>
          <p:spPr>
            <a:xfrm rot="0">
              <a:off x="9382490" y="2597826"/>
              <a:ext cx="289845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 passively observed device traffic in many homes</a:t>
              </a:r>
              <a:r>
                <a:rPr lang="en-US" sz="1809">
                  <a:solidFill>
                    <a:srgbClr val="000000"/>
                  </a:solidFill>
                  <a:latin typeface="Luktao"/>
                  <a:ea typeface="Luktao"/>
                  <a:cs typeface="Luktao"/>
                  <a:sym typeface="Luktao"/>
                </a:rPr>
                <a:t> and studied contacts.</a:t>
              </a:r>
            </a:p>
            <a:p>
              <a:pPr algn="ctr">
                <a:lnSpc>
                  <a:spcPts val="2533"/>
                </a:lnSpc>
                <a:spcBef>
                  <a:spcPct val="0"/>
                </a:spcBef>
              </a:pPr>
              <a:r>
                <a:rPr lang="en-US" sz="1809">
                  <a:solidFill>
                    <a:srgbClr val="000000"/>
                  </a:solidFill>
                  <a:latin typeface="Luktao"/>
                  <a:ea typeface="Luktao"/>
                  <a:cs typeface="Luktao"/>
                  <a:sym typeface="Luktao"/>
                </a:rPr>
                <a:t> They analyzed TLS usage, trackers, and unusual behavior patterns.</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Real homes show insecure configurations and many third-party connections.</a:t>
              </a:r>
            </a:p>
            <a:p>
              <a:pPr algn="ctr">
                <a:lnSpc>
                  <a:spcPts val="2533"/>
                </a:lnSpc>
                <a:spcBef>
                  <a:spcPct val="0"/>
                </a:spcBef>
              </a:pPr>
              <a:r>
                <a:rPr lang="en-US" sz="1809">
                  <a:solidFill>
                    <a:srgbClr val="000000"/>
                  </a:solidFill>
                  <a:latin typeface="Luktao"/>
                  <a:ea typeface="Luktao"/>
                  <a:cs typeface="Luktao"/>
                  <a:sym typeface="Luktao"/>
                </a:rPr>
                <a:t> Device behavior depends on user actions and</a:t>
              </a:r>
              <a:r>
                <a:rPr lang="en-US" sz="1809">
                  <a:solidFill>
                    <a:srgbClr val="000000"/>
                  </a:solidFill>
                  <a:latin typeface="Luktao"/>
                  <a:ea typeface="Luktao"/>
                  <a:cs typeface="Luktao"/>
                  <a:sym typeface="Luktao"/>
                </a:rPr>
                <a:t> cloud services.</a:t>
              </a:r>
            </a:p>
          </p:txBody>
        </p:sp>
        <p:sp>
          <p:nvSpPr>
            <p:cNvPr name="TextBox 14" id="14"/>
            <p:cNvSpPr txBox="true"/>
            <p:nvPr/>
          </p:nvSpPr>
          <p:spPr>
            <a:xfrm rot="0">
              <a:off x="16611549" y="2808491"/>
              <a:ext cx="313983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Combine passive</a:t>
              </a:r>
              <a:r>
                <a:rPr lang="en-US" sz="1809">
                  <a:solidFill>
                    <a:srgbClr val="000000"/>
                  </a:solidFill>
                  <a:latin typeface="Luktao"/>
                  <a:ea typeface="Luktao"/>
                  <a:cs typeface="Luktao"/>
                  <a:sym typeface="Luktao"/>
                </a:rPr>
                <a:t> data with active experiments and lab tests for full view.</a:t>
              </a:r>
            </a:p>
            <a:p>
              <a:pPr algn="ctr">
                <a:lnSpc>
                  <a:spcPts val="2533"/>
                </a:lnSpc>
                <a:spcBef>
                  <a:spcPct val="0"/>
                </a:spcBef>
              </a:pPr>
              <a:r>
                <a:rPr lang="en-US" sz="1809">
                  <a:solidFill>
                    <a:srgbClr val="000000"/>
                  </a:solidFill>
                  <a:latin typeface="Luktao"/>
                  <a:ea typeface="Luktao"/>
                  <a:cs typeface="Luktao"/>
                  <a:sym typeface="Luktao"/>
                </a:rPr>
                <a:t> Study device-specific behavior and cloud interactions more deeply.</a:t>
              </a:r>
            </a:p>
          </p:txBody>
        </p:sp>
        <p:sp>
          <p:nvSpPr>
            <p:cNvPr name="TextBox 15" id="15"/>
            <p:cNvSpPr txBox="true"/>
            <p:nvPr/>
          </p:nvSpPr>
          <p:spPr>
            <a:xfrm rot="0">
              <a:off x="20045041" y="2597826"/>
              <a:ext cx="360474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produce labeled lab data (normal</a:t>
              </a:r>
              <a:r>
                <a:rPr lang="en-US" sz="1809">
                  <a:solidFill>
                    <a:srgbClr val="000000"/>
                  </a:solidFill>
                  <a:latin typeface="Luktao"/>
                  <a:ea typeface="Luktao"/>
                  <a:cs typeface="Luktao"/>
                  <a:sym typeface="Luktao"/>
                </a:rPr>
                <a:t> vs attack) to complement wild observations.</a:t>
              </a:r>
            </a:p>
            <a:p>
              <a:pPr algn="ctr">
                <a:lnSpc>
                  <a:spcPts val="2533"/>
                </a:lnSpc>
                <a:spcBef>
                  <a:spcPct val="0"/>
                </a:spcBef>
              </a:pPr>
              <a:r>
                <a:rPr lang="en-US" sz="1809">
                  <a:solidFill>
                    <a:srgbClr val="000000"/>
                  </a:solidFill>
                  <a:latin typeface="Luktao"/>
                  <a:ea typeface="Luktao"/>
                  <a:cs typeface="Luktao"/>
                  <a:sym typeface="Luktao"/>
                </a:rPr>
                <a:t> This helps build detectors that work both in lab and in real homes.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5</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894258"/>
            <a:ext cx="17737338" cy="7740069"/>
            <a:chOff x="0" y="0"/>
            <a:chExt cx="23649784" cy="10320092"/>
          </a:xfrm>
        </p:grpSpPr>
        <p:sp>
          <p:nvSpPr>
            <p:cNvPr name="TextBox 9" id="9"/>
            <p:cNvSpPr txBox="true"/>
            <p:nvPr/>
          </p:nvSpPr>
          <p:spPr>
            <a:xfrm rot="0">
              <a:off x="1066193" y="2597826"/>
              <a:ext cx="1879502"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Who Let the S</a:t>
              </a:r>
              <a:r>
                <a:rPr lang="en-US" sz="1809">
                  <a:solidFill>
                    <a:srgbClr val="000000"/>
                  </a:solidFill>
                  <a:latin typeface="Luktao"/>
                  <a:ea typeface="Luktao"/>
                  <a:cs typeface="Luktao"/>
                  <a:sym typeface="Luktao"/>
                </a:rPr>
                <a:t>mart</a:t>
              </a:r>
              <a:r>
                <a:rPr lang="en-US" sz="1809">
                  <a:solidFill>
                    <a:srgbClr val="000000"/>
                  </a:solidFill>
                  <a:latin typeface="Luktao"/>
                  <a:ea typeface="Luktao"/>
                  <a:cs typeface="Luktao"/>
                  <a:sym typeface="Luktao"/>
                </a:rPr>
                <a:t> Toaster Hack the House? (large-scale experiment</a:t>
              </a:r>
              <a:r>
                <a:rPr lang="en-US" sz="1809">
                  <a:solidFill>
                    <a:srgbClr val="000000"/>
                  </a:solidFill>
                  <a:latin typeface="Luktao"/>
                  <a:ea typeface="Luktao"/>
                  <a:cs typeface="Luktao"/>
                  <a:sym typeface="Luktao"/>
                </a:rPr>
                <a:t>s).</a:t>
              </a:r>
            </a:p>
            <a:p>
              <a:pPr algn="ctr">
                <a:lnSpc>
                  <a:spcPts val="2533"/>
                </a:lnSpc>
                <a:spcBef>
                  <a:spcPct val="0"/>
                </a:spcBef>
              </a:pPr>
              <a:r>
                <a:rPr lang="en-US" sz="1809">
                  <a:solidFill>
                    <a:srgbClr val="000000"/>
                  </a:solidFill>
                  <a:latin typeface="Luktao"/>
                  <a:ea typeface="Luktao"/>
                  <a:cs typeface="Luktao"/>
                  <a:sym typeface="Luktao"/>
                </a:rPr>
                <a:t> Published in</a:t>
              </a:r>
              <a:r>
                <a:rPr lang="en-US" sz="1809">
                  <a:solidFill>
                    <a:srgbClr val="000000"/>
                  </a:solidFill>
                  <a:latin typeface="Luktao"/>
                  <a:ea typeface="Luktao"/>
                  <a:cs typeface="Luktao"/>
                  <a:sym typeface="Luktao"/>
                </a:rPr>
                <a:t> 2023.</a:t>
              </a:r>
            </a:p>
          </p:txBody>
        </p:sp>
        <p:sp>
          <p:nvSpPr>
            <p:cNvPr name="TextBox 10" id="10"/>
            <p:cNvSpPr txBox="true"/>
            <p:nvPr/>
          </p:nvSpPr>
          <p:spPr>
            <a:xfrm rot="0">
              <a:off x="3442265" y="2597826"/>
              <a:ext cx="2664000"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Do common consumer IoT devices still fail u</a:t>
              </a:r>
              <a:r>
                <a:rPr lang="en-US" sz="1809">
                  <a:solidFill>
                    <a:srgbClr val="000000"/>
                  </a:solidFill>
                  <a:latin typeface="Luktao"/>
                  <a:ea typeface="Luktao"/>
                  <a:cs typeface="Luktao"/>
                  <a:sym typeface="Luktao"/>
                </a:rPr>
                <a:t>nder standard network attacks?</a:t>
              </a:r>
            </a:p>
            <a:p>
              <a:pPr algn="ctr">
                <a:lnSpc>
                  <a:spcPts val="2533"/>
                </a:lnSpc>
                <a:spcBef>
                  <a:spcPct val="0"/>
                </a:spcBef>
              </a:pPr>
              <a:r>
                <a:rPr lang="en-US" sz="1809">
                  <a:solidFill>
                    <a:srgbClr val="000000"/>
                  </a:solidFill>
                  <a:latin typeface="Luktao"/>
                  <a:ea typeface="Luktao"/>
                  <a:cs typeface="Luktao"/>
                  <a:sym typeface="Luktao"/>
                </a:rPr>
                <a:t> Researchers wanted systematic results on many devices.</a:t>
              </a:r>
            </a:p>
          </p:txBody>
        </p:sp>
        <p:sp>
          <p:nvSpPr>
            <p:cNvPr name="TextBox 11" id="11"/>
            <p:cNvSpPr txBox="true"/>
            <p:nvPr/>
          </p:nvSpPr>
          <p:spPr>
            <a:xfrm rot="0">
              <a:off x="6394663" y="2597826"/>
              <a:ext cx="2694173"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Run many automated attacks on mul</a:t>
              </a:r>
              <a:r>
                <a:rPr lang="en-US" sz="1809">
                  <a:solidFill>
                    <a:srgbClr val="000000"/>
                  </a:solidFill>
                  <a:latin typeface="Luktao"/>
                  <a:ea typeface="Luktao"/>
                  <a:cs typeface="Luktao"/>
                  <a:sym typeface="Luktao"/>
                </a:rPr>
                <a:t>tiple devices and record results.</a:t>
              </a:r>
            </a:p>
            <a:p>
              <a:pPr algn="ctr">
                <a:lnSpc>
                  <a:spcPts val="2533"/>
                </a:lnSpc>
                <a:spcBef>
                  <a:spcPct val="0"/>
                </a:spcBef>
              </a:pPr>
              <a:r>
                <a:rPr lang="en-US" sz="1809">
                  <a:solidFill>
                    <a:srgbClr val="000000"/>
                  </a:solidFill>
                  <a:latin typeface="Luktao"/>
                  <a:ea typeface="Luktao"/>
                  <a:cs typeface="Luktao"/>
                  <a:sym typeface="Luktao"/>
                </a:rPr>
                <a:t> Understand which devices fail and how.</a:t>
              </a:r>
            </a:p>
          </p:txBody>
        </p:sp>
        <p:sp>
          <p:nvSpPr>
            <p:cNvPr name="TextBox 12" id="12"/>
            <p:cNvSpPr txBox="true"/>
            <p:nvPr/>
          </p:nvSpPr>
          <p:spPr>
            <a:xfrm rot="0">
              <a:off x="9382490" y="2597826"/>
              <a:ext cx="2898454" cy="4180580"/>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They used testbeds to run scans, floods, and intercepts on many devices.</a:t>
              </a:r>
            </a:p>
            <a:p>
              <a:pPr algn="ctr">
                <a:lnSpc>
                  <a:spcPts val="2533"/>
                </a:lnSpc>
                <a:spcBef>
                  <a:spcPct val="0"/>
                </a:spcBef>
              </a:pPr>
              <a:r>
                <a:rPr lang="en-US" sz="1809">
                  <a:solidFill>
                    <a:srgbClr val="000000"/>
                  </a:solidFill>
                  <a:latin typeface="Luktao"/>
                  <a:ea typeface="Luktao"/>
                  <a:cs typeface="Luktao"/>
                  <a:sym typeface="Luktao"/>
                </a:rPr>
                <a:t> They logged behavior and measured attack success and device reactions.</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Many devices remain vulnerable and lack built-in detection.</a:t>
              </a:r>
            </a:p>
            <a:p>
              <a:pPr algn="ctr">
                <a:lnSpc>
                  <a:spcPts val="2533"/>
                </a:lnSpc>
                <a:spcBef>
                  <a:spcPct val="0"/>
                </a:spcBef>
              </a:pPr>
              <a:r>
                <a:rPr lang="en-US" sz="1809">
                  <a:solidFill>
                    <a:srgbClr val="000000"/>
                  </a:solidFill>
                  <a:latin typeface="Luktao"/>
                  <a:ea typeface="Luktao"/>
                  <a:cs typeface="Luktao"/>
                  <a:sym typeface="Luktao"/>
                </a:rPr>
                <a:t> Consumer IoT often has weak defenses and responds poorl</a:t>
              </a:r>
              <a:r>
                <a:rPr lang="en-US" sz="1809">
                  <a:solidFill>
                    <a:srgbClr val="000000"/>
                  </a:solidFill>
                  <a:latin typeface="Luktao"/>
                  <a:ea typeface="Luktao"/>
                  <a:cs typeface="Luktao"/>
                  <a:sym typeface="Luktao"/>
                </a:rPr>
                <a:t>y under attack.</a:t>
              </a:r>
            </a:p>
          </p:txBody>
        </p:sp>
        <p:sp>
          <p:nvSpPr>
            <p:cNvPr name="TextBox 14" id="14"/>
            <p:cNvSpPr txBox="true"/>
            <p:nvPr/>
          </p:nvSpPr>
          <p:spPr>
            <a:xfrm rot="0">
              <a:off x="16611549" y="2808491"/>
              <a:ext cx="313983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Share tools and da</a:t>
              </a:r>
              <a:r>
                <a:rPr lang="en-US" sz="1809">
                  <a:solidFill>
                    <a:srgbClr val="000000"/>
                  </a:solidFill>
                  <a:latin typeface="Luktao"/>
                  <a:ea typeface="Luktao"/>
                  <a:cs typeface="Luktao"/>
                  <a:sym typeface="Luktao"/>
                </a:rPr>
                <a:t>ta and push vendors to add embedded protections.</a:t>
              </a:r>
            </a:p>
            <a:p>
              <a:pPr algn="ctr">
                <a:lnSpc>
                  <a:spcPts val="2533"/>
                </a:lnSpc>
                <a:spcBef>
                  <a:spcPct val="0"/>
                </a:spcBef>
              </a:pPr>
              <a:r>
                <a:rPr lang="en-US" sz="1809">
                  <a:solidFill>
                    <a:srgbClr val="000000"/>
                  </a:solidFill>
                  <a:latin typeface="Luktao"/>
                  <a:ea typeface="Luktao"/>
                  <a:cs typeface="Luktao"/>
                  <a:sym typeface="Luktao"/>
                </a:rPr>
                <a:t> Build monitoring that can run in home networks to detect attacks early.</a:t>
              </a:r>
            </a:p>
          </p:txBody>
        </p:sp>
        <p:sp>
          <p:nvSpPr>
            <p:cNvPr name="TextBox 15" id="15"/>
            <p:cNvSpPr txBox="true"/>
            <p:nvPr/>
          </p:nvSpPr>
          <p:spPr>
            <a:xfrm rot="0">
              <a:off x="20045041" y="2597826"/>
              <a:ext cx="360474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provide a </a:t>
              </a:r>
              <a:r>
                <a:rPr lang="en-US" sz="1809">
                  <a:solidFill>
                    <a:srgbClr val="000000"/>
                  </a:solidFill>
                  <a:latin typeface="Luktao"/>
                  <a:ea typeface="Luktao"/>
                  <a:cs typeface="Luktao"/>
                  <a:sym typeface="Luktao"/>
                </a:rPr>
                <a:t>small, repeatable testbed to replicate such attacks on MQTT devices.</a:t>
              </a:r>
            </a:p>
            <a:p>
              <a:pPr algn="ctr">
                <a:lnSpc>
                  <a:spcPts val="2533"/>
                </a:lnSpc>
                <a:spcBef>
                  <a:spcPct val="0"/>
                </a:spcBef>
              </a:pPr>
              <a:r>
                <a:rPr lang="en-US" sz="1809">
                  <a:solidFill>
                    <a:srgbClr val="000000"/>
                  </a:solidFill>
                  <a:latin typeface="Luktao"/>
                  <a:ea typeface="Luktao"/>
                  <a:cs typeface="Luktao"/>
                  <a:sym typeface="Luktao"/>
                </a:rPr>
                <a:t> Our ML detector shows how lightweight monitoring can flag attacks in home networks.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6</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894258"/>
            <a:ext cx="17737338" cy="7740069"/>
            <a:chOff x="0" y="0"/>
            <a:chExt cx="23649784" cy="10320092"/>
          </a:xfrm>
        </p:grpSpPr>
        <p:sp>
          <p:nvSpPr>
            <p:cNvPr name="TextBox 9" id="9"/>
            <p:cNvSpPr txBox="true"/>
            <p:nvPr/>
          </p:nvSpPr>
          <p:spPr>
            <a:xfrm rot="0">
              <a:off x="1066193" y="2597826"/>
              <a:ext cx="1879502"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a:t>
              </a:r>
              <a:r>
                <a:rPr lang="en-US" sz="1809">
                  <a:solidFill>
                    <a:srgbClr val="000000"/>
                  </a:solidFill>
                  <a:latin typeface="Luktao"/>
                  <a:ea typeface="Luktao"/>
                  <a:cs typeface="Luktao"/>
                  <a:sym typeface="Luktao"/>
                </a:rPr>
                <a:t>oK: Security</a:t>
              </a:r>
              <a:r>
                <a:rPr lang="en-US" sz="1809">
                  <a:solidFill>
                    <a:srgbClr val="000000"/>
                  </a:solidFill>
                  <a:latin typeface="Luktao"/>
                  <a:ea typeface="Luktao"/>
                  <a:cs typeface="Luktao"/>
                  <a:sym typeface="Luktao"/>
                </a:rPr>
                <a:t> Evaluation of Home-Based IoT Deploym</a:t>
              </a:r>
              <a:r>
                <a:rPr lang="en-US" sz="1809">
                  <a:solidFill>
                    <a:srgbClr val="000000"/>
                  </a:solidFill>
                  <a:latin typeface="Luktao"/>
                  <a:ea typeface="Luktao"/>
                  <a:cs typeface="Luktao"/>
                  <a:sym typeface="Luktao"/>
                </a:rPr>
                <a:t>ents.</a:t>
              </a:r>
            </a:p>
            <a:p>
              <a:pPr algn="ctr">
                <a:lnSpc>
                  <a:spcPts val="2533"/>
                </a:lnSpc>
                <a:spcBef>
                  <a:spcPct val="0"/>
                </a:spcBef>
              </a:pPr>
              <a:r>
                <a:rPr lang="en-US" sz="1809">
                  <a:solidFill>
                    <a:srgbClr val="000000"/>
                  </a:solidFill>
                  <a:latin typeface="Luktao"/>
                  <a:ea typeface="Luktao"/>
                  <a:cs typeface="Luktao"/>
                  <a:sym typeface="Luktao"/>
                </a:rPr>
                <a:t> Published in</a:t>
              </a:r>
              <a:r>
                <a:rPr lang="en-US" sz="1809">
                  <a:solidFill>
                    <a:srgbClr val="000000"/>
                  </a:solidFill>
                  <a:latin typeface="Luktao"/>
                  <a:ea typeface="Luktao"/>
                  <a:cs typeface="Luktao"/>
                  <a:sym typeface="Luktao"/>
                </a:rPr>
                <a:t> 2019.</a:t>
              </a:r>
            </a:p>
          </p:txBody>
        </p:sp>
        <p:sp>
          <p:nvSpPr>
            <p:cNvPr name="TextBox 10" id="10"/>
            <p:cNvSpPr txBox="true"/>
            <p:nvPr/>
          </p:nvSpPr>
          <p:spPr>
            <a:xfrm rot="0">
              <a:off x="3442265" y="2597826"/>
              <a:ext cx="2664000" cy="4601909"/>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Research on home IoT i</a:t>
              </a:r>
              <a:r>
                <a:rPr lang="en-US" sz="1809">
                  <a:solidFill>
                    <a:srgbClr val="000000"/>
                  </a:solidFill>
                  <a:latin typeface="Luktao"/>
                  <a:ea typeface="Luktao"/>
                  <a:cs typeface="Luktao"/>
                  <a:sym typeface="Luktao"/>
                </a:rPr>
                <a:t>s fragmented and risks are not compared uniformly.</a:t>
              </a:r>
            </a:p>
            <a:p>
              <a:pPr algn="ctr">
                <a:lnSpc>
                  <a:spcPts val="2533"/>
                </a:lnSpc>
                <a:spcBef>
                  <a:spcPct val="0"/>
                </a:spcBef>
              </a:pPr>
              <a:r>
                <a:rPr lang="en-US" sz="1809">
                  <a:solidFill>
                    <a:srgbClr val="000000"/>
                  </a:solidFill>
                  <a:latin typeface="Luktao"/>
                  <a:ea typeface="Luktao"/>
                  <a:cs typeface="Luktao"/>
                  <a:sym typeface="Luktao"/>
                </a:rPr>
                <a:t> Practitioners need a clear taxonomy of threats and defenses.</a:t>
              </a:r>
            </a:p>
          </p:txBody>
        </p:sp>
        <p:sp>
          <p:nvSpPr>
            <p:cNvPr name="TextBox 11" id="11"/>
            <p:cNvSpPr txBox="true"/>
            <p:nvPr/>
          </p:nvSpPr>
          <p:spPr>
            <a:xfrm rot="0">
              <a:off x="6394663" y="2597826"/>
              <a:ext cx="2694173"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Sys</a:t>
              </a:r>
              <a:r>
                <a:rPr lang="en-US" sz="1809">
                  <a:solidFill>
                    <a:srgbClr val="000000"/>
                  </a:solidFill>
                  <a:latin typeface="Luktao"/>
                  <a:ea typeface="Luktao"/>
                  <a:cs typeface="Luktao"/>
                  <a:sym typeface="Luktao"/>
                </a:rPr>
                <a:t>tematize IoT threats and summarize known attacks and mitigations.</a:t>
              </a:r>
            </a:p>
            <a:p>
              <a:pPr algn="ctr">
                <a:lnSpc>
                  <a:spcPts val="2533"/>
                </a:lnSpc>
                <a:spcBef>
                  <a:spcPct val="0"/>
                </a:spcBef>
              </a:pPr>
              <a:r>
                <a:rPr lang="en-US" sz="1809">
                  <a:solidFill>
                    <a:srgbClr val="000000"/>
                  </a:solidFill>
                  <a:latin typeface="Luktao"/>
                  <a:ea typeface="Luktao"/>
                  <a:cs typeface="Luktao"/>
                  <a:sym typeface="Luktao"/>
                </a:rPr>
                <a:t> Provide an organized view of where research and fixes are needed.</a:t>
              </a:r>
            </a:p>
          </p:txBody>
        </p:sp>
        <p:sp>
          <p:nvSpPr>
            <p:cNvPr name="TextBox 12" id="12"/>
            <p:cNvSpPr txBox="true"/>
            <p:nvPr/>
          </p:nvSpPr>
          <p:spPr>
            <a:xfrm rot="0">
              <a:off x="9382490" y="2597826"/>
              <a:ext cx="2898454" cy="3337923"/>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They surveyed literature and made a threat model and taxonomy.</a:t>
              </a:r>
            </a:p>
            <a:p>
              <a:pPr algn="ctr">
                <a:lnSpc>
                  <a:spcPts val="2533"/>
                </a:lnSpc>
                <a:spcBef>
                  <a:spcPct val="0"/>
                </a:spcBef>
              </a:pPr>
              <a:r>
                <a:rPr lang="en-US" sz="1809">
                  <a:solidFill>
                    <a:srgbClr val="000000"/>
                  </a:solidFill>
                  <a:latin typeface="Luktao"/>
                  <a:ea typeface="Luktao"/>
                  <a:cs typeface="Luktao"/>
                  <a:sym typeface="Luktao"/>
                </a:rPr>
                <a:t> They discussed cloud, hub, device, and network issues for homes.</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Weak defaults, poor authentication, and cloud problems are common.</a:t>
              </a:r>
            </a:p>
            <a:p>
              <a:pPr algn="ctr">
                <a:lnSpc>
                  <a:spcPts val="2533"/>
                </a:lnSpc>
                <a:spcBef>
                  <a:spcPct val="0"/>
                </a:spcBef>
              </a:pPr>
              <a:r>
                <a:rPr lang="en-US" sz="1809">
                  <a:solidFill>
                    <a:srgbClr val="000000"/>
                  </a:solidFill>
                  <a:latin typeface="Luktao"/>
                  <a:ea typeface="Luktao"/>
                  <a:cs typeface="Luktao"/>
                  <a:sym typeface="Luktao"/>
                </a:rPr>
                <a:t> A combined approach (config + auth + monito</a:t>
              </a:r>
              <a:r>
                <a:rPr lang="en-US" sz="1809">
                  <a:solidFill>
                    <a:srgbClr val="000000"/>
                  </a:solidFill>
                  <a:latin typeface="Luktao"/>
                  <a:ea typeface="Luktao"/>
                  <a:cs typeface="Luktao"/>
                  <a:sym typeface="Luktao"/>
                </a:rPr>
                <a:t>ring) is necessary.</a:t>
              </a:r>
            </a:p>
            <a:p>
              <a:pPr algn="ctr">
                <a:lnSpc>
                  <a:spcPts val="2533"/>
                </a:lnSpc>
                <a:spcBef>
                  <a:spcPct val="0"/>
                </a:spcBef>
              </a:pPr>
            </a:p>
          </p:txBody>
        </p:sp>
        <p:sp>
          <p:nvSpPr>
            <p:cNvPr name="TextBox 14" id="14"/>
            <p:cNvSpPr txBox="true"/>
            <p:nvPr/>
          </p:nvSpPr>
          <p:spPr>
            <a:xfrm rot="0">
              <a:off x="16611549" y="2808491"/>
              <a:ext cx="3139838"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Harde</a:t>
              </a:r>
              <a:r>
                <a:rPr lang="en-US" sz="1809">
                  <a:solidFill>
                    <a:srgbClr val="000000"/>
                  </a:solidFill>
                  <a:latin typeface="Luktao"/>
                  <a:ea typeface="Luktao"/>
                  <a:cs typeface="Luktao"/>
                  <a:sym typeface="Luktao"/>
                </a:rPr>
                <a:t>n defaults, require better auth, and study cloud-related risks.</a:t>
              </a:r>
            </a:p>
            <a:p>
              <a:pPr algn="ctr">
                <a:lnSpc>
                  <a:spcPts val="2533"/>
                </a:lnSpc>
                <a:spcBef>
                  <a:spcPct val="0"/>
                </a:spcBef>
              </a:pPr>
              <a:r>
                <a:rPr lang="en-US" sz="1809">
                  <a:solidFill>
                    <a:srgbClr val="000000"/>
                  </a:solidFill>
                  <a:latin typeface="Luktao"/>
                  <a:ea typeface="Luktao"/>
                  <a:cs typeface="Luktao"/>
                  <a:sym typeface="Luktao"/>
                </a:rPr>
                <a:t> Create standard testbeds and datasets for better research comparisons.</a:t>
              </a:r>
            </a:p>
            <a:p>
              <a:pPr algn="ctr">
                <a:lnSpc>
                  <a:spcPts val="2533"/>
                </a:lnSpc>
                <a:spcBef>
                  <a:spcPct val="0"/>
                </a:spcBef>
              </a:pPr>
            </a:p>
          </p:txBody>
        </p:sp>
        <p:sp>
          <p:nvSpPr>
            <p:cNvPr name="TextBox 15" id="15"/>
            <p:cNvSpPr txBox="true"/>
            <p:nvPr/>
          </p:nvSpPr>
          <p:spPr>
            <a:xfrm rot="0">
              <a:off x="20045041" y="2597826"/>
              <a:ext cx="360474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enforce better MQTT credentials and ACLs on our broker and te</a:t>
              </a:r>
              <a:r>
                <a:rPr lang="en-US" sz="1809">
                  <a:solidFill>
                    <a:srgbClr val="000000"/>
                  </a:solidFill>
                  <a:latin typeface="Luktao"/>
                  <a:ea typeface="Luktao"/>
                  <a:cs typeface="Luktao"/>
                  <a:sym typeface="Luktao"/>
                </a:rPr>
                <a:t>st results.</a:t>
              </a:r>
            </a:p>
            <a:p>
              <a:pPr algn="ctr">
                <a:lnSpc>
                  <a:spcPts val="2533"/>
                </a:lnSpc>
                <a:spcBef>
                  <a:spcPct val="0"/>
                </a:spcBef>
              </a:pPr>
              <a:r>
                <a:rPr lang="en-US" sz="1809">
                  <a:solidFill>
                    <a:srgbClr val="000000"/>
                  </a:solidFill>
                  <a:latin typeface="Luktao"/>
                  <a:ea typeface="Luktao"/>
                  <a:cs typeface="Luktao"/>
                  <a:sym typeface="Luktao"/>
                </a:rPr>
                <a:t> We produce datasets and detection scripts that others can reuse and compare.</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7</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894258"/>
            <a:ext cx="17737338" cy="7740069"/>
            <a:chOff x="0" y="0"/>
            <a:chExt cx="23649784" cy="10320092"/>
          </a:xfrm>
        </p:grpSpPr>
        <p:sp>
          <p:nvSpPr>
            <p:cNvPr name="TextBox 9" id="9"/>
            <p:cNvSpPr txBox="true"/>
            <p:nvPr/>
          </p:nvSpPr>
          <p:spPr>
            <a:xfrm rot="0">
              <a:off x="1066193" y="2597826"/>
              <a:ext cx="1879502"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IOTA: Attack-Graph Verificati</a:t>
              </a:r>
              <a:r>
                <a:rPr lang="en-US" sz="1809">
                  <a:solidFill>
                    <a:srgbClr val="000000"/>
                  </a:solidFill>
                  <a:latin typeface="Luktao"/>
                  <a:ea typeface="Luktao"/>
                  <a:cs typeface="Luktao"/>
                  <a:sym typeface="Luktao"/>
                </a:rPr>
                <a:t>on</a:t>
              </a:r>
              <a:r>
                <a:rPr lang="en-US" sz="1809">
                  <a:solidFill>
                    <a:srgbClr val="000000"/>
                  </a:solidFill>
                  <a:latin typeface="Luktao"/>
                  <a:ea typeface="Luktao"/>
                  <a:cs typeface="Luktao"/>
                  <a:sym typeface="Luktao"/>
                </a:rPr>
                <a:t> for IoT Systems.</a:t>
              </a:r>
            </a:p>
            <a:p>
              <a:pPr algn="ctr">
                <a:lnSpc>
                  <a:spcPts val="2533"/>
                </a:lnSpc>
                <a:spcBef>
                  <a:spcPct val="0"/>
                </a:spcBef>
              </a:pPr>
              <a:r>
                <a:rPr lang="en-US" sz="1809">
                  <a:solidFill>
                    <a:srgbClr val="000000"/>
                  </a:solidFill>
                  <a:latin typeface="Luktao"/>
                  <a:ea typeface="Luktao"/>
                  <a:cs typeface="Luktao"/>
                  <a:sym typeface="Luktao"/>
                </a:rPr>
                <a:t> Publish</a:t>
              </a:r>
              <a:r>
                <a:rPr lang="en-US" sz="1809">
                  <a:solidFill>
                    <a:srgbClr val="000000"/>
                  </a:solidFill>
                  <a:latin typeface="Luktao"/>
                  <a:ea typeface="Luktao"/>
                  <a:cs typeface="Luktao"/>
                  <a:sym typeface="Luktao"/>
                </a:rPr>
                <a:t>ed in</a:t>
              </a:r>
              <a:r>
                <a:rPr lang="en-US" sz="1809">
                  <a:solidFill>
                    <a:srgbClr val="000000"/>
                  </a:solidFill>
                  <a:latin typeface="Luktao"/>
                  <a:ea typeface="Luktao"/>
                  <a:cs typeface="Luktao"/>
                  <a:sym typeface="Luktao"/>
                </a:rPr>
                <a:t> 2022.</a:t>
              </a:r>
            </a:p>
          </p:txBody>
        </p:sp>
        <p:sp>
          <p:nvSpPr>
            <p:cNvPr name="TextBox 10" id="10"/>
            <p:cNvSpPr txBox="true"/>
            <p:nvPr/>
          </p:nvSpPr>
          <p:spPr>
            <a:xfrm rot="0">
              <a:off x="3442265" y="2597826"/>
              <a:ext cx="2664000"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Securing components separately misses how attacks combine a</a:t>
              </a:r>
              <a:r>
                <a:rPr lang="en-US" sz="1809">
                  <a:solidFill>
                    <a:srgbClr val="000000"/>
                  </a:solidFill>
                  <a:latin typeface="Luktao"/>
                  <a:ea typeface="Luktao"/>
                  <a:cs typeface="Luktao"/>
                  <a:sym typeface="Luktao"/>
                </a:rPr>
                <a:t>cross systems.</a:t>
              </a:r>
            </a:p>
            <a:p>
              <a:pPr algn="ctr">
                <a:lnSpc>
                  <a:spcPts val="2533"/>
                </a:lnSpc>
                <a:spcBef>
                  <a:spcPct val="0"/>
                </a:spcBef>
              </a:pPr>
              <a:r>
                <a:rPr lang="en-US" sz="1809">
                  <a:solidFill>
                    <a:srgbClr val="000000"/>
                  </a:solidFill>
                  <a:latin typeface="Luktao"/>
                  <a:ea typeface="Luktao"/>
                  <a:cs typeface="Luktao"/>
                  <a:sym typeface="Luktao"/>
                </a:rPr>
                <a:t> Teams need tools to find likely attack paths and their impact.</a:t>
              </a:r>
            </a:p>
          </p:txBody>
        </p:sp>
        <p:sp>
          <p:nvSpPr>
            <p:cNvPr name="TextBox 11" id="11"/>
            <p:cNvSpPr txBox="true"/>
            <p:nvPr/>
          </p:nvSpPr>
          <p:spPr>
            <a:xfrm rot="0">
              <a:off x="6394663" y="2597826"/>
              <a:ext cx="2694173"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Build</a:t>
              </a:r>
              <a:r>
                <a:rPr lang="en-US" sz="1809">
                  <a:solidFill>
                    <a:srgbClr val="000000"/>
                  </a:solidFill>
                  <a:latin typeface="Luktao"/>
                  <a:ea typeface="Luktao"/>
                  <a:cs typeface="Luktao"/>
                  <a:sym typeface="Luktao"/>
                </a:rPr>
                <a:t> a framework that computes attack graphs and finds short, risky attack paths.</a:t>
              </a:r>
            </a:p>
            <a:p>
              <a:pPr algn="ctr">
                <a:lnSpc>
                  <a:spcPts val="2533"/>
                </a:lnSpc>
                <a:spcBef>
                  <a:spcPct val="0"/>
                </a:spcBef>
              </a:pPr>
              <a:r>
                <a:rPr lang="en-US" sz="1809">
                  <a:solidFill>
                    <a:srgbClr val="000000"/>
                  </a:solidFill>
                  <a:latin typeface="Luktao"/>
                  <a:ea typeface="Luktao"/>
                  <a:cs typeface="Luktao"/>
                  <a:sym typeface="Luktao"/>
                </a:rPr>
                <a:t> Help defenders prioritize fixes by impact.</a:t>
              </a:r>
            </a:p>
          </p:txBody>
        </p:sp>
        <p:sp>
          <p:nvSpPr>
            <p:cNvPr name="TextBox 12" id="12"/>
            <p:cNvSpPr txBox="true"/>
            <p:nvPr/>
          </p:nvSpPr>
          <p:spPr>
            <a:xfrm rot="0">
              <a:off x="9382490" y="2597826"/>
              <a:ext cx="2898454"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 model devices and s</a:t>
              </a:r>
              <a:r>
                <a:rPr lang="en-US" sz="1809">
                  <a:solidFill>
                    <a:srgbClr val="000000"/>
                  </a:solidFill>
                  <a:latin typeface="Luktao"/>
                  <a:ea typeface="Luktao"/>
                  <a:cs typeface="Luktao"/>
                  <a:sym typeface="Luktao"/>
                </a:rPr>
                <a:t>ervices as nodes and compute reachable attack steps.</a:t>
              </a:r>
            </a:p>
            <a:p>
              <a:pPr algn="ctr">
                <a:lnSpc>
                  <a:spcPts val="2533"/>
                </a:lnSpc>
                <a:spcBef>
                  <a:spcPct val="0"/>
                </a:spcBef>
              </a:pPr>
              <a:r>
                <a:rPr lang="en-US" sz="1809">
                  <a:solidFill>
                    <a:srgbClr val="000000"/>
                  </a:solidFill>
                  <a:latin typeface="Luktao"/>
                  <a:ea typeface="Luktao"/>
                  <a:cs typeface="Luktao"/>
                  <a:sym typeface="Luktao"/>
                </a:rPr>
                <a:t> They use graph algorithms to find minimal attack traces and blast radius.</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Many unexpected attack chains exist; small flaws can create big exposures.</a:t>
              </a:r>
            </a:p>
            <a:p>
              <a:pPr algn="ctr">
                <a:lnSpc>
                  <a:spcPts val="2533"/>
                </a:lnSpc>
                <a:spcBef>
                  <a:spcPct val="0"/>
                </a:spcBef>
              </a:pPr>
              <a:r>
                <a:rPr lang="en-US" sz="1809">
                  <a:solidFill>
                    <a:srgbClr val="000000"/>
                  </a:solidFill>
                  <a:latin typeface="Luktao"/>
                  <a:ea typeface="Luktao"/>
                  <a:cs typeface="Luktao"/>
                  <a:sym typeface="Luktao"/>
                </a:rPr>
                <a:t> Attack graphs help find the most dangerous fixes to apply</a:t>
              </a:r>
              <a:r>
                <a:rPr lang="en-US" sz="1809">
                  <a:solidFill>
                    <a:srgbClr val="000000"/>
                  </a:solidFill>
                  <a:latin typeface="Luktao"/>
                  <a:ea typeface="Luktao"/>
                  <a:cs typeface="Luktao"/>
                  <a:sym typeface="Luktao"/>
                </a:rPr>
                <a:t> first.</a:t>
              </a:r>
            </a:p>
          </p:txBody>
        </p:sp>
        <p:sp>
          <p:nvSpPr>
            <p:cNvPr name="TextBox 14" id="14"/>
            <p:cNvSpPr txBox="true"/>
            <p:nvPr/>
          </p:nvSpPr>
          <p:spPr>
            <a:xfrm rot="0">
              <a:off x="16611549" y="2808491"/>
              <a:ext cx="313983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Use graph tools for planning defenses</a:t>
              </a:r>
              <a:r>
                <a:rPr lang="en-US" sz="1809">
                  <a:solidFill>
                    <a:srgbClr val="000000"/>
                  </a:solidFill>
                  <a:latin typeface="Luktao"/>
                  <a:ea typeface="Luktao"/>
                  <a:cs typeface="Luktao"/>
                  <a:sym typeface="Luktao"/>
                </a:rPr>
                <a:t> and to validate security changes.</a:t>
              </a:r>
            </a:p>
            <a:p>
              <a:pPr algn="ctr">
                <a:lnSpc>
                  <a:spcPts val="2533"/>
                </a:lnSpc>
                <a:spcBef>
                  <a:spcPct val="0"/>
                </a:spcBef>
              </a:pPr>
              <a:r>
                <a:rPr lang="en-US" sz="1809">
                  <a:solidFill>
                    <a:srgbClr val="000000"/>
                  </a:solidFill>
                  <a:latin typeface="Luktao"/>
                  <a:ea typeface="Luktao"/>
                  <a:cs typeface="Luktao"/>
                  <a:sym typeface="Luktao"/>
                </a:rPr>
                <a:t> Integrate runtime monitoring to confirm possible attack paths are blocked.</a:t>
              </a:r>
            </a:p>
          </p:txBody>
        </p:sp>
        <p:sp>
          <p:nvSpPr>
            <p:cNvPr name="TextBox 15" id="15"/>
            <p:cNvSpPr txBox="true"/>
            <p:nvPr/>
          </p:nvSpPr>
          <p:spPr>
            <a:xfrm rot="0">
              <a:off x="20045041" y="2597826"/>
              <a:ext cx="360474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map our ESP32 + bulb flows to</a:t>
              </a:r>
              <a:r>
                <a:rPr lang="en-US" sz="1809">
                  <a:solidFill>
                    <a:srgbClr val="000000"/>
                  </a:solidFill>
                  <a:latin typeface="Luktao"/>
                  <a:ea typeface="Luktao"/>
                  <a:cs typeface="Luktao"/>
                  <a:sym typeface="Luktao"/>
                </a:rPr>
                <a:t> simple attack graphs and test detection on those paths.</a:t>
              </a:r>
            </a:p>
            <a:p>
              <a:pPr algn="ctr">
                <a:lnSpc>
                  <a:spcPts val="2533"/>
                </a:lnSpc>
                <a:spcBef>
                  <a:spcPct val="0"/>
                </a:spcBef>
              </a:pPr>
              <a:r>
                <a:rPr lang="en-US" sz="1809">
                  <a:solidFill>
                    <a:srgbClr val="000000"/>
                  </a:solidFill>
                  <a:latin typeface="Luktao"/>
                  <a:ea typeface="Luktao"/>
                  <a:cs typeface="Luktao"/>
                  <a:sym typeface="Luktao"/>
                </a:rPr>
                <a:t> This links practical monitoring with formal attack-path analysis.</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8</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75331" y="1894258"/>
            <a:ext cx="17737338" cy="7740069"/>
            <a:chOff x="0" y="0"/>
            <a:chExt cx="23649784" cy="10320092"/>
          </a:xfrm>
        </p:grpSpPr>
        <p:sp>
          <p:nvSpPr>
            <p:cNvPr name="TextBox 9" id="9"/>
            <p:cNvSpPr txBox="true"/>
            <p:nvPr/>
          </p:nvSpPr>
          <p:spPr>
            <a:xfrm rot="0">
              <a:off x="1066193" y="2597826"/>
              <a:ext cx="1879502"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Smart-Home IoT traffic </a:t>
              </a:r>
              <a:r>
                <a:rPr lang="en-US" sz="1809">
                  <a:solidFill>
                    <a:srgbClr val="000000"/>
                  </a:solidFill>
                  <a:latin typeface="Luktao"/>
                  <a:ea typeface="Luktao"/>
                  <a:cs typeface="Luktao"/>
                  <a:sym typeface="Luktao"/>
                </a:rPr>
                <a:t>and</a:t>
              </a:r>
              <a:r>
                <a:rPr lang="en-US" sz="1809">
                  <a:solidFill>
                    <a:srgbClr val="000000"/>
                  </a:solidFill>
                  <a:latin typeface="Luktao"/>
                  <a:ea typeface="Luktao"/>
                  <a:cs typeface="Luktao"/>
                  <a:sym typeface="Luktao"/>
                </a:rPr>
                <a:t> behavior studies from UC Davis group.</a:t>
              </a:r>
            </a:p>
            <a:p>
              <a:pPr algn="ctr">
                <a:lnSpc>
                  <a:spcPts val="2533"/>
                </a:lnSpc>
                <a:spcBef>
                  <a:spcPct val="0"/>
                </a:spcBef>
              </a:pPr>
              <a:r>
                <a:rPr lang="en-US" sz="1809">
                  <a:solidFill>
                    <a:srgbClr val="000000"/>
                  </a:solidFill>
                  <a:latin typeface="Luktao"/>
                  <a:ea typeface="Luktao"/>
                  <a:cs typeface="Luktao"/>
                  <a:sym typeface="Luktao"/>
                </a:rPr>
                <a:t> Publish</a:t>
              </a:r>
              <a:r>
                <a:rPr lang="en-US" sz="1809">
                  <a:solidFill>
                    <a:srgbClr val="000000"/>
                  </a:solidFill>
                  <a:latin typeface="Luktao"/>
                  <a:ea typeface="Luktao"/>
                  <a:cs typeface="Luktao"/>
                  <a:sym typeface="Luktao"/>
                </a:rPr>
                <a:t>ed around</a:t>
              </a:r>
              <a:r>
                <a:rPr lang="en-US" sz="1809">
                  <a:solidFill>
                    <a:srgbClr val="000000"/>
                  </a:solidFill>
                  <a:latin typeface="Luktao"/>
                  <a:ea typeface="Luktao"/>
                  <a:cs typeface="Luktao"/>
                  <a:sym typeface="Luktao"/>
                </a:rPr>
                <a:t> 2020.</a:t>
              </a:r>
            </a:p>
          </p:txBody>
        </p:sp>
        <p:sp>
          <p:nvSpPr>
            <p:cNvPr name="TextBox 10" id="10"/>
            <p:cNvSpPr txBox="true"/>
            <p:nvPr/>
          </p:nvSpPr>
          <p:spPr>
            <a:xfrm rot="0">
              <a:off x="3442265" y="2597826"/>
              <a:ext cx="2664000"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Device behavior and security practices were not well measu</a:t>
              </a:r>
              <a:r>
                <a:rPr lang="en-US" sz="1809">
                  <a:solidFill>
                    <a:srgbClr val="000000"/>
                  </a:solidFill>
                  <a:latin typeface="Luktao"/>
                  <a:ea typeface="Luktao"/>
                  <a:cs typeface="Luktao"/>
                  <a:sym typeface="Luktao"/>
                </a:rPr>
                <a:t>red in homes.</a:t>
              </a:r>
            </a:p>
            <a:p>
              <a:pPr algn="ctr">
                <a:lnSpc>
                  <a:spcPts val="2533"/>
                </a:lnSpc>
                <a:spcBef>
                  <a:spcPct val="0"/>
                </a:spcBef>
              </a:pPr>
              <a:r>
                <a:rPr lang="en-US" sz="1809">
                  <a:solidFill>
                    <a:srgbClr val="000000"/>
                  </a:solidFill>
                  <a:latin typeface="Luktao"/>
                  <a:ea typeface="Luktao"/>
                  <a:cs typeface="Luktao"/>
                  <a:sym typeface="Luktao"/>
                </a:rPr>
                <a:t> More empirical evidence was needed on real device habits.</a:t>
              </a:r>
            </a:p>
          </p:txBody>
        </p:sp>
        <p:sp>
          <p:nvSpPr>
            <p:cNvPr name="TextBox 11" id="11"/>
            <p:cNvSpPr txBox="true"/>
            <p:nvPr/>
          </p:nvSpPr>
          <p:spPr>
            <a:xfrm rot="0">
              <a:off x="6394663" y="2597826"/>
              <a:ext cx="2694173"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Observe</a:t>
              </a:r>
              <a:r>
                <a:rPr lang="en-US" sz="1809">
                  <a:solidFill>
                    <a:srgbClr val="000000"/>
                  </a:solidFill>
                  <a:latin typeface="Luktao"/>
                  <a:ea typeface="Luktao"/>
                  <a:cs typeface="Luktao"/>
                  <a:sym typeface="Luktao"/>
                </a:rPr>
                <a:t> devices over time and report insecure patterns and endpoints.</a:t>
              </a:r>
            </a:p>
            <a:p>
              <a:pPr algn="ctr">
                <a:lnSpc>
                  <a:spcPts val="2533"/>
                </a:lnSpc>
                <a:spcBef>
                  <a:spcPct val="0"/>
                </a:spcBef>
              </a:pPr>
              <a:r>
                <a:rPr lang="en-US" sz="1809">
                  <a:solidFill>
                    <a:srgbClr val="000000"/>
                  </a:solidFill>
                  <a:latin typeface="Luktao"/>
                  <a:ea typeface="Luktao"/>
                  <a:cs typeface="Luktao"/>
                  <a:sym typeface="Luktao"/>
                </a:rPr>
                <a:t> Show how devices contact clouds and trackers in practice.</a:t>
              </a:r>
            </a:p>
          </p:txBody>
        </p:sp>
        <p:sp>
          <p:nvSpPr>
            <p:cNvPr name="TextBox 12" id="12"/>
            <p:cNvSpPr txBox="true"/>
            <p:nvPr/>
          </p:nvSpPr>
          <p:spPr>
            <a:xfrm rot="0">
              <a:off x="9382490" y="2597826"/>
              <a:ext cx="289845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They used passive observation and compared</a:t>
              </a:r>
              <a:r>
                <a:rPr lang="en-US" sz="1809">
                  <a:solidFill>
                    <a:srgbClr val="000000"/>
                  </a:solidFill>
                  <a:latin typeface="Luktao"/>
                  <a:ea typeface="Luktao"/>
                  <a:cs typeface="Luktao"/>
                  <a:sym typeface="Luktao"/>
                </a:rPr>
                <a:t> results with scanning tools.</a:t>
              </a:r>
            </a:p>
            <a:p>
              <a:pPr algn="ctr">
                <a:lnSpc>
                  <a:spcPts val="2533"/>
                </a:lnSpc>
                <a:spcBef>
                  <a:spcPct val="0"/>
                </a:spcBef>
              </a:pPr>
              <a:r>
                <a:rPr lang="en-US" sz="1809">
                  <a:solidFill>
                    <a:srgbClr val="000000"/>
                  </a:solidFill>
                  <a:latin typeface="Luktao"/>
                  <a:ea typeface="Luktao"/>
                  <a:cs typeface="Luktao"/>
                  <a:sym typeface="Luktao"/>
                </a:rPr>
                <a:t> They documented insecure protocols and unusual device behavior.</a:t>
              </a:r>
            </a:p>
          </p:txBody>
        </p:sp>
        <p:sp>
          <p:nvSpPr>
            <p:cNvPr name="TextBox 13" id="13"/>
            <p:cNvSpPr txBox="true"/>
            <p:nvPr/>
          </p:nvSpPr>
          <p:spPr>
            <a:xfrm rot="0">
              <a:off x="12574597" y="2597826"/>
              <a:ext cx="3653925" cy="2916594"/>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Many devices use weak settings, contact many third parties, and leak metadata.</a:t>
              </a:r>
            </a:p>
            <a:p>
              <a:pPr algn="ctr">
                <a:lnSpc>
                  <a:spcPts val="2533"/>
                </a:lnSpc>
                <a:spcBef>
                  <a:spcPct val="0"/>
                </a:spcBef>
              </a:pPr>
              <a:r>
                <a:rPr lang="en-US" sz="1809">
                  <a:solidFill>
                    <a:srgbClr val="000000"/>
                  </a:solidFill>
                  <a:latin typeface="Luktao"/>
                  <a:ea typeface="Luktao"/>
                  <a:cs typeface="Luktao"/>
                  <a:sym typeface="Luktao"/>
                </a:rPr>
                <a:t> Real-use studies reveal problems not visi</a:t>
              </a:r>
              <a:r>
                <a:rPr lang="en-US" sz="1809">
                  <a:solidFill>
                    <a:srgbClr val="000000"/>
                  </a:solidFill>
                  <a:latin typeface="Luktao"/>
                  <a:ea typeface="Luktao"/>
                  <a:cs typeface="Luktao"/>
                  <a:sym typeface="Luktao"/>
                </a:rPr>
                <a:t>ble in lab-only tests.</a:t>
              </a:r>
            </a:p>
          </p:txBody>
        </p:sp>
        <p:sp>
          <p:nvSpPr>
            <p:cNvPr name="TextBox 14" id="14"/>
            <p:cNvSpPr txBox="true"/>
            <p:nvPr/>
          </p:nvSpPr>
          <p:spPr>
            <a:xfrm rot="0">
              <a:off x="16611549" y="2808491"/>
              <a:ext cx="3139838"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Combine passive</a:t>
              </a:r>
              <a:r>
                <a:rPr lang="en-US" sz="1809">
                  <a:solidFill>
                    <a:srgbClr val="000000"/>
                  </a:solidFill>
                  <a:latin typeface="Luktao"/>
                  <a:ea typeface="Luktao"/>
                  <a:cs typeface="Luktao"/>
                  <a:sym typeface="Luktao"/>
                </a:rPr>
                <a:t> monitoring with targeted active tests and lab validation.</a:t>
              </a:r>
            </a:p>
            <a:p>
              <a:pPr algn="ctr">
                <a:lnSpc>
                  <a:spcPts val="2533"/>
                </a:lnSpc>
                <a:spcBef>
                  <a:spcPct val="0"/>
                </a:spcBef>
              </a:pPr>
              <a:r>
                <a:rPr lang="en-US" sz="1809">
                  <a:solidFill>
                    <a:srgbClr val="000000"/>
                  </a:solidFill>
                  <a:latin typeface="Luktao"/>
                  <a:ea typeface="Luktao"/>
                  <a:cs typeface="Luktao"/>
                  <a:sym typeface="Luktao"/>
                </a:rPr>
                <a:t> Create datasets and tools for continued measurement.</a:t>
              </a:r>
            </a:p>
          </p:txBody>
        </p:sp>
        <p:sp>
          <p:nvSpPr>
            <p:cNvPr name="TextBox 15" id="15"/>
            <p:cNvSpPr txBox="true"/>
            <p:nvPr/>
          </p:nvSpPr>
          <p:spPr>
            <a:xfrm rot="0">
              <a:off x="20045041" y="2597826"/>
              <a:ext cx="360474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add controlled attack traces to complement</a:t>
              </a:r>
              <a:r>
                <a:rPr lang="en-US" sz="1809">
                  <a:solidFill>
                    <a:srgbClr val="000000"/>
                  </a:solidFill>
                  <a:latin typeface="Luktao"/>
                  <a:ea typeface="Luktao"/>
                  <a:cs typeface="Luktao"/>
                  <a:sym typeface="Luktao"/>
                </a:rPr>
                <a:t> passive home data.</a:t>
              </a:r>
            </a:p>
            <a:p>
              <a:pPr algn="ctr">
                <a:lnSpc>
                  <a:spcPts val="2533"/>
                </a:lnSpc>
                <a:spcBef>
                  <a:spcPct val="0"/>
                </a:spcBef>
              </a:pPr>
              <a:r>
                <a:rPr lang="en-US" sz="1809">
                  <a:solidFill>
                    <a:srgbClr val="000000"/>
                  </a:solidFill>
                  <a:latin typeface="Luktao"/>
                  <a:ea typeface="Luktao"/>
                  <a:cs typeface="Luktao"/>
                  <a:sym typeface="Luktao"/>
                </a:rPr>
                <a:t> This helps build detectors that detect anomalies both in lab and in the wild.</a:t>
              </a:r>
            </a:p>
          </p:txBody>
        </p:sp>
      </p:grpSp>
      <p:graphicFrame>
        <p:nvGraphicFramePr>
          <p:cNvPr name="Table 8" id="8"/>
          <p:cNvGraphicFramePr>
            <a:graphicFrameLocks noGrp="true"/>
          </p:cNvGraphicFramePr>
          <p:nvPr/>
        </p:nvGraphicFramePr>
        <p:xfrm>
          <a:off x="0" y="0"/>
          <a:ext cx="17643502" cy="7699121"/>
        </p:xfrm>
        <a:graphic>
          <a:graphicData uri="http://schemas.openxmlformats.org/drawingml/2006/table">
            <a:tbl>
              <a:tblPr/>
              <a:tblGrid>
                <a:gridCol w="524725"/>
                <a:gridCol w="1840390"/>
                <a:gridCol w="2250932"/>
                <a:gridCol w="2184916"/>
                <a:gridCol w="2413093"/>
                <a:gridCol w="2964202"/>
                <a:gridCol w="2650658"/>
                <a:gridCol w="281458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9</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155015" y="1894258"/>
            <a:ext cx="17857654" cy="7740069"/>
            <a:chOff x="0" y="0"/>
            <a:chExt cx="23810206" cy="10320092"/>
          </a:xfrm>
        </p:grpSpPr>
        <p:sp>
          <p:nvSpPr>
            <p:cNvPr name="TextBox 9" id="9"/>
            <p:cNvSpPr txBox="true"/>
            <p:nvPr/>
          </p:nvSpPr>
          <p:spPr>
            <a:xfrm rot="0">
              <a:off x="1226614" y="2597826"/>
              <a:ext cx="1879502" cy="4180580"/>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Design </a:t>
              </a:r>
              <a:r>
                <a:rPr lang="en-US" sz="1809">
                  <a:solidFill>
                    <a:srgbClr val="000000"/>
                  </a:solidFill>
                  <a:latin typeface="Luktao"/>
                  <a:ea typeface="Luktao"/>
                  <a:cs typeface="Luktao"/>
                  <a:sym typeface="Luktao"/>
                </a:rPr>
                <a:t>and Imple</a:t>
              </a:r>
              <a:r>
                <a:rPr lang="en-US" sz="1809">
                  <a:solidFill>
                    <a:srgbClr val="000000"/>
                  </a:solidFill>
                  <a:latin typeface="Luktao"/>
                  <a:ea typeface="Luktao"/>
                  <a:cs typeface="Luktao"/>
                  <a:sym typeface="Luktao"/>
                </a:rPr>
                <a:t>mentation of Automated IoT Security Testbed (duplicate entry).</a:t>
              </a:r>
            </a:p>
            <a:p>
              <a:pPr algn="ctr">
                <a:lnSpc>
                  <a:spcPts val="2533"/>
                </a:lnSpc>
                <a:spcBef>
                  <a:spcPct val="0"/>
                </a:spcBef>
              </a:pPr>
              <a:r>
                <a:rPr lang="en-US" sz="1809">
                  <a:solidFill>
                    <a:srgbClr val="000000"/>
                  </a:solidFill>
                  <a:latin typeface="Luktao"/>
                  <a:ea typeface="Luktao"/>
                  <a:cs typeface="Luktao"/>
                  <a:sym typeface="Luktao"/>
                </a:rPr>
                <a:t> Published in 2020.</a:t>
              </a:r>
            </a:p>
          </p:txBody>
        </p:sp>
        <p:sp>
          <p:nvSpPr>
            <p:cNvPr name="TextBox 10" id="10"/>
            <p:cNvSpPr txBox="true"/>
            <p:nvPr/>
          </p:nvSpPr>
          <p:spPr>
            <a:xfrm rot="0">
              <a:off x="3602686" y="2597826"/>
              <a:ext cx="2664000"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Devices are vulnerable to simple replays and automat</a:t>
              </a:r>
              <a:r>
                <a:rPr lang="en-US" sz="1809">
                  <a:solidFill>
                    <a:srgbClr val="000000"/>
                  </a:solidFill>
                  <a:latin typeface="Luktao"/>
                  <a:ea typeface="Luktao"/>
                  <a:cs typeface="Luktao"/>
                  <a:sym typeface="Luktao"/>
                </a:rPr>
                <a:t>ed attacks.</a:t>
              </a:r>
            </a:p>
            <a:p>
              <a:pPr algn="ctr">
                <a:lnSpc>
                  <a:spcPts val="2533"/>
                </a:lnSpc>
                <a:spcBef>
                  <a:spcPct val="0"/>
                </a:spcBef>
              </a:pPr>
              <a:r>
                <a:rPr lang="en-US" sz="1809">
                  <a:solidFill>
                    <a:srgbClr val="000000"/>
                  </a:solidFill>
                  <a:latin typeface="Luktao"/>
                  <a:ea typeface="Luktao"/>
                  <a:cs typeface="Luktao"/>
                  <a:sym typeface="Luktao"/>
                </a:rPr>
                <a:t> A repeatable lab is needed to show these weaknesses.</a:t>
              </a:r>
            </a:p>
          </p:txBody>
        </p:sp>
        <p:sp>
          <p:nvSpPr>
            <p:cNvPr name="TextBox 11" id="11"/>
            <p:cNvSpPr txBox="true"/>
            <p:nvPr/>
          </p:nvSpPr>
          <p:spPr>
            <a:xfrm rot="0">
              <a:off x="6555084" y="2597826"/>
              <a:ext cx="2694173" cy="4601909"/>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Build an</a:t>
              </a:r>
              <a:r>
                <a:rPr lang="en-US" sz="1809">
                  <a:solidFill>
                    <a:srgbClr val="000000"/>
                  </a:solidFill>
                  <a:latin typeface="Luktao"/>
                  <a:ea typeface="Luktao"/>
                  <a:cs typeface="Luktao"/>
                  <a:sym typeface="Luktao"/>
                </a:rPr>
                <a:t> automated testbed and demonstrate attacks on smart devices.</a:t>
              </a:r>
            </a:p>
            <a:p>
              <a:pPr algn="ctr">
                <a:lnSpc>
                  <a:spcPts val="2533"/>
                </a:lnSpc>
                <a:spcBef>
                  <a:spcPct val="0"/>
                </a:spcBef>
              </a:pPr>
              <a:r>
                <a:rPr lang="en-US" sz="1809">
                  <a:solidFill>
                    <a:srgbClr val="000000"/>
                  </a:solidFill>
                  <a:latin typeface="Luktao"/>
                  <a:ea typeface="Luktao"/>
                  <a:cs typeface="Luktao"/>
                  <a:sym typeface="Luktao"/>
                </a:rPr>
                <a:t> Record how devices accept unauthorized commands and log evidence.</a:t>
              </a:r>
            </a:p>
          </p:txBody>
        </p:sp>
        <p:sp>
          <p:nvSpPr>
            <p:cNvPr name="TextBox 12" id="12"/>
            <p:cNvSpPr txBox="true"/>
            <p:nvPr/>
          </p:nvSpPr>
          <p:spPr>
            <a:xfrm rot="0">
              <a:off x="9542911" y="2597826"/>
              <a:ext cx="2898454" cy="3337923"/>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They used scripted attacks, device enrollment, and traffic analysis.</a:t>
              </a:r>
            </a:p>
            <a:p>
              <a:pPr algn="ctr">
                <a:lnSpc>
                  <a:spcPts val="2533"/>
                </a:lnSpc>
                <a:spcBef>
                  <a:spcPct val="0"/>
                </a:spcBef>
              </a:pPr>
              <a:r>
                <a:rPr lang="en-US" sz="1809">
                  <a:solidFill>
                    <a:srgbClr val="000000"/>
                  </a:solidFill>
                  <a:latin typeface="Luktao"/>
                  <a:ea typeface="Luktao"/>
                  <a:cs typeface="Luktao"/>
                  <a:sym typeface="Luktao"/>
                </a:rPr>
                <a:t> They</a:t>
              </a:r>
              <a:r>
                <a:rPr lang="en-US" sz="1809">
                  <a:solidFill>
                    <a:srgbClr val="000000"/>
                  </a:solidFill>
                  <a:latin typeface="Luktao"/>
                  <a:ea typeface="Luktao"/>
                  <a:cs typeface="Luktao"/>
                  <a:sym typeface="Luktao"/>
                </a:rPr>
                <a:t> measured device behavior and attack success rates.</a:t>
              </a:r>
            </a:p>
          </p:txBody>
        </p:sp>
        <p:sp>
          <p:nvSpPr>
            <p:cNvPr name="TextBox 13" id="13"/>
            <p:cNvSpPr txBox="true"/>
            <p:nvPr/>
          </p:nvSpPr>
          <p:spPr>
            <a:xfrm rot="0">
              <a:off x="12735018" y="2597826"/>
              <a:ext cx="3653925" cy="3337923"/>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Many devices accept replayed or forged commands without checks.</a:t>
              </a:r>
            </a:p>
            <a:p>
              <a:pPr algn="ctr">
                <a:lnSpc>
                  <a:spcPts val="2533"/>
                </a:lnSpc>
                <a:spcBef>
                  <a:spcPct val="0"/>
                </a:spcBef>
              </a:pPr>
              <a:r>
                <a:rPr lang="en-US" sz="1809">
                  <a:solidFill>
                    <a:srgbClr val="000000"/>
                  </a:solidFill>
                  <a:latin typeface="Luktao"/>
                  <a:ea typeface="Luktao"/>
                  <a:cs typeface="Luktao"/>
                  <a:sym typeface="Luktao"/>
                </a:rPr>
                <a:t> Device makers often do not enforce checks against simple network attacks</a:t>
              </a:r>
              <a:r>
                <a:rPr lang="en-US" sz="1809">
                  <a:solidFill>
                    <a:srgbClr val="000000"/>
                  </a:solidFill>
                  <a:latin typeface="Luktao"/>
                  <a:ea typeface="Luktao"/>
                  <a:cs typeface="Luktao"/>
                  <a:sym typeface="Luktao"/>
                </a:rPr>
                <a:t>.</a:t>
              </a:r>
            </a:p>
          </p:txBody>
        </p:sp>
        <p:sp>
          <p:nvSpPr>
            <p:cNvPr name="TextBox 14" id="14"/>
            <p:cNvSpPr txBox="true"/>
            <p:nvPr/>
          </p:nvSpPr>
          <p:spPr>
            <a:xfrm rot="0">
              <a:off x="16771970" y="2808491"/>
              <a:ext cx="313983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Add authentication,</a:t>
              </a:r>
              <a:r>
                <a:rPr lang="en-US" sz="1809">
                  <a:solidFill>
                    <a:srgbClr val="000000"/>
                  </a:solidFill>
                  <a:latin typeface="Luktao"/>
                  <a:ea typeface="Luktao"/>
                  <a:cs typeface="Luktao"/>
                  <a:sym typeface="Luktao"/>
                </a:rPr>
                <a:t> monitoring, and standardized testbeds for comparison.</a:t>
              </a:r>
            </a:p>
            <a:p>
              <a:pPr algn="ctr">
                <a:lnSpc>
                  <a:spcPts val="2533"/>
                </a:lnSpc>
                <a:spcBef>
                  <a:spcPct val="0"/>
                </a:spcBef>
              </a:pPr>
              <a:r>
                <a:rPr lang="en-US" sz="1809">
                  <a:solidFill>
                    <a:srgbClr val="000000"/>
                  </a:solidFill>
                  <a:latin typeface="Luktao"/>
                  <a:ea typeface="Luktao"/>
                  <a:cs typeface="Luktao"/>
                  <a:sym typeface="Luktao"/>
                </a:rPr>
                <a:t> Share datasets and tools for the research community.</a:t>
              </a:r>
            </a:p>
          </p:txBody>
        </p:sp>
        <p:sp>
          <p:nvSpPr>
            <p:cNvPr name="TextBox 15" id="15"/>
            <p:cNvSpPr txBox="true"/>
            <p:nvPr/>
          </p:nvSpPr>
          <p:spPr>
            <a:xfrm rot="0">
              <a:off x="20205462" y="2597826"/>
              <a:ext cx="360474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We implement</a:t>
              </a:r>
              <a:r>
                <a:rPr lang="en-US" sz="1809">
                  <a:solidFill>
                    <a:srgbClr val="000000"/>
                  </a:solidFill>
                  <a:latin typeface="Luktao"/>
                  <a:ea typeface="Luktao"/>
                  <a:cs typeface="Luktao"/>
                  <a:sym typeface="Luktao"/>
                </a:rPr>
                <a:t> per-device credentials, ACLs, and anomaly detection in a cheap testbed.</a:t>
              </a:r>
            </a:p>
            <a:p>
              <a:pPr algn="ctr">
                <a:lnSpc>
                  <a:spcPts val="2533"/>
                </a:lnSpc>
                <a:spcBef>
                  <a:spcPct val="0"/>
                </a:spcBef>
              </a:pPr>
              <a:r>
                <a:rPr lang="en-US" sz="1809">
                  <a:solidFill>
                    <a:srgbClr val="000000"/>
                  </a:solidFill>
                  <a:latin typeface="Luktao"/>
                  <a:ea typeface="Luktao"/>
                  <a:cs typeface="Luktao"/>
                  <a:sym typeface="Luktao"/>
                </a:rPr>
                <a:t> We verify defenses by comparing before/after attack captures and metrics.</a:t>
              </a:r>
            </a:p>
          </p:txBody>
        </p:sp>
      </p:grpSp>
      <p:graphicFrame>
        <p:nvGraphicFramePr>
          <p:cNvPr name="Table 8" id="8"/>
          <p:cNvGraphicFramePr>
            <a:graphicFrameLocks noGrp="true"/>
          </p:cNvGraphicFramePr>
          <p:nvPr/>
        </p:nvGraphicFramePr>
        <p:xfrm>
          <a:off x="0" y="0"/>
          <a:ext cx="17763181" cy="7699121"/>
        </p:xfrm>
        <a:graphic>
          <a:graphicData uri="http://schemas.openxmlformats.org/drawingml/2006/table">
            <a:tbl>
              <a:tblPr/>
              <a:tblGrid>
                <a:gridCol w="644591"/>
                <a:gridCol w="1840370"/>
                <a:gridCol w="2250907"/>
                <a:gridCol w="2184892"/>
                <a:gridCol w="2413066"/>
                <a:gridCol w="2964170"/>
                <a:gridCol w="2650629"/>
                <a:gridCol w="2814556"/>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10</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VFuzz – Rid</a:t>
              </a:r>
              <a:r>
                <a:rPr lang="en-US" sz="1809">
                  <a:solidFill>
                    <a:srgbClr val="000000"/>
                  </a:solidFill>
                  <a:latin typeface="Luktao"/>
                  <a:ea typeface="Luktao"/>
                  <a:cs typeface="Luktao"/>
                  <a:sym typeface="Luktao"/>
                </a:rPr>
                <a:t>ing the IoT Wave with Vulnerability Fuzzing, published in 2019.</a:t>
              </a:r>
            </a:p>
          </p:txBody>
        </p:sp>
        <p:sp>
          <p:nvSpPr>
            <p:cNvPr name="TextBox 10" id="10"/>
            <p:cNvSpPr txBox="true"/>
            <p:nvPr/>
          </p:nvSpPr>
          <p:spPr>
            <a:xfrm rot="0">
              <a:off x="3526285" y="2597826"/>
              <a:ext cx="2664000"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Smart home IoT devices often contain hidden security flaw</a:t>
              </a:r>
              <a:r>
                <a:rPr lang="en-US" sz="1809">
                  <a:solidFill>
                    <a:srgbClr val="000000"/>
                  </a:solidFill>
                  <a:latin typeface="Luktao"/>
                  <a:ea typeface="Luktao"/>
                  <a:cs typeface="Luktao"/>
                  <a:sym typeface="Luktao"/>
                </a:rPr>
                <a:t>s that are difficult to detect through traditional manual testing.</a:t>
              </a:r>
            </a:p>
          </p:txBody>
        </p:sp>
        <p:sp>
          <p:nvSpPr>
            <p:cNvPr name="TextBox 11" id="11"/>
            <p:cNvSpPr txBox="true"/>
            <p:nvPr/>
          </p:nvSpPr>
          <p:spPr>
            <a:xfrm rot="0">
              <a:off x="6478682" y="2597826"/>
              <a:ext cx="2694173"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To d</a:t>
              </a:r>
              <a:r>
                <a:rPr lang="en-US" sz="1809">
                  <a:solidFill>
                    <a:srgbClr val="000000"/>
                  </a:solidFill>
                  <a:latin typeface="Luktao"/>
                  <a:ea typeface="Luktao"/>
                  <a:cs typeface="Luktao"/>
                  <a:sym typeface="Luktao"/>
                </a:rPr>
                <a:t>esign a tool that automatically finds vulnerabilities in IoT devices using fuzzing techniques.</a:t>
              </a:r>
            </a:p>
          </p:txBody>
        </p:sp>
        <p:sp>
          <p:nvSpPr>
            <p:cNvPr name="TextBox 12" id="12"/>
            <p:cNvSpPr txBox="true"/>
            <p:nvPr/>
          </p:nvSpPr>
          <p:spPr>
            <a:xfrm rot="0">
              <a:off x="9466509" y="2597826"/>
              <a:ext cx="2898454" cy="375925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VFuzz injects random and structured inputs into device firmware and network services to</a:t>
              </a:r>
              <a:r>
                <a:rPr lang="en-US" sz="1809">
                  <a:solidFill>
                    <a:srgbClr val="000000"/>
                  </a:solidFill>
                  <a:latin typeface="Luktao"/>
                  <a:ea typeface="Luktao"/>
                  <a:cs typeface="Luktao"/>
                  <a:sym typeface="Luktao"/>
                </a:rPr>
                <a:t> observe unusual behavior or crashes.</a:t>
              </a:r>
            </a:p>
          </p:txBody>
        </p:sp>
        <p:sp>
          <p:nvSpPr>
            <p:cNvPr name="TextBox 13" id="13"/>
            <p:cNvSpPr txBox="true"/>
            <p:nvPr/>
          </p:nvSpPr>
          <p:spPr>
            <a:xfrm rot="0">
              <a:off x="12658617" y="2597826"/>
              <a:ext cx="3653925"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 tool successfully detected critical vulnerabilities in several widely used smart home dev</a:t>
              </a:r>
              <a:r>
                <a:rPr lang="en-US" sz="1809">
                  <a:solidFill>
                    <a:srgbClr val="000000"/>
                  </a:solidFill>
                  <a:latin typeface="Luktao"/>
                  <a:ea typeface="Luktao"/>
                  <a:cs typeface="Luktao"/>
                  <a:sym typeface="Luktao"/>
                </a:rPr>
                <a:t>ices.</a:t>
              </a:r>
            </a:p>
          </p:txBody>
        </p:sp>
        <p:sp>
          <p:nvSpPr>
            <p:cNvPr name="TextBox 14" id="14"/>
            <p:cNvSpPr txBox="true"/>
            <p:nvPr/>
          </p:nvSpPr>
          <p:spPr>
            <a:xfrm rot="0">
              <a:off x="16695568" y="2808491"/>
              <a:ext cx="3139838"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Use auto</a:t>
              </a:r>
              <a:r>
                <a:rPr lang="en-US" sz="1809">
                  <a:solidFill>
                    <a:srgbClr val="000000"/>
                  </a:solidFill>
                  <a:latin typeface="Luktao"/>
                  <a:ea typeface="Luktao"/>
                  <a:cs typeface="Luktao"/>
                  <a:sym typeface="Luktao"/>
                </a:rPr>
                <a:t>mated fuzz testing early in IoT product development to identify flaws before release.</a:t>
              </a:r>
            </a:p>
          </p:txBody>
        </p:sp>
        <p:sp>
          <p:nvSpPr>
            <p:cNvPr name="TextBox 15" id="15"/>
            <p:cNvSpPr txBox="true"/>
            <p:nvPr/>
          </p:nvSpPr>
          <p:spPr>
            <a:xfrm rot="0">
              <a:off x="20129060" y="2597826"/>
              <a:ext cx="3604744"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Our IoT testb</a:t>
              </a:r>
              <a:r>
                <a:rPr lang="en-US" sz="1809">
                  <a:solidFill>
                    <a:srgbClr val="000000"/>
                  </a:solidFill>
                  <a:latin typeface="Luktao"/>
                  <a:ea typeface="Luktao"/>
                  <a:cs typeface="Luktao"/>
                  <a:sym typeface="Luktao"/>
                </a:rPr>
                <a:t>ed also performs controlled attack traffic analysis to uncover weak behavior patterns in real devices.</a:t>
              </a:r>
            </a:p>
          </p:txBody>
        </p:sp>
      </p:grpSp>
      <p:graphicFrame>
        <p:nvGraphicFramePr>
          <p:cNvPr name="Table 8" id="8"/>
          <p:cNvGraphicFramePr>
            <a:graphicFrameLocks noGrp="true"/>
          </p:cNvGraphicFramePr>
          <p:nvPr/>
        </p:nvGraphicFramePr>
        <p:xfrm>
          <a:off x="0" y="0"/>
          <a:ext cx="17706183" cy="7699121"/>
        </p:xfrm>
        <a:graphic>
          <a:graphicData uri="http://schemas.openxmlformats.org/drawingml/2006/table">
            <a:tbl>
              <a:tblPr/>
              <a:tblGrid>
                <a:gridCol w="728765"/>
                <a:gridCol w="1699119"/>
                <a:gridCol w="2250919"/>
                <a:gridCol w="2184903"/>
                <a:gridCol w="2413079"/>
                <a:gridCol w="2964185"/>
                <a:gridCol w="2650643"/>
                <a:gridCol w="2814570"/>
              </a:tblGrid>
              <a:tr h="1723796">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S.No</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Paper title,Year of Publication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Problem addressed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Objective of the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Focus of the paper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Inference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Recommendations for future research</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How can our research help bridge the gap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975325">
                <a:tc>
                  <a:txBody>
                    <a:bodyPr anchor="t" rtlCol="false"/>
                    <a:lstStyle/>
                    <a:p>
                      <a:pPr algn="l">
                        <a:lnSpc>
                          <a:spcPts val="2519"/>
                        </a:lnSpc>
                        <a:defRPr/>
                      </a:pPr>
                      <a:r>
                        <a:rPr lang="en-US" sz="1799">
                          <a:solidFill>
                            <a:srgbClr val="000000"/>
                          </a:solidFill>
                          <a:latin typeface="Times New Roman MT"/>
                          <a:ea typeface="Times New Roman MT"/>
                          <a:cs typeface="Times New Roman MT"/>
                          <a:sym typeface="Times New Roman MT"/>
                        </a:rPr>
                        <a:t>11</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marL="388618" indent="-194309" lvl="1">
                        <a:lnSpc>
                          <a:spcPts val="2519"/>
                        </a:lnSpc>
                        <a:buFont typeface="Arial"/>
                        <a:buChar char="•"/>
                        <a:defRPr/>
                      </a:pP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2916594"/>
            </a:xfrm>
            <a:prstGeom prst="rect">
              <a:avLst/>
            </a:prstGeom>
          </p:spPr>
          <p:txBody>
            <a:bodyPr anchor="t" rtlCol="false" tIns="0" lIns="0" bIns="0" rIns="0">
              <a:spAutoFit/>
            </a:bodyPr>
            <a:lstStyle/>
            <a:p>
              <a:pPr algn="ctr">
                <a:lnSpc>
                  <a:spcPts val="2533"/>
                </a:lnSpc>
              </a:pPr>
            </a:p>
            <a:p>
              <a:pPr algn="ctr">
                <a:lnSpc>
                  <a:spcPts val="2533"/>
                </a:lnSpc>
                <a:spcBef>
                  <a:spcPct val="0"/>
                </a:spcBef>
              </a:pPr>
              <a:r>
                <a:rPr lang="en-US" sz="1809">
                  <a:solidFill>
                    <a:srgbClr val="000000"/>
                  </a:solidFill>
                  <a:latin typeface="Luktao"/>
                  <a:ea typeface="Luktao"/>
                  <a:cs typeface="Luktao"/>
                  <a:sym typeface="Luktao"/>
                </a:rPr>
                <a:t>Gotham – </a:t>
              </a:r>
              <a:r>
                <a:rPr lang="en-US" sz="1809">
                  <a:solidFill>
                    <a:srgbClr val="000000"/>
                  </a:solidFill>
                  <a:latin typeface="Luktao"/>
                  <a:ea typeface="Luktao"/>
                  <a:cs typeface="Luktao"/>
                  <a:sym typeface="Luktao"/>
                </a:rPr>
                <a:t>A Scalable</a:t>
              </a:r>
              <a:r>
                <a:rPr lang="en-US" sz="1809">
                  <a:solidFill>
                    <a:srgbClr val="000000"/>
                  </a:solidFill>
                  <a:latin typeface="Luktao"/>
                  <a:ea typeface="Luktao"/>
                  <a:cs typeface="Luktao"/>
                  <a:sym typeface="Luktao"/>
                </a:rPr>
                <a:t> IoT Security Testbed, published in 2022.</a:t>
              </a:r>
            </a:p>
          </p:txBody>
        </p:sp>
        <p:sp>
          <p:nvSpPr>
            <p:cNvPr name="TextBox 10" id="10"/>
            <p:cNvSpPr txBox="true"/>
            <p:nvPr/>
          </p:nvSpPr>
          <p:spPr>
            <a:xfrm rot="0">
              <a:off x="3526285" y="2597826"/>
              <a:ext cx="257139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 Many IoT research systems rely on simulations, lacking realistic environments for evalua</a:t>
              </a:r>
              <a:r>
                <a:rPr lang="en-US" sz="1809">
                  <a:solidFill>
                    <a:srgbClr val="000000"/>
                  </a:solidFill>
                  <a:latin typeface="Luktao"/>
                  <a:ea typeface="Luktao"/>
                  <a:cs typeface="Luktao"/>
                  <a:sym typeface="Luktao"/>
                </a:rPr>
                <a:t>ting real-world attacks.</a:t>
              </a:r>
            </a:p>
          </p:txBody>
        </p:sp>
        <p:sp>
          <p:nvSpPr>
            <p:cNvPr name="TextBox 11" id="11"/>
            <p:cNvSpPr txBox="true"/>
            <p:nvPr/>
          </p:nvSpPr>
          <p:spPr>
            <a:xfrm rot="0">
              <a:off x="6478682" y="2597826"/>
              <a:ext cx="2606827"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To create a flexible and scalable cyber range that supports attack simulation and behavior analysis.</a:t>
              </a:r>
            </a:p>
          </p:txBody>
        </p:sp>
        <p:sp>
          <p:nvSpPr>
            <p:cNvPr name="TextBox 12" id="12"/>
            <p:cNvSpPr txBox="true"/>
            <p:nvPr/>
          </p:nvSpPr>
          <p:spPr>
            <a:xfrm rot="0">
              <a:off x="9466509" y="2597826"/>
              <a:ext cx="289845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Gotham integrates both emulated and real IoT devices to collect attack and normal traffic for machine learning stu</a:t>
              </a:r>
              <a:r>
                <a:rPr lang="en-US" sz="1809">
                  <a:solidFill>
                    <a:srgbClr val="000000"/>
                  </a:solidFill>
                  <a:latin typeface="Luktao"/>
                  <a:ea typeface="Luktao"/>
                  <a:cs typeface="Luktao"/>
                  <a:sym typeface="Luktao"/>
                </a:rPr>
                <a:t>dies.</a:t>
              </a:r>
            </a:p>
          </p:txBody>
        </p:sp>
        <p:sp>
          <p:nvSpPr>
            <p:cNvPr name="TextBox 13" id="13"/>
            <p:cNvSpPr txBox="true"/>
            <p:nvPr/>
          </p:nvSpPr>
          <p:spPr>
            <a:xfrm rot="0">
              <a:off x="12658617" y="2597826"/>
              <a:ext cx="3653925"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 testbed produced high-quality datasets that improved the training of intrusion detection system</a:t>
              </a:r>
              <a:r>
                <a:rPr lang="en-US" sz="1809">
                  <a:solidFill>
                    <a:srgbClr val="000000"/>
                  </a:solidFill>
                  <a:latin typeface="Luktao"/>
                  <a:ea typeface="Luktao"/>
                  <a:cs typeface="Luktao"/>
                  <a:sym typeface="Luktao"/>
                </a:rPr>
                <a:t>s.</a:t>
              </a:r>
            </a:p>
          </p:txBody>
        </p:sp>
        <p:sp>
          <p:nvSpPr>
            <p:cNvPr name="TextBox 14" id="14"/>
            <p:cNvSpPr txBox="true"/>
            <p:nvPr/>
          </p:nvSpPr>
          <p:spPr>
            <a:xfrm rot="0">
              <a:off x="16695568" y="2808491"/>
              <a:ext cx="3139838"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Fu</a:t>
              </a:r>
              <a:r>
                <a:rPr lang="en-US" sz="1809">
                  <a:solidFill>
                    <a:srgbClr val="000000"/>
                  </a:solidFill>
                  <a:latin typeface="Luktao"/>
                  <a:ea typeface="Luktao"/>
                  <a:cs typeface="Luktao"/>
                  <a:sym typeface="Luktao"/>
                </a:rPr>
                <a:t>ture work should include a wider variety of devices and more advanced attack patterns.</a:t>
              </a:r>
            </a:p>
          </p:txBody>
        </p:sp>
        <p:sp>
          <p:nvSpPr>
            <p:cNvPr name="TextBox 15" id="15"/>
            <p:cNvSpPr txBox="true"/>
            <p:nvPr/>
          </p:nvSpPr>
          <p:spPr>
            <a:xfrm rot="0">
              <a:off x="20129060" y="2597826"/>
              <a:ext cx="342466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Our project</a:t>
              </a:r>
              <a:r>
                <a:rPr lang="en-US" sz="1809">
                  <a:solidFill>
                    <a:srgbClr val="000000"/>
                  </a:solidFill>
                  <a:latin typeface="Luktao"/>
                  <a:ea typeface="Luktao"/>
                  <a:cs typeface="Luktao"/>
                  <a:sym typeface="Luktao"/>
                </a:rPr>
                <a:t> follows a similar design by using ESP32-based devices to produce real network data and simulate attacks.</a:t>
              </a:r>
            </a:p>
            <a:p>
              <a:pPr algn="ctr">
                <a:lnSpc>
                  <a:spcPts val="2533"/>
                </a:lnSpc>
                <a:spcBef>
                  <a:spcPct val="0"/>
                </a:spcBef>
              </a:pPr>
            </a:p>
          </p:txBody>
        </p:sp>
      </p:grpSp>
      <p:graphicFrame>
        <p:nvGraphicFramePr>
          <p:cNvPr name="Table 8" id="8"/>
          <p:cNvGraphicFramePr>
            <a:graphicFrameLocks noGrp="true"/>
          </p:cNvGraphicFramePr>
          <p:nvPr/>
        </p:nvGraphicFramePr>
        <p:xfrm>
          <a:off x="0" y="0"/>
          <a:ext cx="17800353" cy="7740069"/>
        </p:xfrm>
        <a:graphic>
          <a:graphicData uri="http://schemas.openxmlformats.org/drawingml/2006/table">
            <a:tbl>
              <a:tblPr/>
              <a:tblGrid>
                <a:gridCol w="732641"/>
                <a:gridCol w="1708156"/>
                <a:gridCol w="2262890"/>
                <a:gridCol w="2196523"/>
                <a:gridCol w="2425913"/>
                <a:gridCol w="2979950"/>
                <a:gridCol w="2664740"/>
                <a:gridCol w="2829539"/>
              </a:tblGrid>
              <a:tr h="1732964">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S.No</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Paper title,Year of Publication</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Problem addressed</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Objective of the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Focus of the paper</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Inference</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Recommendations for future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How can our research help bridge the gap</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r h="6007105">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12</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3337923"/>
            </a:xfrm>
            <a:prstGeom prst="rect">
              <a:avLst/>
            </a:prstGeom>
          </p:spPr>
          <p:txBody>
            <a:bodyPr anchor="t" rtlCol="false" tIns="0" lIns="0" bIns="0" rIns="0">
              <a:spAutoFit/>
            </a:bodyPr>
            <a:lstStyle/>
            <a:p>
              <a:pPr algn="ctr">
                <a:lnSpc>
                  <a:spcPts val="2533"/>
                </a:lnSpc>
              </a:pPr>
            </a:p>
            <a:p>
              <a:pPr algn="ctr">
                <a:lnSpc>
                  <a:spcPts val="2533"/>
                </a:lnSpc>
                <a:spcBef>
                  <a:spcPct val="0"/>
                </a:spcBef>
              </a:pPr>
              <a:r>
                <a:rPr lang="en-US" sz="1809">
                  <a:solidFill>
                    <a:srgbClr val="000000"/>
                  </a:solidFill>
                  <a:latin typeface="Luktao"/>
                  <a:ea typeface="Luktao"/>
                  <a:cs typeface="Luktao"/>
                  <a:sym typeface="Luktao"/>
                </a:rPr>
                <a:t>ANTsiot</a:t>
              </a:r>
              <a:r>
                <a:rPr lang="en-US" sz="1809">
                  <a:solidFill>
                    <a:srgbClr val="000000"/>
                  </a:solidFill>
                  <a:latin typeface="Luktao"/>
                  <a:ea typeface="Luktao"/>
                  <a:cs typeface="Luktao"/>
                  <a:sym typeface="Luktao"/>
                </a:rPr>
                <a:t> – Automate</a:t>
              </a:r>
              <a:r>
                <a:rPr lang="en-US" sz="1809">
                  <a:solidFill>
                    <a:srgbClr val="000000"/>
                  </a:solidFill>
                  <a:latin typeface="Luktao"/>
                  <a:ea typeface="Luktao"/>
                  <a:cs typeface="Luktao"/>
                  <a:sym typeface="Luktao"/>
                </a:rPr>
                <a:t>d Network Testing for IoT Systems, introduced in 2017.</a:t>
              </a:r>
            </a:p>
          </p:txBody>
        </p:sp>
        <p:sp>
          <p:nvSpPr>
            <p:cNvPr name="TextBox 10" id="10"/>
            <p:cNvSpPr txBox="true"/>
            <p:nvPr/>
          </p:nvSpPr>
          <p:spPr>
            <a:xfrm rot="0">
              <a:off x="3526285" y="2597826"/>
              <a:ext cx="2571398" cy="249526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Manual network security testing is slow and inefficient for the large number of</a:t>
              </a:r>
              <a:r>
                <a:rPr lang="en-US" sz="1809">
                  <a:solidFill>
                    <a:srgbClr val="000000"/>
                  </a:solidFill>
                  <a:latin typeface="Luktao"/>
                  <a:ea typeface="Luktao"/>
                  <a:cs typeface="Luktao"/>
                  <a:sym typeface="Luktao"/>
                </a:rPr>
                <a:t> IoT devices.</a:t>
              </a:r>
            </a:p>
          </p:txBody>
        </p:sp>
        <p:sp>
          <p:nvSpPr>
            <p:cNvPr name="TextBox 11" id="11"/>
            <p:cNvSpPr txBox="true"/>
            <p:nvPr/>
          </p:nvSpPr>
          <p:spPr>
            <a:xfrm rot="0">
              <a:off x="6478682" y="2597826"/>
              <a:ext cx="2606827"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To automate vulnerability testing of IoT networks for quicker and more accurate analysis.</a:t>
              </a:r>
            </a:p>
          </p:txBody>
        </p:sp>
        <p:sp>
          <p:nvSpPr>
            <p:cNvPr name="TextBox 12" id="12"/>
            <p:cNvSpPr txBox="true"/>
            <p:nvPr/>
          </p:nvSpPr>
          <p:spPr>
            <a:xfrm rot="0">
              <a:off x="9466509" y="2597826"/>
              <a:ext cx="289845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ANTsiot performs network scans, packet injections, and protocol tests to find security loophole</a:t>
              </a:r>
              <a:r>
                <a:rPr lang="en-US" sz="1809">
                  <a:solidFill>
                    <a:srgbClr val="000000"/>
                  </a:solidFill>
                  <a:latin typeface="Luktao"/>
                  <a:ea typeface="Luktao"/>
                  <a:cs typeface="Luktao"/>
                  <a:sym typeface="Luktao"/>
                </a:rPr>
                <a:t>s automatically.</a:t>
              </a:r>
            </a:p>
          </p:txBody>
        </p:sp>
        <p:sp>
          <p:nvSpPr>
            <p:cNvPr name="TextBox 13" id="13"/>
            <p:cNvSpPr txBox="true"/>
            <p:nvPr/>
          </p:nvSpPr>
          <p:spPr>
            <a:xfrm rot="0">
              <a:off x="12658617" y="2597826"/>
              <a:ext cx="3653925"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 system effectively identified insecure configurations and communication weaknesses</a:t>
              </a:r>
              <a:r>
                <a:rPr lang="en-US" sz="1809">
                  <a:solidFill>
                    <a:srgbClr val="000000"/>
                  </a:solidFill>
                  <a:latin typeface="Luktao"/>
                  <a:ea typeface="Luktao"/>
                  <a:cs typeface="Luktao"/>
                  <a:sym typeface="Luktao"/>
                </a:rPr>
                <a:t>.</a:t>
              </a:r>
            </a:p>
          </p:txBody>
        </p:sp>
        <p:sp>
          <p:nvSpPr>
            <p:cNvPr name="TextBox 14" id="14"/>
            <p:cNvSpPr txBox="true"/>
            <p:nvPr/>
          </p:nvSpPr>
          <p:spPr>
            <a:xfrm rot="0">
              <a:off x="16695568" y="2808491"/>
              <a:ext cx="3139838" cy="249526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Combine automation with real </a:t>
              </a:r>
              <a:r>
                <a:rPr lang="en-US" sz="1809">
                  <a:solidFill>
                    <a:srgbClr val="000000"/>
                  </a:solidFill>
                  <a:latin typeface="Luktao"/>
                  <a:ea typeface="Luktao"/>
                  <a:cs typeface="Luktao"/>
                  <a:sym typeface="Luktao"/>
                </a:rPr>
                <a:t>devices for deeper security testing and continuous monitoring.</a:t>
              </a:r>
            </a:p>
          </p:txBody>
        </p:sp>
        <p:sp>
          <p:nvSpPr>
            <p:cNvPr name="TextBox 15" id="15"/>
            <p:cNvSpPr txBox="true"/>
            <p:nvPr/>
          </p:nvSpPr>
          <p:spPr>
            <a:xfrm rot="0">
              <a:off x="20129060" y="2597826"/>
              <a:ext cx="3424664" cy="249526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Our project appli</a:t>
              </a:r>
              <a:r>
                <a:rPr lang="en-US" sz="1809">
                  <a:solidFill>
                    <a:srgbClr val="000000"/>
                  </a:solidFill>
                  <a:latin typeface="Luktao"/>
                  <a:ea typeface="Luktao"/>
                  <a:cs typeface="Luktao"/>
                  <a:sym typeface="Luktao"/>
                </a:rPr>
                <a:t>es this idea by automating MQTT communication checks between ESP32 devices for weak points.</a:t>
              </a:r>
            </a:p>
          </p:txBody>
        </p:sp>
      </p:grpSp>
      <p:graphicFrame>
        <p:nvGraphicFramePr>
          <p:cNvPr name="Table 8" id="8"/>
          <p:cNvGraphicFramePr>
            <a:graphicFrameLocks noGrp="true"/>
          </p:cNvGraphicFramePr>
          <p:nvPr/>
        </p:nvGraphicFramePr>
        <p:xfrm>
          <a:off x="0" y="0"/>
          <a:ext cx="17800353" cy="7740069"/>
        </p:xfrm>
        <a:graphic>
          <a:graphicData uri="http://schemas.openxmlformats.org/drawingml/2006/table">
            <a:tbl>
              <a:tblPr/>
              <a:tblGrid>
                <a:gridCol w="732641"/>
                <a:gridCol w="1708156"/>
                <a:gridCol w="2262890"/>
                <a:gridCol w="2196523"/>
                <a:gridCol w="2425913"/>
                <a:gridCol w="2979950"/>
                <a:gridCol w="2664740"/>
                <a:gridCol w="2829539"/>
              </a:tblGrid>
              <a:tr h="1732964">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S.No</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Paper title,Year of Publication</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Problem addressed</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Objective of the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Focus of the paper</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Inference</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Recommendations for future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How can our research help bridge the gap</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r h="6007105">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13</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3337923"/>
            </a:xfrm>
            <a:prstGeom prst="rect">
              <a:avLst/>
            </a:prstGeom>
          </p:spPr>
          <p:txBody>
            <a:bodyPr anchor="t" rtlCol="false" tIns="0" lIns="0" bIns="0" rIns="0">
              <a:spAutoFit/>
            </a:bodyPr>
            <a:lstStyle/>
            <a:p>
              <a:pPr algn="ctr">
                <a:lnSpc>
                  <a:spcPts val="2533"/>
                </a:lnSpc>
              </a:pPr>
            </a:p>
            <a:p>
              <a:pPr algn="ctr">
                <a:lnSpc>
                  <a:spcPts val="2533"/>
                </a:lnSpc>
              </a:pPr>
            </a:p>
            <a:p>
              <a:pPr algn="ctr">
                <a:lnSpc>
                  <a:spcPts val="2533"/>
                </a:lnSpc>
                <a:spcBef>
                  <a:spcPct val="0"/>
                </a:spcBef>
              </a:pPr>
              <a:r>
                <a:rPr lang="en-US" sz="1809">
                  <a:solidFill>
                    <a:srgbClr val="000000"/>
                  </a:solidFill>
                  <a:latin typeface="Luktao"/>
                  <a:ea typeface="Luktao"/>
                  <a:cs typeface="Luktao"/>
                  <a:sym typeface="Luktao"/>
                </a:rPr>
                <a:t>A Realistic IoT</a:t>
              </a:r>
              <a:r>
                <a:rPr lang="en-US" sz="1809">
                  <a:solidFill>
                    <a:srgbClr val="000000"/>
                  </a:solidFill>
                  <a:latin typeface="Luktao"/>
                  <a:ea typeface="Luktao"/>
                  <a:cs typeface="Luktao"/>
                  <a:sym typeface="Luktao"/>
                </a:rPr>
                <a:t> Intrusio</a:t>
              </a:r>
              <a:r>
                <a:rPr lang="en-US" sz="1809">
                  <a:solidFill>
                    <a:srgbClr val="000000"/>
                  </a:solidFill>
                  <a:latin typeface="Luktao"/>
                  <a:ea typeface="Luktao"/>
                  <a:cs typeface="Luktao"/>
                  <a:sym typeface="Luktao"/>
                </a:rPr>
                <a:t>n Detection Dataset, released in 2023.</a:t>
              </a:r>
            </a:p>
          </p:txBody>
        </p:sp>
        <p:sp>
          <p:nvSpPr>
            <p:cNvPr name="TextBox 10" id="10"/>
            <p:cNvSpPr txBox="true"/>
            <p:nvPr/>
          </p:nvSpPr>
          <p:spPr>
            <a:xfrm rot="0">
              <a:off x="3526285" y="2597826"/>
              <a:ext cx="2571398" cy="249526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Older IoT datasets fail to capture new attack patterns and modern device b</a:t>
              </a:r>
              <a:r>
                <a:rPr lang="en-US" sz="1809">
                  <a:solidFill>
                    <a:srgbClr val="000000"/>
                  </a:solidFill>
                  <a:latin typeface="Luktao"/>
                  <a:ea typeface="Luktao"/>
                  <a:cs typeface="Luktao"/>
                  <a:sym typeface="Luktao"/>
                </a:rPr>
                <a:t>ehaviors.</a:t>
              </a:r>
            </a:p>
          </p:txBody>
        </p:sp>
        <p:sp>
          <p:nvSpPr>
            <p:cNvPr name="TextBox 11" id="11"/>
            <p:cNvSpPr txBox="true"/>
            <p:nvPr/>
          </p:nvSpPr>
          <p:spPr>
            <a:xfrm rot="0">
              <a:off x="6478682" y="2597826"/>
              <a:ext cx="2606827"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To create an updated dataset that includes data from real IoT devices under normal and attack conditions.</a:t>
              </a:r>
            </a:p>
          </p:txBody>
        </p:sp>
        <p:sp>
          <p:nvSpPr>
            <p:cNvPr name="TextBox 12" id="12"/>
            <p:cNvSpPr txBox="true"/>
            <p:nvPr/>
          </p:nvSpPr>
          <p:spPr>
            <a:xfrm rot="0">
              <a:off x="9466509" y="2597826"/>
              <a:ext cx="2898454"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 Researchers collected large-scale traffic using various IoT devices, such as cameras</a:t>
              </a:r>
              <a:r>
                <a:rPr lang="en-US" sz="1809">
                  <a:solidFill>
                    <a:srgbClr val="000000"/>
                  </a:solidFill>
                  <a:latin typeface="Luktao"/>
                  <a:ea typeface="Luktao"/>
                  <a:cs typeface="Luktao"/>
                  <a:sym typeface="Luktao"/>
                </a:rPr>
                <a:t> and sensors, for ML training.</a:t>
              </a:r>
            </a:p>
          </p:txBody>
        </p:sp>
        <p:sp>
          <p:nvSpPr>
            <p:cNvPr name="TextBox 13" id="13"/>
            <p:cNvSpPr txBox="true"/>
            <p:nvPr/>
          </p:nvSpPr>
          <p:spPr>
            <a:xfrm rot="0">
              <a:off x="12658617" y="2597826"/>
              <a:ext cx="3653925" cy="1652607"/>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 Machine learning algorithms achieved high detection accuracy using this new dataset</a:t>
              </a:r>
              <a:r>
                <a:rPr lang="en-US" sz="1809">
                  <a:solidFill>
                    <a:srgbClr val="000000"/>
                  </a:solidFill>
                  <a:latin typeface="Luktao"/>
                  <a:ea typeface="Luktao"/>
                  <a:cs typeface="Luktao"/>
                  <a:sym typeface="Luktao"/>
                </a:rPr>
                <a:t>.</a:t>
              </a:r>
            </a:p>
          </p:txBody>
        </p:sp>
        <p:sp>
          <p:nvSpPr>
            <p:cNvPr name="TextBox 14" id="14"/>
            <p:cNvSpPr txBox="true"/>
            <p:nvPr/>
          </p:nvSpPr>
          <p:spPr>
            <a:xfrm rot="0">
              <a:off x="16695568" y="2808491"/>
              <a:ext cx="3139838" cy="1652607"/>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C</a:t>
              </a:r>
              <a:r>
                <a:rPr lang="en-US" sz="1809">
                  <a:solidFill>
                    <a:srgbClr val="000000"/>
                  </a:solidFill>
                  <a:latin typeface="Luktao"/>
                  <a:ea typeface="Luktao"/>
                  <a:cs typeface="Luktao"/>
                  <a:sym typeface="Luktao"/>
                </a:rPr>
                <a:t>ontinuously update datasets as IoT devices evolve and new threats appear.</a:t>
              </a:r>
            </a:p>
          </p:txBody>
        </p:sp>
        <p:sp>
          <p:nvSpPr>
            <p:cNvPr name="TextBox 15" id="15"/>
            <p:cNvSpPr txBox="true"/>
            <p:nvPr/>
          </p:nvSpPr>
          <p:spPr>
            <a:xfrm rot="0">
              <a:off x="20129060" y="2597826"/>
              <a:ext cx="3424664"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Our testbed ge</a:t>
              </a:r>
              <a:r>
                <a:rPr lang="en-US" sz="1809">
                  <a:solidFill>
                    <a:srgbClr val="000000"/>
                  </a:solidFill>
                  <a:latin typeface="Luktao"/>
                  <a:ea typeface="Luktao"/>
                  <a:cs typeface="Luktao"/>
                  <a:sym typeface="Luktao"/>
                </a:rPr>
                <a:t>nerates real MQTT data that can contribute to future intrusion detection datasets.</a:t>
              </a:r>
            </a:p>
          </p:txBody>
        </p:sp>
      </p:grpSp>
      <p:graphicFrame>
        <p:nvGraphicFramePr>
          <p:cNvPr name="Table 8" id="8"/>
          <p:cNvGraphicFramePr>
            <a:graphicFrameLocks noGrp="true"/>
          </p:cNvGraphicFramePr>
          <p:nvPr/>
        </p:nvGraphicFramePr>
        <p:xfrm>
          <a:off x="0" y="0"/>
          <a:ext cx="17800353" cy="7740069"/>
        </p:xfrm>
        <a:graphic>
          <a:graphicData uri="http://schemas.openxmlformats.org/drawingml/2006/table">
            <a:tbl>
              <a:tblPr/>
              <a:tblGrid>
                <a:gridCol w="732641"/>
                <a:gridCol w="1708156"/>
                <a:gridCol w="2262890"/>
                <a:gridCol w="2196523"/>
                <a:gridCol w="2425913"/>
                <a:gridCol w="2979950"/>
                <a:gridCol w="2664740"/>
                <a:gridCol w="2829539"/>
              </a:tblGrid>
              <a:tr h="1732964">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S.No</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Paper title,Year of Publication</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Problem addressed</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Objective of the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Focus of the paper</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Inference</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Recommendations for future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How can our research help bridge the gap</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r h="6007105">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14</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3759251"/>
            </a:xfrm>
            <a:prstGeom prst="rect">
              <a:avLst/>
            </a:prstGeom>
          </p:spPr>
          <p:txBody>
            <a:bodyPr anchor="t" rtlCol="false" tIns="0" lIns="0" bIns="0" rIns="0">
              <a:spAutoFit/>
            </a:bodyPr>
            <a:lstStyle/>
            <a:p>
              <a:pPr algn="ctr">
                <a:lnSpc>
                  <a:spcPts val="2533"/>
                </a:lnSpc>
              </a:pPr>
            </a:p>
            <a:p>
              <a:pPr algn="ctr">
                <a:lnSpc>
                  <a:spcPts val="2533"/>
                </a:lnSpc>
              </a:pPr>
            </a:p>
            <a:p>
              <a:pPr algn="ctr">
                <a:lnSpc>
                  <a:spcPts val="2533"/>
                </a:lnSpc>
                <a:spcBef>
                  <a:spcPct val="0"/>
                </a:spcBef>
              </a:pPr>
              <a:r>
                <a:rPr lang="en-US" sz="1809">
                  <a:solidFill>
                    <a:srgbClr val="000000"/>
                  </a:solidFill>
                  <a:latin typeface="Luktao"/>
                  <a:ea typeface="Luktao"/>
                  <a:cs typeface="Luktao"/>
                  <a:sym typeface="Luktao"/>
                </a:rPr>
                <a:t>M</a:t>
              </a:r>
              <a:r>
                <a:rPr lang="en-US" sz="1809">
                  <a:solidFill>
                    <a:srgbClr val="000000"/>
                  </a:solidFill>
                  <a:latin typeface="Luktao"/>
                  <a:ea typeface="Luktao"/>
                  <a:cs typeface="Luktao"/>
                  <a:sym typeface="Luktao"/>
                </a:rPr>
                <a:t>a</a:t>
              </a:r>
              <a:r>
                <a:rPr lang="en-US" sz="1809">
                  <a:solidFill>
                    <a:srgbClr val="000000"/>
                  </a:solidFill>
                  <a:latin typeface="Luktao"/>
                  <a:ea typeface="Luktao"/>
                  <a:cs typeface="Luktao"/>
                  <a:sym typeface="Luktao"/>
                </a:rPr>
                <a:t>nSupport – Managing IoT Security through Prototyping, published in 2022.</a:t>
              </a:r>
            </a:p>
          </p:txBody>
        </p:sp>
        <p:sp>
          <p:nvSpPr>
            <p:cNvPr name="TextBox 10" id="10"/>
            <p:cNvSpPr txBox="true"/>
            <p:nvPr/>
          </p:nvSpPr>
          <p:spPr>
            <a:xfrm rot="0">
              <a:off x="3526285" y="2597826"/>
              <a:ext cx="2571398"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IoT projects often fail due to poor management and lack of a structure</a:t>
              </a:r>
              <a:r>
                <a:rPr lang="en-US" sz="1809">
                  <a:solidFill>
                    <a:srgbClr val="000000"/>
                  </a:solidFill>
                  <a:latin typeface="Luktao"/>
                  <a:ea typeface="Luktao"/>
                  <a:cs typeface="Luktao"/>
                  <a:sym typeface="Luktao"/>
                </a:rPr>
                <a:t>d security validation process.</a:t>
              </a:r>
            </a:p>
          </p:txBody>
        </p:sp>
        <p:sp>
          <p:nvSpPr>
            <p:cNvPr name="TextBox 11" id="11"/>
            <p:cNvSpPr txBox="true"/>
            <p:nvPr/>
          </p:nvSpPr>
          <p:spPr>
            <a:xfrm rot="0">
              <a:off x="6478682" y="2597826"/>
              <a:ext cx="2606827"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To propose a model for better project planning, testing, and evaluation in IoT security development.</a:t>
              </a:r>
            </a:p>
          </p:txBody>
        </p:sp>
        <p:sp>
          <p:nvSpPr>
            <p:cNvPr name="TextBox 12" id="12"/>
            <p:cNvSpPr txBox="true"/>
            <p:nvPr/>
          </p:nvSpPr>
          <p:spPr>
            <a:xfrm rot="0">
              <a:off x="9466509" y="2597826"/>
              <a:ext cx="2898454" cy="3337923"/>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The study used scenario-based prototypes and monitor</a:t>
              </a:r>
              <a:r>
                <a:rPr lang="en-US" sz="1809">
                  <a:solidFill>
                    <a:srgbClr val="000000"/>
                  </a:solidFill>
                  <a:latin typeface="Luktao"/>
                  <a:ea typeface="Luktao"/>
                  <a:cs typeface="Luktao"/>
                  <a:sym typeface="Luktao"/>
                </a:rPr>
                <a:t>ing frameworks to manage IoT research efficiently.</a:t>
              </a:r>
            </a:p>
          </p:txBody>
        </p:sp>
        <p:sp>
          <p:nvSpPr>
            <p:cNvPr name="TextBox 13" id="13"/>
            <p:cNvSpPr txBox="true"/>
            <p:nvPr/>
          </p:nvSpPr>
          <p:spPr>
            <a:xfrm rot="0">
              <a:off x="12658617" y="2597826"/>
              <a:ext cx="3653925" cy="1652607"/>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Organized management improves IoT development reliability and team productivity</a:t>
              </a:r>
              <a:r>
                <a:rPr lang="en-US" sz="1809">
                  <a:solidFill>
                    <a:srgbClr val="000000"/>
                  </a:solidFill>
                  <a:latin typeface="Luktao"/>
                  <a:ea typeface="Luktao"/>
                  <a:cs typeface="Luktao"/>
                  <a:sym typeface="Luktao"/>
                </a:rPr>
                <a:t>.</a:t>
              </a:r>
            </a:p>
          </p:txBody>
        </p:sp>
        <p:sp>
          <p:nvSpPr>
            <p:cNvPr name="TextBox 14" id="14"/>
            <p:cNvSpPr txBox="true"/>
            <p:nvPr/>
          </p:nvSpPr>
          <p:spPr>
            <a:xfrm rot="0">
              <a:off x="16695568" y="2808491"/>
              <a:ext cx="3139838"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Int</a:t>
              </a:r>
              <a:r>
                <a:rPr lang="en-US" sz="1809">
                  <a:solidFill>
                    <a:srgbClr val="000000"/>
                  </a:solidFill>
                  <a:latin typeface="Luktao"/>
                  <a:ea typeface="Luktao"/>
                  <a:cs typeface="Luktao"/>
                  <a:sym typeface="Luktao"/>
                </a:rPr>
                <a:t>egrate structured workflows with real testing platforms to achieve more practical outcomes.</a:t>
              </a:r>
            </a:p>
          </p:txBody>
        </p:sp>
        <p:sp>
          <p:nvSpPr>
            <p:cNvPr name="TextBox 15" id="15"/>
            <p:cNvSpPr txBox="true"/>
            <p:nvPr/>
          </p:nvSpPr>
          <p:spPr>
            <a:xfrm rot="0">
              <a:off x="20129060" y="2597826"/>
              <a:ext cx="3424664" cy="2073936"/>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a:t>
              </a:r>
              <a:r>
                <a:rPr lang="en-US" sz="1809">
                  <a:solidFill>
                    <a:srgbClr val="000000"/>
                  </a:solidFill>
                  <a:latin typeface="Luktao"/>
                  <a:ea typeface="Luktao"/>
                  <a:cs typeface="Luktao"/>
                  <a:sym typeface="Luktao"/>
                </a:rPr>
                <a:t>ur project combines structured research planning with a real IoT testbed for better validation and results.</a:t>
              </a:r>
            </a:p>
          </p:txBody>
        </p:sp>
      </p:grpSp>
      <p:graphicFrame>
        <p:nvGraphicFramePr>
          <p:cNvPr name="Table 8" id="8"/>
          <p:cNvGraphicFramePr>
            <a:graphicFrameLocks noGrp="true"/>
          </p:cNvGraphicFramePr>
          <p:nvPr/>
        </p:nvGraphicFramePr>
        <p:xfrm>
          <a:off x="0" y="0"/>
          <a:ext cx="17800353" cy="7740069"/>
        </p:xfrm>
        <a:graphic>
          <a:graphicData uri="http://schemas.openxmlformats.org/drawingml/2006/table">
            <a:tbl>
              <a:tblPr/>
              <a:tblGrid>
                <a:gridCol w="732641"/>
                <a:gridCol w="1708156"/>
                <a:gridCol w="2262890"/>
                <a:gridCol w="2196523"/>
                <a:gridCol w="2425913"/>
                <a:gridCol w="2979950"/>
                <a:gridCol w="2664740"/>
                <a:gridCol w="2829539"/>
              </a:tblGrid>
              <a:tr h="1732964">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S.No</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Paper title,Year of Publication</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Problem addressed</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Objective of the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Focus of the paper</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Inference</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Recommendations for future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How can our research help bridge the gap</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r h="6007105">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15</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grpSp>
        <p:nvGrpSpPr>
          <p:cNvPr name="Group 2" id="2"/>
          <p:cNvGrpSpPr/>
          <p:nvPr/>
        </p:nvGrpSpPr>
        <p:grpSpPr>
          <a:xfrm rot="0">
            <a:off x="0" y="9796900"/>
            <a:ext cx="18288000" cy="490100"/>
            <a:chOff x="0" y="0"/>
            <a:chExt cx="4816593" cy="129080"/>
          </a:xfrm>
        </p:grpSpPr>
        <p:sp>
          <p:nvSpPr>
            <p:cNvPr name="Freeform 3" id="3"/>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4" id="4"/>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5" id="5"/>
          <p:cNvSpPr/>
          <p:nvPr/>
        </p:nvSpPr>
        <p:spPr>
          <a:xfrm flipH="false" flipV="false" rot="0">
            <a:off x="0" y="0"/>
            <a:ext cx="1771958" cy="1731686"/>
          </a:xfrm>
          <a:custGeom>
            <a:avLst/>
            <a:gdLst/>
            <a:ahLst/>
            <a:cxnLst/>
            <a:rect r="r" b="b" t="t" l="l"/>
            <a:pathLst>
              <a:path h="1731686" w="1771958">
                <a:moveTo>
                  <a:pt x="0" y="0"/>
                </a:moveTo>
                <a:lnTo>
                  <a:pt x="1771958" y="0"/>
                </a:lnTo>
                <a:lnTo>
                  <a:pt x="1771958" y="1731686"/>
                </a:lnTo>
                <a:lnTo>
                  <a:pt x="0" y="1731686"/>
                </a:lnTo>
                <a:lnTo>
                  <a:pt x="0" y="0"/>
                </a:lnTo>
                <a:close/>
              </a:path>
            </a:pathLst>
          </a:custGeom>
          <a:blipFill>
            <a:blip r:embed="rId2"/>
            <a:stretch>
              <a:fillRect l="0" t="0" r="0" b="0"/>
            </a:stretch>
          </a:blipFill>
        </p:spPr>
      </p:sp>
      <p:sp>
        <p:nvSpPr>
          <p:cNvPr name="TextBox 6" id="6"/>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7" id="7"/>
          <p:cNvGrpSpPr/>
          <p:nvPr/>
        </p:nvGrpSpPr>
        <p:grpSpPr>
          <a:xfrm rot="0">
            <a:off x="212316" y="1894258"/>
            <a:ext cx="17800353" cy="7740069"/>
            <a:chOff x="0" y="0"/>
            <a:chExt cx="23733804" cy="10320092"/>
          </a:xfrm>
        </p:grpSpPr>
        <p:sp>
          <p:nvSpPr>
            <p:cNvPr name="TextBox 9" id="9"/>
            <p:cNvSpPr txBox="true"/>
            <p:nvPr/>
          </p:nvSpPr>
          <p:spPr>
            <a:xfrm rot="0">
              <a:off x="1150213" y="2597826"/>
              <a:ext cx="1879502" cy="291659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MQT‑TZ: Hard</a:t>
              </a:r>
              <a:r>
                <a:rPr lang="en-US" sz="1809">
                  <a:solidFill>
                    <a:srgbClr val="000000"/>
                  </a:solidFill>
                  <a:latin typeface="Luktao"/>
                  <a:ea typeface="Luktao"/>
                  <a:cs typeface="Luktao"/>
                  <a:sym typeface="Luktao"/>
                </a:rPr>
                <a:t>eni</a:t>
              </a:r>
              <a:r>
                <a:rPr lang="en-US" sz="1809">
                  <a:solidFill>
                    <a:srgbClr val="000000"/>
                  </a:solidFill>
                  <a:latin typeface="Luktao"/>
                  <a:ea typeface="Luktao"/>
                  <a:cs typeface="Luktao"/>
                  <a:sym typeface="Luktao"/>
                </a:rPr>
                <a:t>ng IoT Brokers Using ARM TrustZone, published in 2020</a:t>
              </a:r>
            </a:p>
          </p:txBody>
        </p:sp>
        <p:sp>
          <p:nvSpPr>
            <p:cNvPr name="TextBox 10" id="10"/>
            <p:cNvSpPr txBox="true"/>
            <p:nvPr/>
          </p:nvSpPr>
          <p:spPr>
            <a:xfrm rot="0">
              <a:off x="3526285" y="2597826"/>
              <a:ext cx="2571398" cy="7551212"/>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IoT brokers using the MQTT publish-subscribe model have large attack surfaces because messages are often processed unprotected.</a:t>
              </a:r>
            </a:p>
            <a:p>
              <a:pPr algn="ctr">
                <a:lnSpc>
                  <a:spcPts val="2533"/>
                </a:lnSpc>
                <a:spcBef>
                  <a:spcPct val="0"/>
                </a:spcBef>
              </a:pPr>
              <a:r>
                <a:rPr lang="en-US" sz="1809">
                  <a:solidFill>
                    <a:srgbClr val="000000"/>
                  </a:solidFill>
                  <a:latin typeface="Luktao"/>
                  <a:ea typeface="Luktao"/>
                  <a:cs typeface="Luktao"/>
                  <a:sym typeface="Luktao"/>
                </a:rPr>
                <a:t> Protecting</a:t>
              </a:r>
              <a:r>
                <a:rPr lang="en-US" sz="1809">
                  <a:solidFill>
                    <a:srgbClr val="000000"/>
                  </a:solidFill>
                  <a:latin typeface="Luktao"/>
                  <a:ea typeface="Luktao"/>
                  <a:cs typeface="Luktao"/>
                  <a:sym typeface="Luktao"/>
                </a:rPr>
                <a:t> the broker and message integrity without hurting performance is challenging in constrained IoT systems.</a:t>
              </a:r>
            </a:p>
          </p:txBody>
        </p:sp>
        <p:sp>
          <p:nvSpPr>
            <p:cNvPr name="TextBox 11" id="11"/>
            <p:cNvSpPr txBox="true"/>
            <p:nvPr/>
          </p:nvSpPr>
          <p:spPr>
            <a:xfrm rot="0">
              <a:off x="6478682" y="2597826"/>
              <a:ext cx="2606827" cy="6708554"/>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Design a secure MQ</a:t>
              </a:r>
              <a:r>
                <a:rPr lang="en-US" sz="1809">
                  <a:solidFill>
                    <a:srgbClr val="000000"/>
                  </a:solidFill>
                  <a:latin typeface="Luktao"/>
                  <a:ea typeface="Luktao"/>
                  <a:cs typeface="Luktao"/>
                  <a:sym typeface="Luktao"/>
                </a:rPr>
                <a:t>TT broker using the ARM TrustZone trusted execution environment (TEE) to isolate broker operations and enforce stronger security.</a:t>
              </a:r>
            </a:p>
            <a:p>
              <a:pPr algn="ctr">
                <a:lnSpc>
                  <a:spcPts val="2533"/>
                </a:lnSpc>
                <a:spcBef>
                  <a:spcPct val="0"/>
                </a:spcBef>
              </a:pPr>
              <a:r>
                <a:rPr lang="en-US" sz="1809">
                  <a:solidFill>
                    <a:srgbClr val="000000"/>
                  </a:solidFill>
                  <a:latin typeface="Luktao"/>
                  <a:ea typeface="Luktao"/>
                  <a:cs typeface="Luktao"/>
                  <a:sym typeface="Luktao"/>
                </a:rPr>
                <a:t> Evaluate how this hardened broker performs in real IoT workloads and measure trade-offs</a:t>
              </a:r>
            </a:p>
          </p:txBody>
        </p:sp>
        <p:sp>
          <p:nvSpPr>
            <p:cNvPr name="TextBox 12" id="12"/>
            <p:cNvSpPr txBox="true"/>
            <p:nvPr/>
          </p:nvSpPr>
          <p:spPr>
            <a:xfrm rot="0">
              <a:off x="9466509" y="2597826"/>
              <a:ext cx="2898454" cy="7551212"/>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Implemented a prototype broker that uses TLS and TrustZone TEE for end-to-end confidentiality and broker-isolation.</a:t>
              </a:r>
            </a:p>
            <a:p>
              <a:pPr algn="ctr">
                <a:lnSpc>
                  <a:spcPts val="2533"/>
                </a:lnSpc>
                <a:spcBef>
                  <a:spcPct val="0"/>
                </a:spcBef>
              </a:pPr>
              <a:r>
                <a:rPr lang="en-US" sz="1809">
                  <a:solidFill>
                    <a:srgbClr val="000000"/>
                  </a:solidFill>
                  <a:latin typeface="Luktao"/>
                  <a:ea typeface="Luktao"/>
                  <a:cs typeface="Luktao"/>
                  <a:sym typeface="Luktao"/>
                </a:rPr>
                <a:t> Benchmark experiments compared performance (late</a:t>
              </a:r>
              <a:r>
                <a:rPr lang="en-US" sz="1809">
                  <a:solidFill>
                    <a:srgbClr val="000000"/>
                  </a:solidFill>
                  <a:latin typeface="Luktao"/>
                  <a:ea typeface="Luktao"/>
                  <a:cs typeface="Luktao"/>
                  <a:sym typeface="Luktao"/>
                </a:rPr>
                <a:t>ncy, throughput) under typical IoT workloads plus real-world industrial use-cases.</a:t>
              </a:r>
            </a:p>
          </p:txBody>
        </p:sp>
        <p:sp>
          <p:nvSpPr>
            <p:cNvPr name="TextBox 13" id="13"/>
            <p:cNvSpPr txBox="true"/>
            <p:nvPr/>
          </p:nvSpPr>
          <p:spPr>
            <a:xfrm rot="0">
              <a:off x="12658617" y="2597826"/>
              <a:ext cx="3653925" cy="5023238"/>
            </a:xfrm>
            <a:prstGeom prst="rect">
              <a:avLst/>
            </a:prstGeom>
          </p:spPr>
          <p:txBody>
            <a:bodyPr anchor="t" rtlCol="false" tIns="0" lIns="0" bIns="0" rIns="0">
              <a:spAutoFit/>
            </a:bodyPr>
            <a:lstStyle/>
            <a:p>
              <a:pPr algn="ctr">
                <a:lnSpc>
                  <a:spcPts val="2533"/>
                </a:lnSpc>
              </a:pPr>
              <a:r>
                <a:rPr lang="en-US" sz="1809">
                  <a:solidFill>
                    <a:srgbClr val="000000"/>
                  </a:solidFill>
                  <a:latin typeface="Luktao"/>
                  <a:ea typeface="Luktao"/>
                  <a:cs typeface="Luktao"/>
                  <a:sym typeface="Luktao"/>
                </a:rPr>
                <a:t>Using TrustZone for the MQTT broker increases security (broker isolation, message protection) but introduces overhead (latency, complexity).</a:t>
              </a:r>
            </a:p>
            <a:p>
              <a:pPr algn="ctr">
                <a:lnSpc>
                  <a:spcPts val="2533"/>
                </a:lnSpc>
                <a:spcBef>
                  <a:spcPct val="0"/>
                </a:spcBef>
              </a:pPr>
              <a:r>
                <a:rPr lang="en-US" sz="1809">
                  <a:solidFill>
                    <a:srgbClr val="000000"/>
                  </a:solidFill>
                  <a:latin typeface="Luktao"/>
                  <a:ea typeface="Luktao"/>
                  <a:cs typeface="Luktao"/>
                  <a:sym typeface="Luktao"/>
                </a:rPr>
                <a:t> There are measurable trade-offs when you move from lightweight broker to secured broker in IoT settings</a:t>
              </a:r>
              <a:r>
                <a:rPr lang="en-US" sz="1809">
                  <a:solidFill>
                    <a:srgbClr val="000000"/>
                  </a:solidFill>
                  <a:latin typeface="Luktao"/>
                  <a:ea typeface="Luktao"/>
                  <a:cs typeface="Luktao"/>
                  <a:sym typeface="Luktao"/>
                </a:rPr>
                <a:t>.</a:t>
              </a:r>
            </a:p>
          </p:txBody>
        </p:sp>
        <p:sp>
          <p:nvSpPr>
            <p:cNvPr name="TextBox 14" id="14"/>
            <p:cNvSpPr txBox="true"/>
            <p:nvPr/>
          </p:nvSpPr>
          <p:spPr>
            <a:xfrm rot="0">
              <a:off x="16695568" y="2808491"/>
              <a:ext cx="3139838" cy="6287225"/>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Expl</a:t>
              </a:r>
              <a:r>
                <a:rPr lang="en-US" sz="1809">
                  <a:solidFill>
                    <a:srgbClr val="000000"/>
                  </a:solidFill>
                  <a:latin typeface="Luktao"/>
                  <a:ea typeface="Luktao"/>
                  <a:cs typeface="Luktao"/>
                  <a:sym typeface="Luktao"/>
                </a:rPr>
                <a:t>ore hardware-accelerated TEEs or lightweight broker designs that integrate security without hurting performance too much.</a:t>
              </a:r>
            </a:p>
            <a:p>
              <a:pPr algn="ctr">
                <a:lnSpc>
                  <a:spcPts val="2533"/>
                </a:lnSpc>
                <a:spcBef>
                  <a:spcPct val="0"/>
                </a:spcBef>
              </a:pPr>
              <a:r>
                <a:rPr lang="en-US" sz="1809">
                  <a:solidFill>
                    <a:srgbClr val="000000"/>
                  </a:solidFill>
                  <a:latin typeface="Luktao"/>
                  <a:ea typeface="Luktao"/>
                  <a:cs typeface="Luktao"/>
                  <a:sym typeface="Luktao"/>
                </a:rPr>
                <a:t> Extend prototype to full smart-home networks with diverse devices and measure user-impact in deployment scenarios.</a:t>
              </a:r>
            </a:p>
          </p:txBody>
        </p:sp>
        <p:sp>
          <p:nvSpPr>
            <p:cNvPr name="TextBox 15" id="15"/>
            <p:cNvSpPr txBox="true"/>
            <p:nvPr/>
          </p:nvSpPr>
          <p:spPr>
            <a:xfrm rot="0">
              <a:off x="20129060" y="2597826"/>
              <a:ext cx="3424664" cy="6672891"/>
            </a:xfrm>
            <a:prstGeom prst="rect">
              <a:avLst/>
            </a:prstGeom>
          </p:spPr>
          <p:txBody>
            <a:bodyPr anchor="t" rtlCol="false" tIns="0" lIns="0" bIns="0" rIns="0">
              <a:spAutoFit/>
            </a:bodyPr>
            <a:lstStyle/>
            <a:p>
              <a:pPr algn="ctr">
                <a:lnSpc>
                  <a:spcPts val="2533"/>
                </a:lnSpc>
                <a:spcBef>
                  <a:spcPct val="0"/>
                </a:spcBef>
              </a:pPr>
              <a:r>
                <a:rPr lang="en-US" sz="1809">
                  <a:solidFill>
                    <a:srgbClr val="000000"/>
                  </a:solidFill>
                  <a:latin typeface="Luktao"/>
                  <a:ea typeface="Luktao"/>
                  <a:cs typeface="Luktao"/>
                  <a:sym typeface="Luktao"/>
                </a:rPr>
                <a:t>Our testbed uses actual ESP32 devices and MQTT traffic</a:t>
              </a:r>
              <a:r>
                <a:rPr lang="en-US" sz="1809">
                  <a:solidFill>
                    <a:srgbClr val="000000"/>
                  </a:solidFill>
                  <a:latin typeface="Luktao"/>
                  <a:ea typeface="Luktao"/>
                  <a:cs typeface="Luktao"/>
                  <a:sym typeface="Luktao"/>
                </a:rPr>
                <a:t> in a smart-home context — perfect to evaluate broker-side security like TrustZone in a practical lab.</a:t>
              </a:r>
            </a:p>
            <a:p>
              <a:pPr algn="ctr">
                <a:lnSpc>
                  <a:spcPts val="2533"/>
                </a:lnSpc>
                <a:spcBef>
                  <a:spcPct val="0"/>
                </a:spcBef>
              </a:pPr>
              <a:r>
                <a:rPr lang="en-US" sz="1809">
                  <a:solidFill>
                    <a:srgbClr val="000000"/>
                  </a:solidFill>
                  <a:latin typeface="Luktao"/>
                  <a:ea typeface="Luktao"/>
                  <a:cs typeface="Luktao"/>
                  <a:sym typeface="Luktao"/>
                </a:rPr>
                <a:t> We can simulate attacks (replay, flooding) and compare results on a hardened broker vs standard broker to show detection and mitigation benefit.</a:t>
              </a:r>
            </a:p>
          </p:txBody>
        </p:sp>
      </p:grpSp>
      <p:graphicFrame>
        <p:nvGraphicFramePr>
          <p:cNvPr name="Table 8" id="8"/>
          <p:cNvGraphicFramePr>
            <a:graphicFrameLocks noGrp="true"/>
          </p:cNvGraphicFramePr>
          <p:nvPr/>
        </p:nvGraphicFramePr>
        <p:xfrm>
          <a:off x="0" y="0"/>
          <a:ext cx="17800353" cy="7740069"/>
        </p:xfrm>
        <a:graphic>
          <a:graphicData uri="http://schemas.openxmlformats.org/drawingml/2006/table">
            <a:tbl>
              <a:tblPr/>
              <a:tblGrid>
                <a:gridCol w="732641"/>
                <a:gridCol w="1708156"/>
                <a:gridCol w="2262890"/>
                <a:gridCol w="2196523"/>
                <a:gridCol w="2425913"/>
                <a:gridCol w="2979950"/>
                <a:gridCol w="2664740"/>
                <a:gridCol w="2829539"/>
              </a:tblGrid>
              <a:tr h="1732964">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S.No</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Paper title,Year of Publication</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Problem addressed</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Objective of the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Focus of the paper</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Inference</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Recommendations for future research</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How can our research help bridge the gap</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r h="6007105">
                <a:tc>
                  <a:txBody>
                    <a:bodyPr anchor="t" rtlCol="false"/>
                    <a:lstStyle/>
                    <a:p>
                      <a:pPr algn="l">
                        <a:lnSpc>
                          <a:spcPts val="2533"/>
                        </a:lnSpc>
                        <a:defRPr/>
                      </a:pPr>
                      <a:r>
                        <a:rPr lang="en-US" sz="1809">
                          <a:solidFill>
                            <a:srgbClr val="000000"/>
                          </a:solidFill>
                          <a:latin typeface="Times New Roman MT"/>
                          <a:ea typeface="Times New Roman MT"/>
                          <a:cs typeface="Times New Roman MT"/>
                          <a:sym typeface="Times New Roman MT"/>
                        </a:rPr>
                        <a:t>16</a:t>
                      </a: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a:lnSpc>
                          <a:spcPts val="2533"/>
                        </a:lnSpc>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c>
                  <a:txBody>
                    <a:bodyPr anchor="t" rtlCol="false"/>
                    <a:lstStyle/>
                    <a:p>
                      <a:pPr algn="ctr" marL="390685" indent="-195343" lvl="1">
                        <a:lnSpc>
                          <a:spcPts val="2533"/>
                        </a:lnSpc>
                        <a:buFont typeface="Arial"/>
                        <a:buChar char="•"/>
                        <a:defRPr/>
                      </a:pPr>
                      <a:endParaRPr lang="en-US" sz="1100"/>
                    </a:p>
                  </a:txBody>
                  <a:tcPr marL="191513" marR="191513" marT="191513" marB="191513" anchor="ctr">
                    <a:lnL cmpd="sng" algn="ctr" cap="flat" w="28727">
                      <a:solidFill>
                        <a:srgbClr val="000000"/>
                      </a:solidFill>
                      <a:prstDash val="solid"/>
                      <a:round/>
                      <a:headEnd type="none" w="med" len="med"/>
                      <a:tailEnd type="none" w="med" len="med"/>
                    </a:lnL>
                    <a:lnR cmpd="sng" algn="ctr" cap="flat" w="28727">
                      <a:solidFill>
                        <a:srgbClr val="000000"/>
                      </a:solidFill>
                      <a:prstDash val="solid"/>
                      <a:round/>
                      <a:headEnd type="none" w="med" len="med"/>
                      <a:tailEnd type="none" w="med" len="med"/>
                    </a:lnR>
                    <a:lnT cmpd="sng" algn="ctr" cap="flat" w="28727">
                      <a:solidFill>
                        <a:srgbClr val="000000"/>
                      </a:solidFill>
                      <a:prstDash val="solid"/>
                      <a:round/>
                      <a:headEnd type="none" w="med" len="med"/>
                      <a:tailEnd type="none" w="med" len="med"/>
                    </a:lnT>
                    <a:lnB cmpd="sng" algn="ctr" cap="flat" w="28727">
                      <a:solidFill>
                        <a:srgbClr val="000000"/>
                      </a:solidFill>
                      <a:prstDash val="solid"/>
                      <a:round/>
                      <a:headEnd type="none" w="med" len="med"/>
                      <a:tailEnd type="none" w="med" len="med"/>
                    </a:lnB>
                  </a:tcPr>
                </a:tc>
              </a:tr>
            </a:tbl>
          </a:graphicData>
        </a:graphic>
      </p:graphicFrame>
      <p:sp>
        <p:nvSpPr>
          <p:cNvPr name="TextBox 16" id="1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2379674" y="1750681"/>
            <a:ext cx="13528652" cy="1739899"/>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EXISTING SYSTEM &amp; LIMITATIONS</a:t>
            </a:r>
          </a:p>
          <a:p>
            <a:pPr algn="ctr">
              <a:lnSpc>
                <a:spcPts val="7000"/>
              </a:lnSpc>
            </a:pPr>
          </a:p>
        </p:txBody>
      </p:sp>
      <p:sp>
        <p:nvSpPr>
          <p:cNvPr name="TextBox 3" id="3"/>
          <p:cNvSpPr txBox="true"/>
          <p:nvPr/>
        </p:nvSpPr>
        <p:spPr>
          <a:xfrm rot="0">
            <a:off x="1541313" y="2881750"/>
            <a:ext cx="15205374" cy="6915150"/>
          </a:xfrm>
          <a:prstGeom prst="rect">
            <a:avLst/>
          </a:prstGeom>
        </p:spPr>
        <p:txBody>
          <a:bodyPr anchor="t" rtlCol="false" tIns="0" lIns="0" bIns="0" rIns="0">
            <a:spAutoFit/>
          </a:bodyPr>
          <a:lstStyle/>
          <a:p>
            <a:pPr algn="just">
              <a:lnSpc>
                <a:spcPts val="4200"/>
              </a:lnSpc>
            </a:pPr>
            <a:r>
              <a:rPr lang="en-US" sz="3000" spc="-117">
                <a:solidFill>
                  <a:srgbClr val="0166C2"/>
                </a:solidFill>
                <a:latin typeface="Nourd"/>
                <a:ea typeface="Nourd"/>
                <a:cs typeface="Nourd"/>
                <a:sym typeface="Nourd"/>
              </a:rPr>
              <a:t>In most existing smart home IoT setups, devices like sensors, cameras, and smart plugs communicate through MQTT brokers or other lightweight protocols. These systems work for basic automation, but they have several weaknesses:</a:t>
            </a:r>
          </a:p>
          <a:p>
            <a:pPr algn="just" marL="647700" indent="-323850" lvl="1">
              <a:lnSpc>
                <a:spcPts val="4200"/>
              </a:lnSpc>
              <a:buFont typeface="Arial"/>
              <a:buChar char="•"/>
            </a:pPr>
            <a:r>
              <a:rPr lang="en-US" b="true" sz="3000" spc="-117">
                <a:solidFill>
                  <a:srgbClr val="0166C2"/>
                </a:solidFill>
                <a:latin typeface="Nourd Bold"/>
                <a:ea typeface="Nourd Bold"/>
                <a:cs typeface="Nourd Bold"/>
                <a:sym typeface="Nourd Bold"/>
              </a:rPr>
              <a:t> Weak Attack Evaluation </a:t>
            </a:r>
            <a:r>
              <a:rPr lang="en-US" sz="3000" spc="-117">
                <a:solidFill>
                  <a:srgbClr val="0166C2"/>
                </a:solidFill>
                <a:latin typeface="Nourd"/>
                <a:ea typeface="Nourd"/>
                <a:cs typeface="Nourd"/>
                <a:sym typeface="Nourd"/>
              </a:rPr>
              <a:t>– Prior work focused only on basic attacks or single-type vulnerabilities.</a:t>
            </a:r>
          </a:p>
          <a:p>
            <a:pPr algn="just" marL="647700" indent="-323850" lvl="1">
              <a:lnSpc>
                <a:spcPts val="4200"/>
              </a:lnSpc>
              <a:buFont typeface="Arial"/>
              <a:buChar char="•"/>
            </a:pPr>
            <a:r>
              <a:rPr lang="en-US" b="true" sz="3000" spc="-117">
                <a:solidFill>
                  <a:srgbClr val="0166C2"/>
                </a:solidFill>
                <a:latin typeface="Nourd Bold"/>
                <a:ea typeface="Nourd Bold"/>
                <a:cs typeface="Nourd Bold"/>
                <a:sym typeface="Nourd Bold"/>
              </a:rPr>
              <a:t>L</a:t>
            </a:r>
            <a:r>
              <a:rPr lang="en-US" b="true" sz="3000" spc="-117">
                <a:solidFill>
                  <a:srgbClr val="0166C2"/>
                </a:solidFill>
                <a:latin typeface="Nourd Bold"/>
                <a:ea typeface="Nourd Bold"/>
                <a:cs typeface="Nourd Bold"/>
                <a:sym typeface="Nourd Bold"/>
              </a:rPr>
              <a:t>ack of Real-Device Testbeds</a:t>
            </a:r>
            <a:r>
              <a:rPr lang="en-US" sz="3000" spc="-117">
                <a:solidFill>
                  <a:srgbClr val="0166C2"/>
                </a:solidFill>
                <a:latin typeface="Nourd"/>
                <a:ea typeface="Nourd"/>
                <a:cs typeface="Nourd"/>
                <a:sym typeface="Nourd"/>
              </a:rPr>
              <a:t> – Most research used simulations or public datasets instead of real IoT devices, missing real-world behavior.</a:t>
            </a:r>
          </a:p>
          <a:p>
            <a:pPr algn="just" marL="647700" indent="-323850" lvl="1">
              <a:lnSpc>
                <a:spcPts val="4200"/>
              </a:lnSpc>
              <a:buFont typeface="Arial"/>
              <a:buChar char="•"/>
            </a:pPr>
            <a:r>
              <a:rPr lang="en-US" b="true" sz="3000" spc="-117">
                <a:solidFill>
                  <a:srgbClr val="0166C2"/>
                </a:solidFill>
                <a:latin typeface="Nourd Bold"/>
                <a:ea typeface="Nourd Bold"/>
                <a:cs typeface="Nourd Bold"/>
                <a:sym typeface="Nourd Bold"/>
              </a:rPr>
              <a:t>Limit</a:t>
            </a:r>
            <a:r>
              <a:rPr lang="en-US" b="true" sz="3000" spc="-117">
                <a:solidFill>
                  <a:srgbClr val="0166C2"/>
                </a:solidFill>
                <a:latin typeface="Nourd Bold"/>
                <a:ea typeface="Nourd Bold"/>
                <a:cs typeface="Nourd Bold"/>
                <a:sym typeface="Nourd Bold"/>
              </a:rPr>
              <a:t>ed Real-World Data</a:t>
            </a:r>
            <a:r>
              <a:rPr lang="en-US" sz="3000" spc="-117">
                <a:solidFill>
                  <a:srgbClr val="0166C2"/>
                </a:solidFill>
                <a:latin typeface="Nourd"/>
                <a:ea typeface="Nourd"/>
                <a:cs typeface="Nourd"/>
                <a:sym typeface="Nourd"/>
              </a:rPr>
              <a:t>– Most IoT datasets are collected in lab simulations or public repositories and do not reflect real device communication.</a:t>
            </a:r>
          </a:p>
          <a:p>
            <a:pPr algn="just" marL="647700" indent="-323850" lvl="1">
              <a:lnSpc>
                <a:spcPts val="4200"/>
              </a:lnSpc>
              <a:buFont typeface="Arial"/>
              <a:buChar char="•"/>
            </a:pPr>
            <a:r>
              <a:rPr lang="en-US" b="true" sz="3000" spc="-117">
                <a:solidFill>
                  <a:srgbClr val="0166C2"/>
                </a:solidFill>
                <a:latin typeface="Nourd Bold"/>
                <a:ea typeface="Nourd Bold"/>
                <a:cs typeface="Nourd Bold"/>
                <a:sym typeface="Nourd Bold"/>
              </a:rPr>
              <a:t>No Continuous Monitoring</a:t>
            </a:r>
            <a:r>
              <a:rPr lang="en-US" sz="3000" spc="-117">
                <a:solidFill>
                  <a:srgbClr val="0166C2"/>
                </a:solidFill>
                <a:latin typeface="Nourd"/>
                <a:ea typeface="Nourd"/>
                <a:cs typeface="Nourd"/>
                <a:sym typeface="Nourd"/>
              </a:rPr>
              <a:t>– Lack of real-time monitoring of traffic or anomaly detection.</a:t>
            </a:r>
          </a:p>
          <a:p>
            <a:pPr algn="just" marL="647700" indent="-323850" lvl="1">
              <a:lnSpc>
                <a:spcPts val="4200"/>
              </a:lnSpc>
              <a:buFont typeface="Arial"/>
              <a:buChar char="•"/>
            </a:pPr>
            <a:r>
              <a:rPr lang="en-US" b="true" sz="3000" spc="-117">
                <a:solidFill>
                  <a:srgbClr val="0166C2"/>
                </a:solidFill>
                <a:latin typeface="Nourd Bold"/>
                <a:ea typeface="Nourd Bold"/>
                <a:cs typeface="Nourd Bold"/>
                <a:sym typeface="Nourd Bold"/>
              </a:rPr>
              <a:t>Incomplete A</a:t>
            </a:r>
            <a:r>
              <a:rPr lang="en-US" b="true" sz="3000" spc="-117">
                <a:solidFill>
                  <a:srgbClr val="0166C2"/>
                </a:solidFill>
                <a:latin typeface="Nourd Bold"/>
                <a:ea typeface="Nourd Bold"/>
                <a:cs typeface="Nourd Bold"/>
                <a:sym typeface="Nourd Bold"/>
              </a:rPr>
              <a:t>ttack Diversity</a:t>
            </a:r>
            <a:r>
              <a:rPr lang="en-US" sz="3000" spc="-117">
                <a:solidFill>
                  <a:srgbClr val="0166C2"/>
                </a:solidFill>
                <a:latin typeface="Nourd"/>
                <a:ea typeface="Nourd"/>
                <a:cs typeface="Nourd"/>
                <a:sym typeface="Nourd"/>
              </a:rPr>
              <a:t>--Many existing datasets include only a few attack types like DoS or brute-force.</a:t>
            </a:r>
          </a:p>
          <a:p>
            <a:pPr algn="just">
              <a:lnSpc>
                <a:spcPts val="4200"/>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1367677" y="2674008"/>
            <a:ext cx="15552647" cy="6313170"/>
          </a:xfrm>
          <a:prstGeom prst="rect">
            <a:avLst/>
          </a:prstGeom>
        </p:spPr>
        <p:txBody>
          <a:bodyPr anchor="t" rtlCol="false" tIns="0" lIns="0" bIns="0" rIns="0">
            <a:spAutoFit/>
          </a:bodyPr>
          <a:lstStyle/>
          <a:p>
            <a:pPr algn="just">
              <a:lnSpc>
                <a:spcPts val="3779"/>
              </a:lnSpc>
            </a:pPr>
            <a:r>
              <a:rPr lang="en-US" sz="2700" spc="-105">
                <a:solidFill>
                  <a:srgbClr val="0166C2"/>
                </a:solidFill>
                <a:latin typeface="Nourd"/>
                <a:ea typeface="Nourd"/>
                <a:cs typeface="Nourd"/>
                <a:sym typeface="Nourd"/>
              </a:rPr>
              <a:t>Because of these limitations, our proposed system builds a real IoT testbed with IoT devices and MQTT to study security in practice. We use the same communication style as existing systems but add improvements:</a:t>
            </a:r>
          </a:p>
          <a:p>
            <a:pPr algn="just" marL="582930" indent="-291465" lvl="1">
              <a:lnSpc>
                <a:spcPts val="3779"/>
              </a:lnSpc>
              <a:buAutoNum type="arabicPeriod" startAt="1"/>
            </a:pPr>
            <a:r>
              <a:rPr lang="en-US" b="true" sz="2700" spc="-105">
                <a:solidFill>
                  <a:srgbClr val="0166C2"/>
                </a:solidFill>
                <a:latin typeface="Nourd Bold"/>
                <a:ea typeface="Nourd Bold"/>
                <a:cs typeface="Nourd Bold"/>
                <a:sym typeface="Nourd Bold"/>
              </a:rPr>
              <a:t>Real IoT testbed</a:t>
            </a:r>
            <a:r>
              <a:rPr lang="en-US" sz="2700" spc="-105">
                <a:solidFill>
                  <a:srgbClr val="0166C2"/>
                </a:solidFill>
                <a:latin typeface="Nourd"/>
                <a:ea typeface="Nourd"/>
                <a:cs typeface="Nourd"/>
                <a:sym typeface="Nourd"/>
              </a:rPr>
              <a:t> – A practical testbed is built using ESP32 devices and a smart bulb connected through an MQTT broker.This replaces simulation-only setups and allows real data communication and testing.</a:t>
            </a:r>
          </a:p>
          <a:p>
            <a:pPr algn="just" marL="582930" indent="-291465" lvl="1">
              <a:lnSpc>
                <a:spcPts val="3779"/>
              </a:lnSpc>
              <a:buAutoNum type="arabicPeriod" startAt="1"/>
            </a:pPr>
            <a:r>
              <a:rPr lang="en-US" b="true" sz="2700" spc="-105">
                <a:solidFill>
                  <a:srgbClr val="0166C2"/>
                </a:solidFill>
                <a:latin typeface="Nourd Bold"/>
                <a:ea typeface="Nourd Bold"/>
                <a:cs typeface="Nourd Bold"/>
                <a:sym typeface="Nourd Bold"/>
              </a:rPr>
              <a:t>Secur</a:t>
            </a:r>
            <a:r>
              <a:rPr lang="en-US" b="true" sz="2700" spc="-105">
                <a:solidFill>
                  <a:srgbClr val="0166C2"/>
                </a:solidFill>
                <a:latin typeface="Nourd Bold"/>
                <a:ea typeface="Nourd Bold"/>
                <a:cs typeface="Nourd Bold"/>
                <a:sym typeface="Nourd Bold"/>
              </a:rPr>
              <a:t>e Communication </a:t>
            </a:r>
            <a:r>
              <a:rPr lang="en-US" sz="2700" spc="-105">
                <a:solidFill>
                  <a:srgbClr val="0166C2"/>
                </a:solidFill>
                <a:latin typeface="Nourd"/>
                <a:ea typeface="Nourd"/>
                <a:cs typeface="Nourd"/>
                <a:sym typeface="Nourd"/>
              </a:rPr>
              <a:t> – All devices communicate using encrypted connections.</a:t>
            </a:r>
          </a:p>
          <a:p>
            <a:pPr algn="just" marL="647698" indent="-323849" lvl="1">
              <a:lnSpc>
                <a:spcPts val="4199"/>
              </a:lnSpc>
              <a:buAutoNum type="arabicPeriod" startAt="1"/>
            </a:pPr>
            <a:r>
              <a:rPr lang="en-US" b="true" sz="2999" spc="-116">
                <a:solidFill>
                  <a:srgbClr val="0166C2"/>
                </a:solidFill>
                <a:latin typeface="Nourd Bold"/>
                <a:ea typeface="Nourd Bold"/>
                <a:cs typeface="Nourd Bold"/>
                <a:sym typeface="Nourd Bold"/>
              </a:rPr>
              <a:t>M</a:t>
            </a:r>
            <a:r>
              <a:rPr lang="en-US" b="true" sz="2999" spc="-116">
                <a:solidFill>
                  <a:srgbClr val="0166C2"/>
                </a:solidFill>
                <a:latin typeface="Nourd Bold"/>
                <a:ea typeface="Nourd Bold"/>
                <a:cs typeface="Nourd Bold"/>
                <a:sym typeface="Nourd Bold"/>
              </a:rPr>
              <a:t>onitoring and Anomaly Detection</a:t>
            </a:r>
            <a:r>
              <a:rPr lang="en-US" sz="2999" spc="-116">
                <a:solidFill>
                  <a:srgbClr val="0166C2"/>
                </a:solidFill>
                <a:latin typeface="Nourd"/>
                <a:ea typeface="Nourd"/>
                <a:cs typeface="Nourd"/>
                <a:sym typeface="Nourd"/>
              </a:rPr>
              <a:t>– Network traffic is continuously captured using tools like Wireshark.A machine learning model analyzes this traffic to detect abnormal patterns or possible attacks.</a:t>
            </a:r>
          </a:p>
          <a:p>
            <a:pPr algn="just" marL="582930" indent="-291465" lvl="1">
              <a:lnSpc>
                <a:spcPts val="3779"/>
              </a:lnSpc>
              <a:buAutoNum type="arabicPeriod" startAt="1"/>
            </a:pPr>
            <a:r>
              <a:rPr lang="en-US" b="true" sz="2700" spc="-105">
                <a:solidFill>
                  <a:srgbClr val="0166C2"/>
                </a:solidFill>
                <a:latin typeface="Nourd Bold"/>
                <a:ea typeface="Nourd Bold"/>
                <a:cs typeface="Nourd Bold"/>
                <a:sym typeface="Nourd Bold"/>
              </a:rPr>
              <a:t>Dataset generation</a:t>
            </a:r>
            <a:r>
              <a:rPr lang="en-US" sz="2700" spc="-105">
                <a:solidFill>
                  <a:srgbClr val="0166C2"/>
                </a:solidFill>
                <a:latin typeface="Nourd"/>
                <a:ea typeface="Nourd"/>
                <a:cs typeface="Nourd"/>
                <a:sym typeface="Nourd"/>
              </a:rPr>
              <a:t> –Real traffic from both normal and attack scenarios is captured and labeled.This dataset helps in research, training ML models, and evaluating security mechanisms.</a:t>
            </a:r>
          </a:p>
          <a:p>
            <a:pPr algn="just" marL="582930" indent="-291465" lvl="1">
              <a:lnSpc>
                <a:spcPts val="3779"/>
              </a:lnSpc>
              <a:buAutoNum type="arabicPeriod" startAt="1"/>
            </a:pPr>
            <a:r>
              <a:rPr lang="en-US" b="true" sz="2700" spc="-105">
                <a:solidFill>
                  <a:srgbClr val="0166C2"/>
                </a:solidFill>
                <a:latin typeface="Nourd Bold"/>
                <a:ea typeface="Nourd Bold"/>
                <a:cs typeface="Nourd Bold"/>
                <a:sym typeface="Nourd Bold"/>
              </a:rPr>
              <a:t>Outcome – </a:t>
            </a:r>
            <a:r>
              <a:rPr lang="en-US" sz="2700" spc="-105">
                <a:solidFill>
                  <a:srgbClr val="0166C2"/>
                </a:solidFill>
                <a:latin typeface="Nourd"/>
                <a:ea typeface="Nourd"/>
                <a:cs typeface="Nourd"/>
                <a:sym typeface="Nourd"/>
              </a:rPr>
              <a:t>A low-cost, real-world IoT testbed that demonstrates practical methods to strengthen smart home security.Enables future research in intrusion detection and secure IoT communication.</a:t>
            </a:r>
          </a:p>
        </p:txBody>
      </p:sp>
      <p:sp>
        <p:nvSpPr>
          <p:cNvPr name="TextBox 3" id="3"/>
          <p:cNvSpPr txBox="true"/>
          <p:nvPr/>
        </p:nvSpPr>
        <p:spPr>
          <a:xfrm rot="0">
            <a:off x="5074654" y="1584020"/>
            <a:ext cx="8138691" cy="1739900"/>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PROPOSED SYSTEM</a:t>
            </a:r>
          </a:p>
          <a:p>
            <a:pPr algn="ctr">
              <a:lnSpc>
                <a:spcPts val="7000"/>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834086" y="1750681"/>
            <a:ext cx="8619828" cy="1739900"/>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PROBLEM STATEMENT</a:t>
            </a:r>
          </a:p>
          <a:p>
            <a:pPr algn="ctr">
              <a:lnSpc>
                <a:spcPts val="7000"/>
              </a:lnSpc>
            </a:pPr>
          </a:p>
        </p:txBody>
      </p:sp>
      <p:sp>
        <p:nvSpPr>
          <p:cNvPr name="TextBox 3" id="3"/>
          <p:cNvSpPr txBox="true"/>
          <p:nvPr/>
        </p:nvSpPr>
        <p:spPr>
          <a:xfrm rot="0">
            <a:off x="2352050" y="2982839"/>
            <a:ext cx="14686373" cy="4781550"/>
          </a:xfrm>
          <a:prstGeom prst="rect">
            <a:avLst/>
          </a:prstGeom>
        </p:spPr>
        <p:txBody>
          <a:bodyPr anchor="t" rtlCol="false" tIns="0" lIns="0" bIns="0" rIns="0">
            <a:spAutoFit/>
          </a:bodyPr>
          <a:lstStyle/>
          <a:p>
            <a:pPr algn="just">
              <a:lnSpc>
                <a:spcPts val="4200"/>
              </a:lnSpc>
            </a:pPr>
            <a:r>
              <a:rPr lang="en-US" sz="3000">
                <a:solidFill>
                  <a:srgbClr val="0166C2"/>
                </a:solidFill>
                <a:latin typeface="Nourd"/>
                <a:ea typeface="Nourd"/>
                <a:cs typeface="Nourd"/>
                <a:sym typeface="Nourd"/>
              </a:rPr>
              <a:t>The rapid growth of IoT devices in smart homes has increased connectivity but also introduced serious security risks. Most existing research depends on simulated environments or public datasets, which fail to reflect real-world device interactions and attacks. These systems often lack strong authentication, encrypted communication, and continuous monitoring, making them vulnerable to threats such as replay, flooding, and unauthorized access. Therefore, there is a need to design and implement a real IoT testbed using actual devices and the MQTT protocol to study, detect, and defend against practical security attacks in a smart home environment.</a:t>
            </a: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055121" y="2025338"/>
            <a:ext cx="10177758" cy="854075"/>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SYSTEM REQUIREMENTS</a:t>
            </a:r>
          </a:p>
        </p:txBody>
      </p:sp>
      <p:sp>
        <p:nvSpPr>
          <p:cNvPr name="TextBox 3" id="3"/>
          <p:cNvSpPr txBox="true"/>
          <p:nvPr/>
        </p:nvSpPr>
        <p:spPr>
          <a:xfrm rot="0">
            <a:off x="2033612" y="3740225"/>
            <a:ext cx="14220776" cy="4695825"/>
          </a:xfrm>
          <a:prstGeom prst="rect">
            <a:avLst/>
          </a:prstGeom>
        </p:spPr>
        <p:txBody>
          <a:bodyPr anchor="t" rtlCol="false" tIns="0" lIns="0" bIns="0" rIns="0">
            <a:spAutoFit/>
          </a:bodyPr>
          <a:lstStyle/>
          <a:p>
            <a:pPr algn="just">
              <a:lnSpc>
                <a:spcPts val="4199"/>
              </a:lnSpc>
              <a:spcBef>
                <a:spcPct val="0"/>
              </a:spcBef>
            </a:pPr>
            <a:r>
              <a:rPr lang="en-US" b="true" sz="2999" spc="374">
                <a:solidFill>
                  <a:srgbClr val="0166C2"/>
                </a:solidFill>
                <a:latin typeface="Nourd Bold"/>
                <a:ea typeface="Nourd Bold"/>
                <a:cs typeface="Nourd Bold"/>
                <a:sym typeface="Nourd Bold"/>
              </a:rPr>
              <a:t>1. Hardware Requirements</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Laptop/PC (Windows/Linux/macOS) with Wi-Fi (acts as MQTT broker, capture, ML).</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ESP32 boards × 2 (publisher, subscriber).</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Smart bulb (Tuya/Havells/Glamax) SHOULD paired to Wi-Fi/app.</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USB data cables × 2 (for flashing ESP32 and serial logs).</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Stable Wi-Fi / Mobile hotspot (2.4 GHz; same network for all devices).</a:t>
            </a: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200985" y="2219465"/>
            <a:ext cx="9886029" cy="1739900"/>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SYSTEM REQUIREMENTS</a:t>
            </a:r>
          </a:p>
          <a:p>
            <a:pPr algn="ctr">
              <a:lnSpc>
                <a:spcPts val="7000"/>
              </a:lnSpc>
            </a:pPr>
          </a:p>
        </p:txBody>
      </p:sp>
      <p:sp>
        <p:nvSpPr>
          <p:cNvPr name="TextBox 3" id="3"/>
          <p:cNvSpPr txBox="true"/>
          <p:nvPr/>
        </p:nvSpPr>
        <p:spPr>
          <a:xfrm rot="0">
            <a:off x="1028700" y="3706865"/>
            <a:ext cx="16230600" cy="4171950"/>
          </a:xfrm>
          <a:prstGeom prst="rect">
            <a:avLst/>
          </a:prstGeom>
        </p:spPr>
        <p:txBody>
          <a:bodyPr anchor="t" rtlCol="false" tIns="0" lIns="0" bIns="0" rIns="0">
            <a:spAutoFit/>
          </a:bodyPr>
          <a:lstStyle/>
          <a:p>
            <a:pPr algn="just">
              <a:lnSpc>
                <a:spcPts val="4199"/>
              </a:lnSpc>
              <a:spcBef>
                <a:spcPct val="0"/>
              </a:spcBef>
            </a:pPr>
            <a:r>
              <a:rPr lang="en-US" b="true" sz="2999" spc="374">
                <a:solidFill>
                  <a:srgbClr val="0166C2"/>
                </a:solidFill>
                <a:latin typeface="Nourd Bold"/>
                <a:ea typeface="Nourd Bold"/>
                <a:cs typeface="Nourd Bold"/>
                <a:sym typeface="Nourd Bold"/>
              </a:rPr>
              <a:t>2</a:t>
            </a:r>
            <a:r>
              <a:rPr lang="en-US" b="true" sz="2999" spc="374">
                <a:solidFill>
                  <a:srgbClr val="0166C2"/>
                </a:solidFill>
                <a:latin typeface="Nourd Bold"/>
                <a:ea typeface="Nourd Bold"/>
                <a:cs typeface="Nourd Bold"/>
                <a:sym typeface="Nourd Bold"/>
              </a:rPr>
              <a:t>. </a:t>
            </a:r>
            <a:r>
              <a:rPr lang="en-US" b="true" sz="2999" spc="374">
                <a:solidFill>
                  <a:srgbClr val="0166C2"/>
                </a:solidFill>
                <a:latin typeface="Nourd Bold"/>
                <a:ea typeface="Nourd Bold"/>
                <a:cs typeface="Nourd Bold"/>
                <a:sym typeface="Nourd Bold"/>
              </a:rPr>
              <a:t>Software Requirements </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Arduino IDE (ESP32 core + PubSubClient library).</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M</a:t>
            </a:r>
            <a:r>
              <a:rPr lang="en-US" sz="2999" spc="374">
                <a:solidFill>
                  <a:srgbClr val="0166C2"/>
                </a:solidFill>
                <a:latin typeface="Nourd"/>
                <a:ea typeface="Nourd"/>
                <a:cs typeface="Nourd"/>
                <a:sym typeface="Nourd"/>
              </a:rPr>
              <a:t>osquitto (MQTT broker + clients mosquitto_pub, mosquitto_sub).</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Wireshark (includes tshark for command-line capture).</a:t>
            </a:r>
          </a:p>
          <a:p>
            <a:pPr algn="just" marL="647697" indent="-323848" lvl="1">
              <a:lnSpc>
                <a:spcPts val="4199"/>
              </a:lnSpc>
              <a:spcBef>
                <a:spcPct val="0"/>
              </a:spcBef>
              <a:buFont typeface="Arial"/>
              <a:buChar char="•"/>
            </a:pPr>
            <a:r>
              <a:rPr lang="en-US" sz="2999" spc="374">
                <a:solidFill>
                  <a:srgbClr val="0166C2"/>
                </a:solidFill>
                <a:latin typeface="Nourd"/>
                <a:ea typeface="Nourd"/>
                <a:cs typeface="Nourd"/>
                <a:sym typeface="Nourd"/>
              </a:rPr>
              <a:t>Python 3.9+ with: paho-mqtt (MQTT client),pandas, scikit-learn, joblib (feature extraction + ML)</a:t>
            </a:r>
          </a:p>
          <a:p>
            <a:pPr algn="just">
              <a:lnSpc>
                <a:spcPts val="4199"/>
              </a:lnSpc>
              <a:spcBef>
                <a:spcPct val="0"/>
              </a:spcBef>
            </a:pPr>
          </a:p>
          <a:p>
            <a:pPr algn="just">
              <a:lnSpc>
                <a:spcPts val="4199"/>
              </a:lnSpc>
              <a:spcBef>
                <a:spcPct val="0"/>
              </a:spcBef>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638029" y="2466106"/>
            <a:ext cx="17011941" cy="691515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166C2"/>
                </a:solidFill>
                <a:latin typeface="Nourd"/>
                <a:ea typeface="Nourd"/>
                <a:cs typeface="Nourd"/>
                <a:sym typeface="Nourd"/>
              </a:rPr>
              <a:t>To design and implement a real smart home IoT environment using IoT devices such as ESP32 and a smart bulb communicating over Wi-Fi.</a:t>
            </a:r>
          </a:p>
          <a:p>
            <a:pPr algn="just" marL="647700" indent="-323850" lvl="1">
              <a:lnSpc>
                <a:spcPts val="4200"/>
              </a:lnSpc>
              <a:buFont typeface="Arial"/>
              <a:buChar char="•"/>
            </a:pPr>
            <a:r>
              <a:rPr lang="en-US" sz="3000">
                <a:solidFill>
                  <a:srgbClr val="0166C2"/>
                </a:solidFill>
                <a:latin typeface="Nourd"/>
                <a:ea typeface="Nourd"/>
                <a:cs typeface="Nourd"/>
                <a:sym typeface="Nourd"/>
              </a:rPr>
              <a:t>To capture and analyze normal network traffic generated by IoT devices using monitoring tools such as Wireshark.</a:t>
            </a:r>
          </a:p>
          <a:p>
            <a:pPr algn="just" marL="647700" indent="-323850" lvl="1">
              <a:lnSpc>
                <a:spcPts val="4200"/>
              </a:lnSpc>
              <a:buFont typeface="Arial"/>
              <a:buChar char="•"/>
            </a:pPr>
            <a:r>
              <a:rPr lang="en-US" sz="3000">
                <a:solidFill>
                  <a:srgbClr val="0166C2"/>
                </a:solidFill>
                <a:latin typeface="Nourd"/>
                <a:ea typeface="Nourd"/>
                <a:cs typeface="Nourd"/>
                <a:sym typeface="Nourd"/>
              </a:rPr>
              <a:t>To simulate different network-based attacks on the IoT communication and collect corresponding attack traffic data.</a:t>
            </a:r>
          </a:p>
          <a:p>
            <a:pPr algn="just" marL="647700" indent="-323850" lvl="1">
              <a:lnSpc>
                <a:spcPts val="4200"/>
              </a:lnSpc>
              <a:buFont typeface="Arial"/>
              <a:buChar char="•"/>
            </a:pPr>
            <a:r>
              <a:rPr lang="en-US" sz="3000">
                <a:solidFill>
                  <a:srgbClr val="0166C2"/>
                </a:solidFill>
                <a:latin typeface="Nourd"/>
                <a:ea typeface="Nourd"/>
                <a:cs typeface="Nourd"/>
                <a:sym typeface="Nourd"/>
              </a:rPr>
              <a:t>To preprocess and analyze both normal and attack traffic datasets for behavioral pattern identification.</a:t>
            </a:r>
          </a:p>
          <a:p>
            <a:pPr algn="just" marL="647700" indent="-323850" lvl="1">
              <a:lnSpc>
                <a:spcPts val="4200"/>
              </a:lnSpc>
              <a:buFont typeface="Arial"/>
              <a:buChar char="•"/>
            </a:pPr>
            <a:r>
              <a:rPr lang="en-US" sz="3000">
                <a:solidFill>
                  <a:srgbClr val="0166C2"/>
                </a:solidFill>
                <a:latin typeface="Nourd"/>
                <a:ea typeface="Nourd"/>
                <a:cs typeface="Nourd"/>
                <a:sym typeface="Nourd"/>
              </a:rPr>
              <a:t>To develop and evaluate an anomaly-based intrusion detection system using machine learning models to distinguish normal and malicious IoT traffic.</a:t>
            </a:r>
          </a:p>
          <a:p>
            <a:pPr algn="just" marL="647700" indent="-323850" lvl="1">
              <a:lnSpc>
                <a:spcPts val="4200"/>
              </a:lnSpc>
              <a:buFont typeface="Arial"/>
              <a:buChar char="•"/>
            </a:pPr>
            <a:r>
              <a:rPr lang="en-US" sz="3000">
                <a:solidFill>
                  <a:srgbClr val="0166C2"/>
                </a:solidFill>
                <a:latin typeface="Nourd"/>
                <a:ea typeface="Nourd"/>
                <a:cs typeface="Nourd"/>
                <a:sym typeface="Nourd"/>
              </a:rPr>
              <a:t>To extend the system by integrating automated response and alert mechanisms for real-time IoT threat mitigation.</a:t>
            </a:r>
          </a:p>
          <a:p>
            <a:pPr algn="just">
              <a:lnSpc>
                <a:spcPts val="4200"/>
              </a:lnSpc>
            </a:pPr>
          </a:p>
        </p:txBody>
      </p:sp>
      <p:sp>
        <p:nvSpPr>
          <p:cNvPr name="TextBox 3" id="3"/>
          <p:cNvSpPr txBox="true"/>
          <p:nvPr/>
        </p:nvSpPr>
        <p:spPr>
          <a:xfrm rot="0">
            <a:off x="6331987" y="1591141"/>
            <a:ext cx="5624027" cy="1778505"/>
          </a:xfrm>
          <a:prstGeom prst="rect">
            <a:avLst/>
          </a:prstGeom>
        </p:spPr>
        <p:txBody>
          <a:bodyPr anchor="t" rtlCol="false" tIns="0" lIns="0" bIns="0" rIns="0">
            <a:spAutoFit/>
          </a:bodyPr>
          <a:lstStyle/>
          <a:p>
            <a:pPr algn="ctr">
              <a:lnSpc>
                <a:spcPts val="7196"/>
              </a:lnSpc>
            </a:pPr>
            <a:r>
              <a:rPr lang="en-US" b="true" sz="5140">
                <a:solidFill>
                  <a:srgbClr val="0166C2"/>
                </a:solidFill>
                <a:latin typeface="Luktao Bold"/>
                <a:ea typeface="Luktao Bold"/>
                <a:cs typeface="Luktao Bold"/>
                <a:sym typeface="Luktao Bold"/>
              </a:rPr>
              <a:t>OBJECTIVES</a:t>
            </a:r>
          </a:p>
          <a:p>
            <a:pPr algn="ctr">
              <a:lnSpc>
                <a:spcPts val="7196"/>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6308701" y="1028700"/>
            <a:ext cx="6445396" cy="8768200"/>
          </a:xfrm>
          <a:custGeom>
            <a:avLst/>
            <a:gdLst/>
            <a:ahLst/>
            <a:cxnLst/>
            <a:rect r="r" b="b" t="t" l="l"/>
            <a:pathLst>
              <a:path h="8768200" w="6445396">
                <a:moveTo>
                  <a:pt x="0" y="0"/>
                </a:moveTo>
                <a:lnTo>
                  <a:pt x="6445396" y="0"/>
                </a:lnTo>
                <a:lnTo>
                  <a:pt x="6445396" y="8768200"/>
                </a:lnTo>
                <a:lnTo>
                  <a:pt x="0" y="8768200"/>
                </a:lnTo>
                <a:lnTo>
                  <a:pt x="0" y="0"/>
                </a:lnTo>
                <a:close/>
              </a:path>
            </a:pathLst>
          </a:custGeom>
          <a:blipFill>
            <a:blip r:embed="rId2"/>
            <a:stretch>
              <a:fillRect l="0" t="0" r="0" b="0"/>
            </a:stretch>
          </a:blipFill>
        </p:spPr>
      </p:sp>
      <p:sp>
        <p:nvSpPr>
          <p:cNvPr name="TextBox 3" id="3"/>
          <p:cNvSpPr txBox="true"/>
          <p:nvPr/>
        </p:nvSpPr>
        <p:spPr>
          <a:xfrm rot="0">
            <a:off x="3572329" y="66138"/>
            <a:ext cx="12716611" cy="2379873"/>
          </a:xfrm>
          <a:prstGeom prst="rect">
            <a:avLst/>
          </a:prstGeom>
        </p:spPr>
        <p:txBody>
          <a:bodyPr anchor="t" rtlCol="false" tIns="0" lIns="0" bIns="0" rIns="0">
            <a:spAutoFit/>
          </a:bodyPr>
          <a:lstStyle/>
          <a:p>
            <a:pPr algn="ctr">
              <a:lnSpc>
                <a:spcPts val="9525"/>
              </a:lnSpc>
            </a:pPr>
            <a:r>
              <a:rPr lang="en-US" b="true" sz="6804">
                <a:solidFill>
                  <a:srgbClr val="0166C2"/>
                </a:solidFill>
                <a:latin typeface="Luktao Bold"/>
                <a:ea typeface="Luktao Bold"/>
                <a:cs typeface="Luktao Bold"/>
                <a:sym typeface="Luktao Bold"/>
              </a:rPr>
              <a:t>SYSTEM ARCHITECTURE</a:t>
            </a:r>
          </a:p>
          <a:p>
            <a:pPr algn="ctr">
              <a:lnSpc>
                <a:spcPts val="9525"/>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7" id="7"/>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5399788" y="1478866"/>
            <a:ext cx="7488424" cy="1927016"/>
          </a:xfrm>
          <a:prstGeom prst="rect">
            <a:avLst/>
          </a:prstGeom>
        </p:spPr>
        <p:txBody>
          <a:bodyPr anchor="t" rtlCol="false" tIns="0" lIns="0" bIns="0" rIns="0">
            <a:spAutoFit/>
          </a:bodyPr>
          <a:lstStyle/>
          <a:p>
            <a:pPr algn="ctr">
              <a:lnSpc>
                <a:spcPts val="7706"/>
              </a:lnSpc>
            </a:pPr>
            <a:r>
              <a:rPr lang="en-US" b="true" sz="5504">
                <a:solidFill>
                  <a:srgbClr val="0166C2"/>
                </a:solidFill>
                <a:latin typeface="Luktao Bold"/>
                <a:ea typeface="Luktao Bold"/>
                <a:cs typeface="Luktao Bold"/>
                <a:sym typeface="Luktao Bold"/>
              </a:rPr>
              <a:t>METHODOLOGY </a:t>
            </a:r>
          </a:p>
          <a:p>
            <a:pPr algn="ctr">
              <a:lnSpc>
                <a:spcPts val="7706"/>
              </a:lnSpc>
            </a:pPr>
          </a:p>
        </p:txBody>
      </p:sp>
      <p:sp>
        <p:nvSpPr>
          <p:cNvPr name="TextBox 3" id="3"/>
          <p:cNvSpPr txBox="true"/>
          <p:nvPr/>
        </p:nvSpPr>
        <p:spPr>
          <a:xfrm rot="0">
            <a:off x="1888860" y="2741826"/>
            <a:ext cx="12934126" cy="6915150"/>
          </a:xfrm>
          <a:prstGeom prst="rect">
            <a:avLst/>
          </a:prstGeom>
        </p:spPr>
        <p:txBody>
          <a:bodyPr anchor="t" rtlCol="false" tIns="0" lIns="0" bIns="0" rIns="0">
            <a:spAutoFit/>
          </a:bodyPr>
          <a:lstStyle/>
          <a:p>
            <a:pPr algn="just">
              <a:lnSpc>
                <a:spcPts val="4200"/>
              </a:lnSpc>
            </a:pPr>
            <a:r>
              <a:rPr lang="en-US" b="true" sz="3000" spc="-84">
                <a:solidFill>
                  <a:srgbClr val="0166C2"/>
                </a:solidFill>
                <a:latin typeface="Nourd Bold"/>
                <a:ea typeface="Nourd Bold"/>
                <a:cs typeface="Nourd Bold"/>
                <a:sym typeface="Nourd Bold"/>
              </a:rPr>
              <a:t>1. Planning and System Setup</a:t>
            </a:r>
          </a:p>
          <a:p>
            <a:pPr algn="just" marL="647700" indent="-323850" lvl="1">
              <a:lnSpc>
                <a:spcPts val="4200"/>
              </a:lnSpc>
              <a:buFont typeface="Arial"/>
              <a:buChar char="•"/>
            </a:pPr>
            <a:r>
              <a:rPr lang="en-US" sz="3000" spc="-84">
                <a:solidFill>
                  <a:srgbClr val="0166C2"/>
                </a:solidFill>
                <a:latin typeface="Nourd"/>
                <a:ea typeface="Nourd"/>
                <a:cs typeface="Nourd"/>
                <a:sym typeface="Nourd"/>
              </a:rPr>
              <a:t>Define the smart home IoT environment</a:t>
            </a:r>
            <a:r>
              <a:rPr lang="en-US" sz="3000" spc="-84">
                <a:solidFill>
                  <a:srgbClr val="0166C2"/>
                </a:solidFill>
                <a:latin typeface="Nourd"/>
                <a:ea typeface="Nourd"/>
                <a:cs typeface="Nourd"/>
                <a:sym typeface="Nourd"/>
              </a:rPr>
              <a:t> u</a:t>
            </a:r>
            <a:r>
              <a:rPr lang="en-US" sz="3000" spc="-84">
                <a:solidFill>
                  <a:srgbClr val="0166C2"/>
                </a:solidFill>
                <a:latin typeface="Nourd"/>
                <a:ea typeface="Nourd"/>
                <a:cs typeface="Nourd"/>
                <a:sym typeface="Nourd"/>
              </a:rPr>
              <a:t>sing a smart bulb and ESP32 devices.</a:t>
            </a:r>
          </a:p>
          <a:p>
            <a:pPr algn="just" marL="647700" indent="-323850" lvl="1">
              <a:lnSpc>
                <a:spcPts val="4200"/>
              </a:lnSpc>
              <a:buFont typeface="Arial"/>
              <a:buChar char="•"/>
            </a:pPr>
            <a:r>
              <a:rPr lang="en-US" sz="3000" spc="-84">
                <a:solidFill>
                  <a:srgbClr val="0166C2"/>
                </a:solidFill>
                <a:latin typeface="Nourd"/>
                <a:ea typeface="Nourd"/>
                <a:cs typeface="Nourd"/>
                <a:sym typeface="Nourd"/>
              </a:rPr>
              <a:t>Select Wi-Fi network and MQTT protocol for communication.</a:t>
            </a:r>
          </a:p>
          <a:p>
            <a:pPr algn="just" marL="647700" indent="-323850" lvl="1">
              <a:lnSpc>
                <a:spcPts val="4200"/>
              </a:lnSpc>
              <a:buFont typeface="Arial"/>
              <a:buChar char="•"/>
            </a:pPr>
            <a:r>
              <a:rPr lang="en-US" sz="3000" spc="-84">
                <a:solidFill>
                  <a:srgbClr val="0166C2"/>
                </a:solidFill>
                <a:latin typeface="Nourd"/>
                <a:ea typeface="Nourd"/>
                <a:cs typeface="Nourd"/>
                <a:sym typeface="Nourd"/>
              </a:rPr>
              <a:t>Insta</a:t>
            </a:r>
            <a:r>
              <a:rPr lang="en-US" sz="3000" spc="-84">
                <a:solidFill>
                  <a:srgbClr val="0166C2"/>
                </a:solidFill>
                <a:latin typeface="Nourd"/>
                <a:ea typeface="Nourd"/>
                <a:cs typeface="Nourd"/>
                <a:sym typeface="Nourd"/>
              </a:rPr>
              <a:t>ll and configure required tools such as MQTT broker and Wireshark.</a:t>
            </a:r>
          </a:p>
          <a:p>
            <a:pPr algn="just" marL="647700" indent="-323850" lvl="1">
              <a:lnSpc>
                <a:spcPts val="4200"/>
              </a:lnSpc>
              <a:buFont typeface="Arial"/>
              <a:buChar char="•"/>
            </a:pPr>
            <a:r>
              <a:rPr lang="en-US" sz="3000" spc="-84">
                <a:solidFill>
                  <a:srgbClr val="0166C2"/>
                </a:solidFill>
                <a:latin typeface="Nourd"/>
                <a:ea typeface="Nourd"/>
                <a:cs typeface="Nourd"/>
                <a:sym typeface="Nourd"/>
              </a:rPr>
              <a:t>Establish overall system architecture for data collection and analysis.</a:t>
            </a:r>
          </a:p>
          <a:p>
            <a:pPr algn="just">
              <a:lnSpc>
                <a:spcPts val="4200"/>
              </a:lnSpc>
            </a:pPr>
          </a:p>
          <a:p>
            <a:pPr algn="just">
              <a:lnSpc>
                <a:spcPts val="4200"/>
              </a:lnSpc>
            </a:pPr>
            <a:r>
              <a:rPr lang="en-US" b="true" sz="3000" spc="-84">
                <a:solidFill>
                  <a:srgbClr val="0166C2"/>
                </a:solidFill>
                <a:latin typeface="Nourd Bold"/>
                <a:ea typeface="Nourd Bold"/>
                <a:cs typeface="Nourd Bold"/>
                <a:sym typeface="Nourd Bold"/>
              </a:rPr>
              <a:t>2. IoT Device Configuration</a:t>
            </a:r>
          </a:p>
          <a:p>
            <a:pPr algn="just" marL="647700" indent="-323850" lvl="1">
              <a:lnSpc>
                <a:spcPts val="4200"/>
              </a:lnSpc>
              <a:buFont typeface="Arial"/>
              <a:buChar char="•"/>
            </a:pPr>
            <a:r>
              <a:rPr lang="en-US" sz="3000" spc="-84">
                <a:solidFill>
                  <a:srgbClr val="0166C2"/>
                </a:solidFill>
                <a:latin typeface="Nourd"/>
                <a:ea typeface="Nourd"/>
                <a:cs typeface="Nourd"/>
                <a:sym typeface="Nourd"/>
              </a:rPr>
              <a:t>Connect ESP32 devices and smart bulb to the same Wi-Fi network.</a:t>
            </a:r>
          </a:p>
          <a:p>
            <a:pPr algn="just" marL="647700" indent="-323850" lvl="1">
              <a:lnSpc>
                <a:spcPts val="4200"/>
              </a:lnSpc>
              <a:buFont typeface="Arial"/>
              <a:buChar char="•"/>
            </a:pPr>
            <a:r>
              <a:rPr lang="en-US" sz="3000" spc="-84">
                <a:solidFill>
                  <a:srgbClr val="0166C2"/>
                </a:solidFill>
                <a:latin typeface="Nourd"/>
                <a:ea typeface="Nourd"/>
                <a:cs typeface="Nourd"/>
                <a:sym typeface="Nourd"/>
              </a:rPr>
              <a:t>Configure one E</a:t>
            </a:r>
            <a:r>
              <a:rPr lang="en-US" sz="3000" spc="-84">
                <a:solidFill>
                  <a:srgbClr val="0166C2"/>
                </a:solidFill>
                <a:latin typeface="Nourd"/>
                <a:ea typeface="Nourd"/>
                <a:cs typeface="Nourd"/>
                <a:sym typeface="Nourd"/>
              </a:rPr>
              <a:t>SP32 as</a:t>
            </a:r>
            <a:r>
              <a:rPr lang="en-US" sz="3000" spc="-84">
                <a:solidFill>
                  <a:srgbClr val="0166C2"/>
                </a:solidFill>
                <a:latin typeface="Nourd"/>
                <a:ea typeface="Nourd"/>
                <a:cs typeface="Nourd"/>
                <a:sym typeface="Nourd"/>
              </a:rPr>
              <a:t> MQTT publisher and another as subscriber.</a:t>
            </a:r>
          </a:p>
          <a:p>
            <a:pPr algn="just" marL="647700" indent="-323850" lvl="1">
              <a:lnSpc>
                <a:spcPts val="4200"/>
              </a:lnSpc>
              <a:buFont typeface="Arial"/>
              <a:buChar char="•"/>
            </a:pPr>
            <a:r>
              <a:rPr lang="en-US" sz="3000" spc="-84">
                <a:solidFill>
                  <a:srgbClr val="0166C2"/>
                </a:solidFill>
                <a:latin typeface="Nourd"/>
                <a:ea typeface="Nourd"/>
                <a:cs typeface="Nourd"/>
                <a:sym typeface="Nourd"/>
              </a:rPr>
              <a:t>Enable communication through the MQTT broker.</a:t>
            </a:r>
          </a:p>
          <a:p>
            <a:pPr algn="just" marL="647700" indent="-323850" lvl="1">
              <a:lnSpc>
                <a:spcPts val="4200"/>
              </a:lnSpc>
              <a:buFont typeface="Arial"/>
              <a:buChar char="•"/>
            </a:pPr>
            <a:r>
              <a:rPr lang="en-US" sz="3000" spc="-84">
                <a:solidFill>
                  <a:srgbClr val="0166C2"/>
                </a:solidFill>
                <a:latin typeface="Nourd"/>
                <a:ea typeface="Nourd"/>
                <a:cs typeface="Nourd"/>
                <a:sym typeface="Nourd"/>
              </a:rPr>
              <a:t>Ensure continuous data transmission between devices.</a:t>
            </a:r>
          </a:p>
          <a:p>
            <a:pPr algn="just">
              <a:lnSpc>
                <a:spcPts val="4200"/>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2685014" y="1682112"/>
            <a:ext cx="12418767" cy="1898650"/>
          </a:xfrm>
          <a:prstGeom prst="rect">
            <a:avLst/>
          </a:prstGeom>
        </p:spPr>
        <p:txBody>
          <a:bodyPr anchor="t" rtlCol="false" tIns="0" lIns="0" bIns="0" rIns="0">
            <a:spAutoFit/>
          </a:bodyPr>
          <a:lstStyle/>
          <a:p>
            <a:pPr algn="ctr">
              <a:lnSpc>
                <a:spcPts val="7699"/>
              </a:lnSpc>
            </a:pPr>
            <a:r>
              <a:rPr lang="en-US" b="true" sz="5499">
                <a:solidFill>
                  <a:srgbClr val="0166C2"/>
                </a:solidFill>
                <a:latin typeface="Luktao Bold"/>
                <a:ea typeface="Luktao Bold"/>
                <a:cs typeface="Luktao Bold"/>
                <a:sym typeface="Luktao Bold"/>
              </a:rPr>
              <a:t>METHODOLOGY </a:t>
            </a:r>
          </a:p>
          <a:p>
            <a:pPr algn="ctr">
              <a:lnSpc>
                <a:spcPts val="7699"/>
              </a:lnSpc>
            </a:pPr>
          </a:p>
        </p:txBody>
      </p:sp>
      <p:sp>
        <p:nvSpPr>
          <p:cNvPr name="TextBox 3" id="3"/>
          <p:cNvSpPr txBox="true"/>
          <p:nvPr/>
        </p:nvSpPr>
        <p:spPr>
          <a:xfrm rot="0">
            <a:off x="1888860" y="2657454"/>
            <a:ext cx="14351471" cy="7425759"/>
          </a:xfrm>
          <a:prstGeom prst="rect">
            <a:avLst/>
          </a:prstGeom>
        </p:spPr>
        <p:txBody>
          <a:bodyPr anchor="t" rtlCol="false" tIns="0" lIns="0" bIns="0" rIns="0">
            <a:spAutoFit/>
          </a:bodyPr>
          <a:lstStyle/>
          <a:p>
            <a:pPr algn="just">
              <a:lnSpc>
                <a:spcPts val="3923"/>
              </a:lnSpc>
            </a:pPr>
            <a:r>
              <a:rPr lang="en-US" b="true" sz="2995" spc="-83">
                <a:solidFill>
                  <a:srgbClr val="0166C2"/>
                </a:solidFill>
                <a:latin typeface="Nourd Bold"/>
                <a:ea typeface="Nourd Bold"/>
                <a:cs typeface="Nourd Bold"/>
                <a:sym typeface="Nourd Bold"/>
              </a:rPr>
              <a:t>3</a:t>
            </a:r>
            <a:r>
              <a:rPr lang="en-US" b="true" sz="2995" spc="-83">
                <a:solidFill>
                  <a:srgbClr val="0166C2"/>
                </a:solidFill>
                <a:latin typeface="Nourd Bold"/>
                <a:ea typeface="Nourd Bold"/>
                <a:cs typeface="Nourd Bold"/>
                <a:sym typeface="Nourd Bold"/>
              </a:rPr>
              <a:t>. Traffic Collection (Normal and Attack)</a:t>
            </a:r>
          </a:p>
          <a:p>
            <a:pPr algn="just" marL="646626" indent="-323313" lvl="1">
              <a:lnSpc>
                <a:spcPts val="3923"/>
              </a:lnSpc>
              <a:buFont typeface="Arial"/>
              <a:buChar char="•"/>
            </a:pPr>
            <a:r>
              <a:rPr lang="en-US" sz="2995" spc="-83">
                <a:solidFill>
                  <a:srgbClr val="0166C2"/>
                </a:solidFill>
                <a:latin typeface="Nourd"/>
                <a:ea typeface="Nourd"/>
                <a:cs typeface="Nourd"/>
                <a:sym typeface="Nourd"/>
              </a:rPr>
              <a:t>Operate devices under normal conditions and capture baseline traffic using Wireshark.</a:t>
            </a:r>
          </a:p>
          <a:p>
            <a:pPr algn="just" marL="646626" indent="-323313" lvl="1">
              <a:lnSpc>
                <a:spcPts val="3923"/>
              </a:lnSpc>
              <a:buFont typeface="Arial"/>
              <a:buChar char="•"/>
            </a:pPr>
            <a:r>
              <a:rPr lang="en-US" sz="2995" spc="-83">
                <a:solidFill>
                  <a:srgbClr val="0166C2"/>
                </a:solidFill>
                <a:latin typeface="Nourd"/>
                <a:ea typeface="Nourd"/>
                <a:cs typeface="Nourd"/>
                <a:sym typeface="Nourd"/>
              </a:rPr>
              <a:t>Perfo</a:t>
            </a:r>
            <a:r>
              <a:rPr lang="en-US" sz="2995" spc="-83">
                <a:solidFill>
                  <a:srgbClr val="0166C2"/>
                </a:solidFill>
                <a:latin typeface="Nourd"/>
                <a:ea typeface="Nourd"/>
                <a:cs typeface="Nourd"/>
                <a:sym typeface="Nourd"/>
              </a:rPr>
              <a:t>rm controlled attacks such as replay, brute force, and MITM.</a:t>
            </a:r>
          </a:p>
          <a:p>
            <a:pPr algn="just" marL="646626" indent="-323313" lvl="1">
              <a:lnSpc>
                <a:spcPts val="3923"/>
              </a:lnSpc>
              <a:buFont typeface="Arial"/>
              <a:buChar char="•"/>
            </a:pPr>
            <a:r>
              <a:rPr lang="en-US" sz="2995" spc="-83">
                <a:solidFill>
                  <a:srgbClr val="0166C2"/>
                </a:solidFill>
                <a:latin typeface="Nourd"/>
                <a:ea typeface="Nourd"/>
                <a:cs typeface="Nourd"/>
                <a:sym typeface="Nourd"/>
              </a:rPr>
              <a:t>C</a:t>
            </a:r>
            <a:r>
              <a:rPr lang="en-US" sz="2995" spc="-83">
                <a:solidFill>
                  <a:srgbClr val="0166C2"/>
                </a:solidFill>
                <a:latin typeface="Nourd"/>
                <a:ea typeface="Nourd"/>
                <a:cs typeface="Nourd"/>
                <a:sym typeface="Nourd"/>
              </a:rPr>
              <a:t>apture network traffic during attack scenarios.</a:t>
            </a:r>
          </a:p>
          <a:p>
            <a:pPr algn="just" marL="646626" indent="-323313" lvl="1">
              <a:lnSpc>
                <a:spcPts val="3923"/>
              </a:lnSpc>
              <a:buFont typeface="Arial"/>
              <a:buChar char="•"/>
            </a:pPr>
            <a:r>
              <a:rPr lang="en-US" sz="2995" spc="-83">
                <a:solidFill>
                  <a:srgbClr val="0166C2"/>
                </a:solidFill>
                <a:latin typeface="Nourd"/>
                <a:ea typeface="Nourd"/>
                <a:cs typeface="Nourd"/>
                <a:sym typeface="Nourd"/>
              </a:rPr>
              <a:t>Sto</a:t>
            </a:r>
            <a:r>
              <a:rPr lang="en-US" sz="2995" spc="-83">
                <a:solidFill>
                  <a:srgbClr val="0166C2"/>
                </a:solidFill>
                <a:latin typeface="Nourd"/>
                <a:ea typeface="Nourd"/>
                <a:cs typeface="Nourd"/>
                <a:sym typeface="Nourd"/>
              </a:rPr>
              <a:t>re collected data as labeled normal and attack datasets</a:t>
            </a:r>
            <a:r>
              <a:rPr lang="en-US" b="true" sz="2995" spc="-83">
                <a:solidFill>
                  <a:srgbClr val="0166C2"/>
                </a:solidFill>
                <a:latin typeface="Nourd Bold"/>
                <a:ea typeface="Nourd Bold"/>
                <a:cs typeface="Nourd Bold"/>
                <a:sym typeface="Nourd Bold"/>
              </a:rPr>
              <a:t>.</a:t>
            </a:r>
          </a:p>
          <a:p>
            <a:pPr algn="just">
              <a:lnSpc>
                <a:spcPts val="3923"/>
              </a:lnSpc>
            </a:pPr>
          </a:p>
          <a:p>
            <a:pPr algn="just">
              <a:lnSpc>
                <a:spcPts val="3923"/>
              </a:lnSpc>
            </a:pPr>
            <a:r>
              <a:rPr lang="en-US" b="true" sz="2995" spc="-83">
                <a:solidFill>
                  <a:srgbClr val="0166C2"/>
                </a:solidFill>
                <a:latin typeface="Nourd Bold"/>
                <a:ea typeface="Nourd Bold"/>
                <a:cs typeface="Nourd Bold"/>
                <a:sym typeface="Nourd Bold"/>
              </a:rPr>
              <a:t>4</a:t>
            </a:r>
            <a:r>
              <a:rPr lang="en-US" b="true" sz="2995" spc="-83">
                <a:solidFill>
                  <a:srgbClr val="0166C2"/>
                </a:solidFill>
                <a:latin typeface="Nourd Bold"/>
                <a:ea typeface="Nourd Bold"/>
                <a:cs typeface="Nourd Bold"/>
                <a:sym typeface="Nourd Bold"/>
              </a:rPr>
              <a:t>. Data Preprocessing and Feature Engineering</a:t>
            </a:r>
          </a:p>
          <a:p>
            <a:pPr algn="just" marL="646626" indent="-323313" lvl="1">
              <a:lnSpc>
                <a:spcPts val="3923"/>
              </a:lnSpc>
              <a:buFont typeface="Arial"/>
              <a:buChar char="•"/>
            </a:pPr>
            <a:r>
              <a:rPr lang="en-US" sz="2995" spc="-83">
                <a:solidFill>
                  <a:srgbClr val="0166C2"/>
                </a:solidFill>
                <a:latin typeface="Nourd"/>
                <a:ea typeface="Nourd"/>
                <a:cs typeface="Nourd"/>
                <a:sym typeface="Nourd"/>
              </a:rPr>
              <a:t>Remove empty and irrelevant features from the dataset.</a:t>
            </a:r>
          </a:p>
          <a:p>
            <a:pPr algn="just" marL="646626" indent="-323313" lvl="1">
              <a:lnSpc>
                <a:spcPts val="3923"/>
              </a:lnSpc>
              <a:buFont typeface="Arial"/>
              <a:buChar char="•"/>
            </a:pPr>
            <a:r>
              <a:rPr lang="en-US" sz="2995" spc="-83">
                <a:solidFill>
                  <a:srgbClr val="0166C2"/>
                </a:solidFill>
                <a:latin typeface="Nourd"/>
                <a:ea typeface="Nourd"/>
                <a:cs typeface="Nourd"/>
                <a:sym typeface="Nourd"/>
              </a:rPr>
              <a:t>Encode</a:t>
            </a:r>
            <a:r>
              <a:rPr lang="en-US" sz="2995" spc="-83" strike="noStrike" u="none">
                <a:solidFill>
                  <a:srgbClr val="0166C2"/>
                </a:solidFill>
                <a:latin typeface="Nourd"/>
                <a:ea typeface="Nourd"/>
                <a:cs typeface="Nourd"/>
                <a:sym typeface="Nourd"/>
              </a:rPr>
              <a:t> categorical features into numerical form.</a:t>
            </a:r>
          </a:p>
          <a:p>
            <a:pPr algn="just" marL="646626" indent="-323313" lvl="1">
              <a:lnSpc>
                <a:spcPts val="3923"/>
              </a:lnSpc>
              <a:buFont typeface="Arial"/>
              <a:buChar char="•"/>
            </a:pPr>
            <a:r>
              <a:rPr lang="en-US" sz="2995" spc="-83" strike="noStrike" u="none">
                <a:solidFill>
                  <a:srgbClr val="0166C2"/>
                </a:solidFill>
                <a:latin typeface="Nourd"/>
                <a:ea typeface="Nourd"/>
                <a:cs typeface="Nourd"/>
                <a:sym typeface="Nourd"/>
              </a:rPr>
              <a:t>Handle missing values using imputation techniques.</a:t>
            </a:r>
          </a:p>
          <a:p>
            <a:pPr algn="just" marL="646626" indent="-323313" lvl="1">
              <a:lnSpc>
                <a:spcPts val="3923"/>
              </a:lnSpc>
              <a:buFont typeface="Arial"/>
              <a:buChar char="•"/>
            </a:pPr>
            <a:r>
              <a:rPr lang="en-US" sz="2995" spc="-83" strike="noStrike" u="none">
                <a:solidFill>
                  <a:srgbClr val="0166C2"/>
                </a:solidFill>
                <a:latin typeface="Nourd"/>
                <a:ea typeface="Nourd"/>
                <a:cs typeface="Nourd"/>
                <a:sym typeface="Nourd"/>
              </a:rPr>
              <a:t>Apply feature scaling using standardization.</a:t>
            </a:r>
          </a:p>
          <a:p>
            <a:pPr algn="just" marL="646626" indent="-323313" lvl="1">
              <a:lnSpc>
                <a:spcPts val="3923"/>
              </a:lnSpc>
              <a:buFont typeface="Arial"/>
              <a:buChar char="•"/>
            </a:pPr>
            <a:r>
              <a:rPr lang="en-US" sz="2995" spc="-83" strike="noStrike" u="none">
                <a:solidFill>
                  <a:srgbClr val="0166C2"/>
                </a:solidFill>
                <a:latin typeface="Nourd"/>
                <a:ea typeface="Nourd"/>
                <a:cs typeface="Nourd"/>
                <a:sym typeface="Nourd"/>
              </a:rPr>
              <a:t>Remove highly correlated features to reduce redundancy.</a:t>
            </a:r>
          </a:p>
          <a:p>
            <a:pPr algn="just" marL="646626" indent="-323313" lvl="1">
              <a:lnSpc>
                <a:spcPts val="3923"/>
              </a:lnSpc>
              <a:buFont typeface="Arial"/>
              <a:buChar char="•"/>
            </a:pPr>
            <a:r>
              <a:rPr lang="en-US" sz="2995" spc="-83" strike="noStrike" u="none">
                <a:solidFill>
                  <a:srgbClr val="0166C2"/>
                </a:solidFill>
                <a:latin typeface="Nourd"/>
                <a:ea typeface="Nourd"/>
                <a:cs typeface="Nourd"/>
                <a:sym typeface="Nourd"/>
              </a:rPr>
              <a:t>Apply PCA for dimensionality reduction.</a:t>
            </a:r>
          </a:p>
          <a:p>
            <a:pPr algn="just" marL="0" indent="0" lvl="0">
              <a:lnSpc>
                <a:spcPts val="3923"/>
              </a:lnSpc>
            </a:pPr>
          </a:p>
        </p:txBody>
      </p:sp>
      <p:sp>
        <p:nvSpPr>
          <p:cNvPr name="Freeform 4" id="4"/>
          <p:cNvSpPr/>
          <p:nvPr/>
        </p:nvSpPr>
        <p:spPr>
          <a:xfrm flipH="false" flipV="false" rot="-2923510">
            <a:off x="-316776" y="93543"/>
            <a:ext cx="2690952" cy="1345476"/>
          </a:xfrm>
          <a:custGeom>
            <a:avLst/>
            <a:gdLst/>
            <a:ahLst/>
            <a:cxnLst/>
            <a:rect r="r" b="b" t="t" l="l"/>
            <a:pathLst>
              <a:path h="1345476" w="2690952">
                <a:moveTo>
                  <a:pt x="0" y="0"/>
                </a:moveTo>
                <a:lnTo>
                  <a:pt x="2690952" y="0"/>
                </a:lnTo>
                <a:lnTo>
                  <a:pt x="2690952" y="1345476"/>
                </a:lnTo>
                <a:lnTo>
                  <a:pt x="0" y="1345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0" y="9796900"/>
            <a:ext cx="18288000" cy="490100"/>
            <a:chOff x="0" y="0"/>
            <a:chExt cx="4816593" cy="129080"/>
          </a:xfrm>
        </p:grpSpPr>
        <p:sp>
          <p:nvSpPr>
            <p:cNvPr name="Freeform 6" id="6"/>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7" id="7"/>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Freeform 9" id="9"/>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4"/>
            <a:stretch>
              <a:fillRect l="0" t="0" r="0" b="0"/>
            </a:stretch>
          </a:blipFill>
        </p:spPr>
      </p:sp>
      <p:sp>
        <p:nvSpPr>
          <p:cNvPr name="TextBox 10" id="10"/>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6421269" y="1911761"/>
            <a:ext cx="5445462" cy="1898650"/>
          </a:xfrm>
          <a:prstGeom prst="rect">
            <a:avLst/>
          </a:prstGeom>
        </p:spPr>
        <p:txBody>
          <a:bodyPr anchor="t" rtlCol="false" tIns="0" lIns="0" bIns="0" rIns="0">
            <a:spAutoFit/>
          </a:bodyPr>
          <a:lstStyle/>
          <a:p>
            <a:pPr algn="ctr">
              <a:lnSpc>
                <a:spcPts val="7699"/>
              </a:lnSpc>
            </a:pPr>
            <a:r>
              <a:rPr lang="en-US" b="true" sz="5499">
                <a:solidFill>
                  <a:srgbClr val="0166C2"/>
                </a:solidFill>
                <a:latin typeface="Luktao Bold"/>
                <a:ea typeface="Luktao Bold"/>
                <a:cs typeface="Luktao Bold"/>
                <a:sym typeface="Luktao Bold"/>
              </a:rPr>
              <a:t>METHODOLOGY </a:t>
            </a:r>
          </a:p>
          <a:p>
            <a:pPr algn="ctr">
              <a:lnSpc>
                <a:spcPts val="7699"/>
              </a:lnSpc>
            </a:pPr>
          </a:p>
        </p:txBody>
      </p:sp>
      <p:sp>
        <p:nvSpPr>
          <p:cNvPr name="TextBox 3" id="3"/>
          <p:cNvSpPr txBox="true"/>
          <p:nvPr/>
        </p:nvSpPr>
        <p:spPr>
          <a:xfrm rot="0">
            <a:off x="1888860" y="3056474"/>
            <a:ext cx="15370440" cy="6930459"/>
          </a:xfrm>
          <a:prstGeom prst="rect">
            <a:avLst/>
          </a:prstGeom>
        </p:spPr>
        <p:txBody>
          <a:bodyPr anchor="t" rtlCol="false" tIns="0" lIns="0" bIns="0" rIns="0">
            <a:spAutoFit/>
          </a:bodyPr>
          <a:lstStyle/>
          <a:p>
            <a:pPr algn="just">
              <a:lnSpc>
                <a:spcPts val="3923"/>
              </a:lnSpc>
            </a:pPr>
            <a:r>
              <a:rPr lang="en-US" b="true" sz="2995" spc="-83">
                <a:solidFill>
                  <a:srgbClr val="0166C2"/>
                </a:solidFill>
                <a:latin typeface="Nourd Bold"/>
                <a:ea typeface="Nourd Bold"/>
                <a:cs typeface="Nourd Bold"/>
                <a:sym typeface="Nourd Bold"/>
              </a:rPr>
              <a:t>5</a:t>
            </a:r>
            <a:r>
              <a:rPr lang="en-US" b="true" sz="2995" spc="-83">
                <a:solidFill>
                  <a:srgbClr val="0166C2"/>
                </a:solidFill>
                <a:latin typeface="Nourd Bold"/>
                <a:ea typeface="Nourd Bold"/>
                <a:cs typeface="Nourd Bold"/>
                <a:sym typeface="Nourd Bold"/>
              </a:rPr>
              <a:t>. Anomaly Detection and Attack Classification</a:t>
            </a:r>
          </a:p>
          <a:p>
            <a:pPr algn="just" marL="646626" indent="-323313" lvl="1">
              <a:lnSpc>
                <a:spcPts val="3923"/>
              </a:lnSpc>
              <a:buFont typeface="Arial"/>
              <a:buChar char="•"/>
            </a:pPr>
            <a:r>
              <a:rPr lang="en-US" sz="2995" spc="-83">
                <a:solidFill>
                  <a:srgbClr val="0166C2"/>
                </a:solidFill>
                <a:latin typeface="Nourd"/>
                <a:ea typeface="Nourd"/>
                <a:cs typeface="Nourd"/>
                <a:sym typeface="Nourd"/>
              </a:rPr>
              <a:t>Train Local Outlier Factor (LOF) model using only normal traffic.</a:t>
            </a:r>
          </a:p>
          <a:p>
            <a:pPr algn="just" marL="646626" indent="-323313" lvl="1">
              <a:lnSpc>
                <a:spcPts val="3923"/>
              </a:lnSpc>
              <a:buFont typeface="Arial"/>
              <a:buChar char="•"/>
            </a:pPr>
            <a:r>
              <a:rPr lang="en-US" sz="2995" spc="-83">
                <a:solidFill>
                  <a:srgbClr val="0166C2"/>
                </a:solidFill>
                <a:latin typeface="Nourd"/>
                <a:ea typeface="Nourd"/>
                <a:cs typeface="Nourd"/>
                <a:sym typeface="Nourd"/>
              </a:rPr>
              <a:t>Det</a:t>
            </a:r>
            <a:r>
              <a:rPr lang="en-US" sz="2995" spc="-83">
                <a:solidFill>
                  <a:srgbClr val="0166C2"/>
                </a:solidFill>
                <a:latin typeface="Nourd"/>
                <a:ea typeface="Nourd"/>
                <a:cs typeface="Nourd"/>
                <a:sym typeface="Nourd"/>
              </a:rPr>
              <a:t>ect anomalies by identifying deviations from normal behavior.</a:t>
            </a:r>
          </a:p>
          <a:p>
            <a:pPr algn="just" marL="646626" indent="-323313" lvl="1">
              <a:lnSpc>
                <a:spcPts val="3923"/>
              </a:lnSpc>
              <a:buFont typeface="Arial"/>
              <a:buChar char="•"/>
            </a:pPr>
            <a:r>
              <a:rPr lang="en-US" sz="2995" spc="-83">
                <a:solidFill>
                  <a:srgbClr val="0166C2"/>
                </a:solidFill>
                <a:latin typeface="Nourd"/>
                <a:ea typeface="Nourd"/>
                <a:cs typeface="Nourd"/>
                <a:sym typeface="Nourd"/>
              </a:rPr>
              <a:t>Apply Random Forest classifier on detected anomalies.</a:t>
            </a:r>
          </a:p>
          <a:p>
            <a:pPr algn="just" marL="646626" indent="-323313" lvl="1">
              <a:lnSpc>
                <a:spcPts val="3923"/>
              </a:lnSpc>
              <a:buFont typeface="Arial"/>
              <a:buChar char="•"/>
            </a:pPr>
            <a:r>
              <a:rPr lang="en-US" sz="2995" spc="-83">
                <a:solidFill>
                  <a:srgbClr val="0166C2"/>
                </a:solidFill>
                <a:latin typeface="Nourd"/>
                <a:ea typeface="Nourd"/>
                <a:cs typeface="Nourd"/>
                <a:sym typeface="Nourd"/>
              </a:rPr>
              <a:t>Classify</a:t>
            </a:r>
            <a:r>
              <a:rPr lang="en-US" sz="2995" spc="-83">
                <a:solidFill>
                  <a:srgbClr val="0166C2"/>
                </a:solidFill>
                <a:latin typeface="Nourd"/>
                <a:ea typeface="Nourd"/>
                <a:cs typeface="Nourd"/>
                <a:sym typeface="Nourd"/>
              </a:rPr>
              <a:t> high-confidence predictions as known attack types.</a:t>
            </a:r>
          </a:p>
          <a:p>
            <a:pPr algn="just" marL="646626" indent="-323313" lvl="1">
              <a:lnSpc>
                <a:spcPts val="3923"/>
              </a:lnSpc>
              <a:buFont typeface="Arial"/>
              <a:buChar char="•"/>
            </a:pPr>
            <a:r>
              <a:rPr lang="en-US" sz="2995" spc="-83">
                <a:solidFill>
                  <a:srgbClr val="0166C2"/>
                </a:solidFill>
                <a:latin typeface="Nourd"/>
                <a:ea typeface="Nourd"/>
                <a:cs typeface="Nourd"/>
                <a:sym typeface="Nourd"/>
              </a:rPr>
              <a:t>Labe</a:t>
            </a:r>
            <a:r>
              <a:rPr lang="en-US" sz="2995" spc="-83">
                <a:solidFill>
                  <a:srgbClr val="0166C2"/>
                </a:solidFill>
                <a:latin typeface="Nourd"/>
                <a:ea typeface="Nourd"/>
                <a:cs typeface="Nourd"/>
                <a:sym typeface="Nourd"/>
              </a:rPr>
              <a:t>l low-confidence cases as abnormal pattern detected.</a:t>
            </a:r>
          </a:p>
          <a:p>
            <a:pPr algn="just">
              <a:lnSpc>
                <a:spcPts val="3923"/>
              </a:lnSpc>
            </a:pPr>
          </a:p>
          <a:p>
            <a:pPr algn="just">
              <a:lnSpc>
                <a:spcPts val="3923"/>
              </a:lnSpc>
            </a:pPr>
            <a:r>
              <a:rPr lang="en-US" b="true" sz="2995" spc="-83">
                <a:solidFill>
                  <a:srgbClr val="0166C2"/>
                </a:solidFill>
                <a:latin typeface="Nourd Bold"/>
                <a:ea typeface="Nourd Bold"/>
                <a:cs typeface="Nourd Bold"/>
                <a:sym typeface="Nourd Bold"/>
              </a:rPr>
              <a:t>6. Detection, Alerting, and P</a:t>
            </a:r>
            <a:r>
              <a:rPr lang="en-US" b="true" sz="2995" spc="-83">
                <a:solidFill>
                  <a:srgbClr val="0166C2"/>
                </a:solidFill>
                <a:latin typeface="Nourd Bold"/>
                <a:ea typeface="Nourd Bold"/>
                <a:cs typeface="Nourd Bold"/>
                <a:sym typeface="Nourd Bold"/>
              </a:rPr>
              <a:t>erformance Evaluation</a:t>
            </a:r>
          </a:p>
          <a:p>
            <a:pPr algn="just" marL="646626" indent="-323313" lvl="1">
              <a:lnSpc>
                <a:spcPts val="3923"/>
              </a:lnSpc>
              <a:buFont typeface="Arial"/>
              <a:buChar char="•"/>
            </a:pPr>
            <a:r>
              <a:rPr lang="en-US" sz="2995" spc="-83">
                <a:solidFill>
                  <a:srgbClr val="0166C2"/>
                </a:solidFill>
                <a:latin typeface="Nourd"/>
                <a:ea typeface="Nourd"/>
                <a:cs typeface="Nourd"/>
                <a:sym typeface="Nourd"/>
              </a:rPr>
              <a:t>Process incoming data through the same preprocessing pipeline.</a:t>
            </a:r>
          </a:p>
          <a:p>
            <a:pPr algn="just" marL="646626" indent="-323313" lvl="1">
              <a:lnSpc>
                <a:spcPts val="3923"/>
              </a:lnSpc>
              <a:buFont typeface="Arial"/>
              <a:buChar char="•"/>
            </a:pPr>
            <a:r>
              <a:rPr lang="en-US" sz="2995" spc="-83">
                <a:solidFill>
                  <a:srgbClr val="0166C2"/>
                </a:solidFill>
                <a:latin typeface="Nourd"/>
                <a:ea typeface="Nourd"/>
                <a:cs typeface="Nourd"/>
                <a:sym typeface="Nourd"/>
              </a:rPr>
              <a:t>Identify normal traffic, known attacks, and abnormal patterns.</a:t>
            </a:r>
          </a:p>
          <a:p>
            <a:pPr algn="just" marL="646626" indent="-323313" lvl="1">
              <a:lnSpc>
                <a:spcPts val="3923"/>
              </a:lnSpc>
              <a:buFont typeface="Arial"/>
              <a:buChar char="•"/>
            </a:pPr>
            <a:r>
              <a:rPr lang="en-US" sz="2995" spc="-83">
                <a:solidFill>
                  <a:srgbClr val="0166C2"/>
                </a:solidFill>
                <a:latin typeface="Nourd"/>
                <a:ea typeface="Nourd"/>
                <a:cs typeface="Nourd"/>
                <a:sym typeface="Nourd"/>
              </a:rPr>
              <a:t>Generate alerts and send email notifications for detected attacks.</a:t>
            </a:r>
          </a:p>
          <a:p>
            <a:pPr algn="just" marL="646626" indent="-323313" lvl="1">
              <a:lnSpc>
                <a:spcPts val="3923"/>
              </a:lnSpc>
              <a:buFont typeface="Arial"/>
              <a:buChar char="•"/>
            </a:pPr>
            <a:r>
              <a:rPr lang="en-US" sz="2995" spc="-83">
                <a:solidFill>
                  <a:srgbClr val="0166C2"/>
                </a:solidFill>
                <a:latin typeface="Nourd"/>
                <a:ea typeface="Nourd"/>
                <a:cs typeface="Nourd"/>
                <a:sym typeface="Nourd"/>
              </a:rPr>
              <a:t>Evaluate system performance using accuracy, precision, recall, and F1-score.</a:t>
            </a:r>
          </a:p>
          <a:p>
            <a:pPr algn="just" marL="646626" indent="-323313" lvl="1">
              <a:lnSpc>
                <a:spcPts val="3923"/>
              </a:lnSpc>
              <a:buFont typeface="Arial"/>
              <a:buChar char="•"/>
            </a:pPr>
            <a:r>
              <a:rPr lang="en-US" sz="2995" spc="-83">
                <a:solidFill>
                  <a:srgbClr val="0166C2"/>
                </a:solidFill>
                <a:latin typeface="Nourd"/>
                <a:ea typeface="Nourd"/>
                <a:cs typeface="Nourd"/>
                <a:sym typeface="Nourd"/>
              </a:rPr>
              <a:t>Analyze </a:t>
            </a:r>
            <a:r>
              <a:rPr lang="en-US" sz="2995" spc="-83">
                <a:solidFill>
                  <a:srgbClr val="0166C2"/>
                </a:solidFill>
                <a:latin typeface="Nourd"/>
                <a:ea typeface="Nourd"/>
                <a:cs typeface="Nourd"/>
                <a:sym typeface="Nourd"/>
              </a:rPr>
              <a:t>results and suggest imp</a:t>
            </a:r>
            <a:r>
              <a:rPr lang="en-US" sz="2995" spc="-83" strike="noStrike" u="none">
                <a:solidFill>
                  <a:srgbClr val="0166C2"/>
                </a:solidFill>
                <a:latin typeface="Nourd"/>
                <a:ea typeface="Nourd"/>
                <a:cs typeface="Nourd"/>
                <a:sym typeface="Nourd"/>
              </a:rPr>
              <a:t>rovements for IoT security.</a:t>
            </a:r>
          </a:p>
          <a:p>
            <a:pPr algn="just" marL="0" indent="0" lvl="0">
              <a:lnSpc>
                <a:spcPts val="3923"/>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Freeform 3" id="3"/>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4" id="4"/>
          <p:cNvSpPr txBox="true"/>
          <p:nvPr/>
        </p:nvSpPr>
        <p:spPr>
          <a:xfrm rot="0">
            <a:off x="4072725" y="3301908"/>
            <a:ext cx="10142550" cy="3492683"/>
          </a:xfrm>
          <a:prstGeom prst="rect">
            <a:avLst/>
          </a:prstGeom>
        </p:spPr>
        <p:txBody>
          <a:bodyPr anchor="t" rtlCol="false" tIns="0" lIns="0" bIns="0" rIns="0">
            <a:spAutoFit/>
          </a:bodyPr>
          <a:lstStyle/>
          <a:p>
            <a:pPr algn="ctr">
              <a:lnSpc>
                <a:spcPts val="14086"/>
              </a:lnSpc>
            </a:pPr>
            <a:r>
              <a:rPr lang="en-US" b="true" sz="10062">
                <a:solidFill>
                  <a:srgbClr val="0166C2"/>
                </a:solidFill>
                <a:latin typeface="Luktao Bold"/>
                <a:ea typeface="Luktao Bold"/>
                <a:cs typeface="Luktao Bold"/>
                <a:sym typeface="Luktao Bold"/>
              </a:rPr>
              <a:t>SYSTEM </a:t>
            </a:r>
          </a:p>
          <a:p>
            <a:pPr algn="ctr">
              <a:lnSpc>
                <a:spcPts val="14086"/>
              </a:lnSpc>
            </a:pPr>
            <a:r>
              <a:rPr lang="en-US" b="true" sz="10062">
                <a:solidFill>
                  <a:srgbClr val="0166C2"/>
                </a:solidFill>
                <a:latin typeface="Luktao Bold"/>
                <a:ea typeface="Luktao Bold"/>
                <a:cs typeface="Luktao Bold"/>
                <a:sym typeface="Luktao Bold"/>
              </a:rPr>
              <a:t>DESIGN</a:t>
            </a:r>
          </a:p>
        </p:txBody>
      </p:sp>
      <p:grpSp>
        <p:nvGrpSpPr>
          <p:cNvPr name="Group 5" id="5"/>
          <p:cNvGrpSpPr/>
          <p:nvPr/>
        </p:nvGrpSpPr>
        <p:grpSpPr>
          <a:xfrm rot="0">
            <a:off x="0" y="9796900"/>
            <a:ext cx="18288000" cy="490100"/>
            <a:chOff x="0" y="0"/>
            <a:chExt cx="4816593" cy="129080"/>
          </a:xfrm>
        </p:grpSpPr>
        <p:sp>
          <p:nvSpPr>
            <p:cNvPr name="Freeform 6" id="6"/>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7" id="7"/>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944430" y="1873900"/>
            <a:ext cx="9207223" cy="8413100"/>
          </a:xfrm>
          <a:custGeom>
            <a:avLst/>
            <a:gdLst/>
            <a:ahLst/>
            <a:cxnLst/>
            <a:rect r="r" b="b" t="t" l="l"/>
            <a:pathLst>
              <a:path h="8413100" w="9207223">
                <a:moveTo>
                  <a:pt x="0" y="0"/>
                </a:moveTo>
                <a:lnTo>
                  <a:pt x="9207223" y="0"/>
                </a:lnTo>
                <a:lnTo>
                  <a:pt x="9207223" y="8413100"/>
                </a:lnTo>
                <a:lnTo>
                  <a:pt x="0" y="8413100"/>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9833298" y="3030635"/>
            <a:ext cx="7583113" cy="47815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THE DIAGRAM SHOWS AN IOT SECURIT</a:t>
            </a:r>
            <a:r>
              <a:rPr lang="en-US" sz="3000">
                <a:solidFill>
                  <a:srgbClr val="0166C2"/>
                </a:solidFill>
                <a:latin typeface="Nourd"/>
                <a:ea typeface="Nourd"/>
                <a:cs typeface="Nourd"/>
                <a:sym typeface="Nourd"/>
              </a:rPr>
              <a:t>Y SYSTEM WHERE A USER TRAINS THE MODEL, MONITORS LIVE TRAFFIC, AND VIEWS RESULTS. THE IOT DEVICE GENERATES NETWORK TRAFFIC WHICH IS CAPTURED AND ANALYZED BY THE SYSTEM FOR ANOMALY DETECTION AND ATTACK CLASSIFICATION.</a:t>
            </a:r>
          </a:p>
          <a:p>
            <a:pPr algn="just">
              <a:lnSpc>
                <a:spcPts val="4200"/>
              </a:lnSpc>
              <a:spcBef>
                <a:spcPct val="0"/>
              </a:spcBef>
            </a:pP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575940" y="1845931"/>
            <a:ext cx="9048044" cy="7950969"/>
          </a:xfrm>
          <a:custGeom>
            <a:avLst/>
            <a:gdLst/>
            <a:ahLst/>
            <a:cxnLst/>
            <a:rect r="r" b="b" t="t" l="l"/>
            <a:pathLst>
              <a:path h="7950969" w="9048044">
                <a:moveTo>
                  <a:pt x="0" y="0"/>
                </a:moveTo>
                <a:lnTo>
                  <a:pt x="9048044" y="0"/>
                </a:lnTo>
                <a:lnTo>
                  <a:pt x="9048044" y="7950969"/>
                </a:lnTo>
                <a:lnTo>
                  <a:pt x="0" y="7950969"/>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0006478" y="3257550"/>
            <a:ext cx="7635316" cy="42481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CLASS DIAGRAM SHOWS THE STRUCTURE OF THE IOT SECURIT</a:t>
            </a:r>
            <a:r>
              <a:rPr lang="en-US" sz="3000">
                <a:solidFill>
                  <a:srgbClr val="0166C2"/>
                </a:solidFill>
                <a:latin typeface="Nourd"/>
                <a:ea typeface="Nourd"/>
                <a:cs typeface="Nourd"/>
                <a:sym typeface="Nourd"/>
              </a:rPr>
              <a:t>Y SYSTEM. NETWORK TRAFFIC FROM THE IOT DEVICE IS CAPTURED, PREPROCESSED, AND ANALYZED BY THE DEEP LEARNING MODEL. THE ANOMALY DETECTOR AND ATTACK CLASSIFIER WORK TOGETHER TO GENERATE RESULTS FOR THE USER.</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397005" y="2269919"/>
            <a:ext cx="11477962" cy="6157967"/>
          </a:xfrm>
          <a:custGeom>
            <a:avLst/>
            <a:gdLst/>
            <a:ahLst/>
            <a:cxnLst/>
            <a:rect r="r" b="b" t="t" l="l"/>
            <a:pathLst>
              <a:path h="6157967" w="11477962">
                <a:moveTo>
                  <a:pt x="0" y="0"/>
                </a:moveTo>
                <a:lnTo>
                  <a:pt x="11477962" y="0"/>
                </a:lnTo>
                <a:lnTo>
                  <a:pt x="11477962" y="6157966"/>
                </a:lnTo>
                <a:lnTo>
                  <a:pt x="0" y="6157966"/>
                </a:lnTo>
                <a:lnTo>
                  <a:pt x="0" y="0"/>
                </a:lnTo>
                <a:close/>
              </a:path>
            </a:pathLst>
          </a:custGeom>
          <a:blipFill>
            <a:blip r:embed="rId3"/>
            <a:stretch>
              <a:fillRect l="0" t="-442" r="0" b="-442"/>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2007038" y="2333556"/>
            <a:ext cx="6023789" cy="53149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SEQUENCE DIAGRAM ILLUSTRATES THE WORKFLOW FOR TRAINING THE AUTOENCODER MODEL USING NORMAL IOT TRAFFIC. DATA</a:t>
            </a:r>
            <a:r>
              <a:rPr lang="en-US" sz="3000">
                <a:solidFill>
                  <a:srgbClr val="0166C2"/>
                </a:solidFill>
                <a:latin typeface="Nourd"/>
                <a:ea typeface="Nourd"/>
                <a:cs typeface="Nourd"/>
                <a:sym typeface="Nourd"/>
              </a:rPr>
              <a:t> IS CAPTURED, PREPROCESSED, AND USED TO TRAIN THE MODEL TO LEARN NORMAL TRAFFIC BEHAVIOR.</a:t>
            </a:r>
          </a:p>
          <a:p>
            <a:pPr algn="ctr">
              <a:lnSpc>
                <a:spcPts val="4200"/>
              </a:lnSpc>
              <a:spcBef>
                <a:spcPct val="0"/>
              </a:spcBef>
            </a:pP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200216" y="2215946"/>
            <a:ext cx="10551914" cy="6792795"/>
          </a:xfrm>
          <a:custGeom>
            <a:avLst/>
            <a:gdLst/>
            <a:ahLst/>
            <a:cxnLst/>
            <a:rect r="r" b="b" t="t" l="l"/>
            <a:pathLst>
              <a:path h="6792795" w="10551914">
                <a:moveTo>
                  <a:pt x="0" y="0"/>
                </a:moveTo>
                <a:lnTo>
                  <a:pt x="10551914" y="0"/>
                </a:lnTo>
                <a:lnTo>
                  <a:pt x="10551914" y="6792794"/>
                </a:lnTo>
                <a:lnTo>
                  <a:pt x="0" y="6792794"/>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1178301" y="2597998"/>
            <a:ext cx="6683126" cy="53149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SEQUENCE DIAGRAM ILLUSTRATES THE PROCESS OF DETECTING ANOMALIES IN LIVE IOT TRAFFIC. CAPTURED DATA IS RECONSTRUCTED B</a:t>
            </a:r>
            <a:r>
              <a:rPr lang="en-US" sz="3000">
                <a:solidFill>
                  <a:srgbClr val="0166C2"/>
                </a:solidFill>
                <a:latin typeface="Nourd"/>
                <a:ea typeface="Nourd"/>
                <a:cs typeface="Nourd"/>
                <a:sym typeface="Nourd"/>
              </a:rPr>
              <a:t>Y THE TRAINED MODEL, AND THE RECONSTRUCTION ERROR IS COMPARED WITH A THRESHOLD TO IDENTIFY ABNORMAL TRAFFIC.</a:t>
            </a:r>
          </a:p>
          <a:p>
            <a:pPr algn="just">
              <a:lnSpc>
                <a:spcPts val="4200"/>
              </a:lnSpc>
              <a:spcBef>
                <a:spcPct val="0"/>
              </a:spcBef>
            </a:pP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173145" y="2128589"/>
            <a:ext cx="11499533" cy="7129711"/>
          </a:xfrm>
          <a:custGeom>
            <a:avLst/>
            <a:gdLst/>
            <a:ahLst/>
            <a:cxnLst/>
            <a:rect r="r" b="b" t="t" l="l"/>
            <a:pathLst>
              <a:path h="7129711" w="11499533">
                <a:moveTo>
                  <a:pt x="0" y="0"/>
                </a:moveTo>
                <a:lnTo>
                  <a:pt x="11499533" y="0"/>
                </a:lnTo>
                <a:lnTo>
                  <a:pt x="11499533" y="7129711"/>
                </a:lnTo>
                <a:lnTo>
                  <a:pt x="0" y="7129711"/>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1928185" y="3161808"/>
            <a:ext cx="5876664" cy="47815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SEQUENCE DIAGRAM ILLUSTRATES THE PROCESS OF CLASSIF</a:t>
            </a:r>
            <a:r>
              <a:rPr lang="en-US" sz="3000">
                <a:solidFill>
                  <a:srgbClr val="0166C2"/>
                </a:solidFill>
                <a:latin typeface="Nourd"/>
                <a:ea typeface="Nourd"/>
                <a:cs typeface="Nourd"/>
                <a:sym typeface="Nourd"/>
              </a:rPr>
              <a:t>YING DETECTED ANOMALOUS TRAFFIC. THE SYSTEM ANALYZES TRAFFIC PATTERNS TO IDENTIFY THE ATTACK TYPE AND DISPLAYS THE RESULT TO THE USER.</a:t>
            </a:r>
          </a:p>
          <a:p>
            <a:pPr algn="just">
              <a:lnSpc>
                <a:spcPts val="4200"/>
              </a:lnSpc>
              <a:spcBef>
                <a:spcPct val="0"/>
              </a:spcBef>
            </a:pP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1888860" y="1857909"/>
            <a:ext cx="6460276" cy="7533850"/>
          </a:xfrm>
          <a:custGeom>
            <a:avLst/>
            <a:gdLst/>
            <a:ahLst/>
            <a:cxnLst/>
            <a:rect r="r" b="b" t="t" l="l"/>
            <a:pathLst>
              <a:path h="7533850" w="6460276">
                <a:moveTo>
                  <a:pt x="0" y="0"/>
                </a:moveTo>
                <a:lnTo>
                  <a:pt x="6460276" y="0"/>
                </a:lnTo>
                <a:lnTo>
                  <a:pt x="6460276" y="7533849"/>
                </a:lnTo>
                <a:lnTo>
                  <a:pt x="0" y="7533849"/>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0382833" y="3029267"/>
            <a:ext cx="6331549" cy="37147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ACTIVIT</a:t>
            </a:r>
            <a:r>
              <a:rPr lang="en-US" sz="3000">
                <a:solidFill>
                  <a:srgbClr val="0166C2"/>
                </a:solidFill>
                <a:latin typeface="Nourd"/>
                <a:ea typeface="Nourd"/>
                <a:cs typeface="Nourd"/>
                <a:sym typeface="Nourd"/>
              </a:rPr>
              <a:t>Y DIAGRAM ILLUSTRATES THE FLOW OF TRAINING THE AUTOENCODER MODEL. NORMAL TRAFFIC IS CAPTURED, FEATURES ARE EXTRACTED, AND THE MODEL IS TRAINED AND SAVED.</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1888860" y="1646783"/>
            <a:ext cx="6544710" cy="7849727"/>
          </a:xfrm>
          <a:custGeom>
            <a:avLst/>
            <a:gdLst/>
            <a:ahLst/>
            <a:cxnLst/>
            <a:rect r="r" b="b" t="t" l="l"/>
            <a:pathLst>
              <a:path h="7849727" w="6544710">
                <a:moveTo>
                  <a:pt x="0" y="0"/>
                </a:moveTo>
                <a:lnTo>
                  <a:pt x="6544709" y="0"/>
                </a:lnTo>
                <a:lnTo>
                  <a:pt x="6544709" y="7849726"/>
                </a:lnTo>
                <a:lnTo>
                  <a:pt x="0" y="7849726"/>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9175269" y="3696761"/>
            <a:ext cx="8084031" cy="3181349"/>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ACTIVIT</a:t>
            </a:r>
            <a:r>
              <a:rPr lang="en-US" sz="3000">
                <a:solidFill>
                  <a:srgbClr val="0166C2"/>
                </a:solidFill>
                <a:latin typeface="Nourd"/>
                <a:ea typeface="Nourd"/>
                <a:cs typeface="Nourd"/>
                <a:sym typeface="Nourd"/>
              </a:rPr>
              <a:t>Y DIAGRAM ILLUSTRATES THE FLOW OF REAL-TIME ANOMALY DETECTION. LIVE TRAFFIC IS ANALYZED USING THE TRAINED MODEL, AND TRAFFIC IS MARKED AS NORMAL OR ANOMALOUS BASED ON A THRESHOLD.</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Freeform 3" id="3"/>
          <p:cNvSpPr/>
          <p:nvPr/>
        </p:nvSpPr>
        <p:spPr>
          <a:xfrm flipH="false" flipV="false" rot="0">
            <a:off x="1888860" y="1845931"/>
            <a:ext cx="7783781" cy="7758873"/>
          </a:xfrm>
          <a:custGeom>
            <a:avLst/>
            <a:gdLst/>
            <a:ahLst/>
            <a:cxnLst/>
            <a:rect r="r" b="b" t="t" l="l"/>
            <a:pathLst>
              <a:path h="7758873" w="7783781">
                <a:moveTo>
                  <a:pt x="0" y="0"/>
                </a:moveTo>
                <a:lnTo>
                  <a:pt x="7783781" y="0"/>
                </a:lnTo>
                <a:lnTo>
                  <a:pt x="7783781" y="7758873"/>
                </a:lnTo>
                <a:lnTo>
                  <a:pt x="0" y="7758873"/>
                </a:lnTo>
                <a:lnTo>
                  <a:pt x="0" y="0"/>
                </a:lnTo>
                <a:close/>
              </a:path>
            </a:pathLst>
          </a:custGeom>
          <a:blipFill>
            <a:blip r:embed="rId3"/>
            <a:stretch>
              <a:fillRect l="0" t="0" r="0" b="0"/>
            </a:stretch>
          </a:blipFill>
        </p:spPr>
      </p:sp>
      <p:sp>
        <p:nvSpPr>
          <p:cNvPr name="TextBox 4" id="4"/>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5" id="5"/>
          <p:cNvSpPr txBox="true"/>
          <p:nvPr/>
        </p:nvSpPr>
        <p:spPr>
          <a:xfrm rot="0">
            <a:off x="11183749" y="2893023"/>
            <a:ext cx="6263060" cy="37147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THIS ACTIVIT</a:t>
            </a:r>
            <a:r>
              <a:rPr lang="en-US" sz="3000">
                <a:solidFill>
                  <a:srgbClr val="0166C2"/>
                </a:solidFill>
                <a:latin typeface="Nourd"/>
                <a:ea typeface="Nourd"/>
                <a:cs typeface="Nourd"/>
                <a:sym typeface="Nourd"/>
              </a:rPr>
              <a:t>Y DIAGRAM ILLUSTRATES THE PROCESS OF CLASSIFYING DETECTED ANOMALIES. THE SYSTEM ANALYZES THE TRAFFIC, IDENTIFIES THE ATTACK TYPE, AND GENERATES THE FINAL RESULT.</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1.xml><?xml version="1.0" encoding="utf-8"?>
<p:sld xmlns:p="http://schemas.openxmlformats.org/presentationml/2006/main" xmlns:a="http://schemas.openxmlformats.org/drawingml/2006/main">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601646" y="4346571"/>
            <a:ext cx="9084707" cy="1441458"/>
          </a:xfrm>
          <a:prstGeom prst="rect">
            <a:avLst/>
          </a:prstGeom>
        </p:spPr>
        <p:txBody>
          <a:bodyPr anchor="t" rtlCol="false" tIns="0" lIns="0" bIns="0" rIns="0">
            <a:spAutoFit/>
          </a:bodyPr>
          <a:lstStyle/>
          <a:p>
            <a:pPr algn="ctr">
              <a:lnSpc>
                <a:spcPts val="11899"/>
              </a:lnSpc>
              <a:spcBef>
                <a:spcPct val="0"/>
              </a:spcBef>
            </a:pPr>
            <a:r>
              <a:rPr lang="en-US" b="true" sz="8499">
                <a:solidFill>
                  <a:srgbClr val="0166C2"/>
                </a:solidFill>
                <a:latin typeface="Luktao Bold"/>
                <a:ea typeface="Luktao Bold"/>
                <a:cs typeface="Luktao Bold"/>
                <a:sym typeface="Luktao Bold"/>
              </a:rPr>
              <a:t>IMPLEMENTATION</a:t>
            </a:r>
          </a:p>
        </p:txBody>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6" id="6"/>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4" id="4"/>
          <p:cNvSpPr txBox="true"/>
          <p:nvPr/>
        </p:nvSpPr>
        <p:spPr>
          <a:xfrm rot="0">
            <a:off x="4365502" y="1760206"/>
            <a:ext cx="10362248" cy="844551"/>
          </a:xfrm>
          <a:prstGeom prst="rect">
            <a:avLst/>
          </a:prstGeom>
        </p:spPr>
        <p:txBody>
          <a:bodyPr anchor="t" rtlCol="false" tIns="0" lIns="0" bIns="0" rIns="0">
            <a:spAutoFit/>
          </a:bodyPr>
          <a:lstStyle/>
          <a:p>
            <a:pPr algn="ctr">
              <a:lnSpc>
                <a:spcPts val="6999"/>
              </a:lnSpc>
              <a:spcBef>
                <a:spcPct val="0"/>
              </a:spcBef>
            </a:pPr>
            <a:r>
              <a:rPr lang="en-US" b="true" sz="4999">
                <a:solidFill>
                  <a:srgbClr val="0166C2"/>
                </a:solidFill>
                <a:latin typeface="Luktao Bold"/>
                <a:ea typeface="Luktao Bold"/>
                <a:cs typeface="Luktao Bold"/>
                <a:sym typeface="Luktao Bold"/>
              </a:rPr>
              <a:t>Overview </a:t>
            </a:r>
            <a:r>
              <a:rPr lang="en-US" b="true" sz="4999">
                <a:solidFill>
                  <a:srgbClr val="0166C2"/>
                </a:solidFill>
                <a:latin typeface="Luktao Bold"/>
                <a:ea typeface="Luktao Bold"/>
                <a:cs typeface="Luktao Bold"/>
                <a:sym typeface="Luktao Bold"/>
              </a:rPr>
              <a:t>of Implementation Steps</a:t>
            </a:r>
          </a:p>
        </p:txBody>
      </p:sp>
      <p:sp>
        <p:nvSpPr>
          <p:cNvPr name="TextBox 5" id="5"/>
          <p:cNvSpPr txBox="true"/>
          <p:nvPr/>
        </p:nvSpPr>
        <p:spPr>
          <a:xfrm rot="0">
            <a:off x="3548658" y="3069526"/>
            <a:ext cx="11190684" cy="5447665"/>
          </a:xfrm>
          <a:prstGeom prst="rect">
            <a:avLst/>
          </a:prstGeom>
        </p:spPr>
        <p:txBody>
          <a:bodyPr anchor="t" rtlCol="false" tIns="0" lIns="0" bIns="0" rIns="0">
            <a:spAutoFit/>
          </a:bodyPr>
          <a:lstStyle/>
          <a:p>
            <a:pPr algn="l">
              <a:lnSpc>
                <a:spcPts val="4759"/>
              </a:lnSpc>
            </a:pPr>
            <a:r>
              <a:rPr lang="en-US" sz="3399" b="true">
                <a:solidFill>
                  <a:srgbClr val="0166C2"/>
                </a:solidFill>
                <a:latin typeface="Nourd Bold"/>
                <a:ea typeface="Nourd Bold"/>
                <a:cs typeface="Nourd Bold"/>
                <a:sym typeface="Nourd Bold"/>
              </a:rPr>
              <a:t>Step-wise Process</a:t>
            </a:r>
          </a:p>
          <a:p>
            <a:pPr algn="l" marL="647702" indent="-323851" lvl="1">
              <a:lnSpc>
                <a:spcPts val="4200"/>
              </a:lnSpc>
              <a:buFont typeface="Arial"/>
              <a:buChar char="•"/>
            </a:pPr>
            <a:r>
              <a:rPr lang="en-US" sz="3000">
                <a:solidFill>
                  <a:srgbClr val="0166C2"/>
                </a:solidFill>
                <a:latin typeface="Nourd"/>
                <a:ea typeface="Nourd"/>
                <a:cs typeface="Nourd"/>
                <a:sym typeface="Nourd"/>
              </a:rPr>
              <a:t>Capture IoT network traffic using Wireshark.</a:t>
            </a:r>
          </a:p>
          <a:p>
            <a:pPr algn="l" marL="647702" indent="-323851" lvl="1">
              <a:lnSpc>
                <a:spcPts val="4200"/>
              </a:lnSpc>
              <a:spcBef>
                <a:spcPct val="0"/>
              </a:spcBef>
              <a:buFont typeface="Arial"/>
              <a:buChar char="•"/>
            </a:pPr>
            <a:r>
              <a:rPr lang="en-US" sz="3000">
                <a:solidFill>
                  <a:srgbClr val="0166C2"/>
                </a:solidFill>
                <a:latin typeface="Nourd"/>
                <a:ea typeface="Nourd"/>
                <a:cs typeface="Nourd"/>
                <a:sym typeface="Nourd"/>
              </a:rPr>
              <a:t>Prepr</a:t>
            </a:r>
            <a:r>
              <a:rPr lang="en-US" sz="3000">
                <a:solidFill>
                  <a:srgbClr val="0166C2"/>
                </a:solidFill>
                <a:latin typeface="Nourd"/>
                <a:ea typeface="Nourd"/>
                <a:cs typeface="Nourd"/>
                <a:sym typeface="Nourd"/>
              </a:rPr>
              <a:t>ocess data (cleaning, encoding, scaling, PCA).</a:t>
            </a:r>
          </a:p>
          <a:p>
            <a:pPr algn="l" marL="647702" indent="-323851" lvl="1">
              <a:lnSpc>
                <a:spcPts val="4200"/>
              </a:lnSpc>
              <a:spcBef>
                <a:spcPct val="0"/>
              </a:spcBef>
              <a:buFont typeface="Arial"/>
              <a:buChar char="•"/>
            </a:pPr>
            <a:r>
              <a:rPr lang="en-US" sz="3000">
                <a:solidFill>
                  <a:srgbClr val="0166C2"/>
                </a:solidFill>
                <a:latin typeface="Nourd"/>
                <a:ea typeface="Nourd"/>
                <a:cs typeface="Nourd"/>
                <a:sym typeface="Nourd"/>
              </a:rPr>
              <a:t>Train LOF model on normal traffic for anomaly detection.</a:t>
            </a:r>
          </a:p>
          <a:p>
            <a:pPr algn="l" marL="647702" indent="-323851" lvl="1">
              <a:lnSpc>
                <a:spcPts val="4200"/>
              </a:lnSpc>
              <a:spcBef>
                <a:spcPct val="0"/>
              </a:spcBef>
              <a:buFont typeface="Arial"/>
              <a:buChar char="•"/>
            </a:pPr>
            <a:r>
              <a:rPr lang="en-US" sz="3000">
                <a:solidFill>
                  <a:srgbClr val="0166C2"/>
                </a:solidFill>
                <a:latin typeface="Nourd"/>
                <a:ea typeface="Nourd"/>
                <a:cs typeface="Nourd"/>
                <a:sym typeface="Nourd"/>
              </a:rPr>
              <a:t>Train Random Forest classifier on attack data for classification.</a:t>
            </a:r>
          </a:p>
          <a:p>
            <a:pPr algn="l" marL="647702" indent="-323851" lvl="1">
              <a:lnSpc>
                <a:spcPts val="4200"/>
              </a:lnSpc>
              <a:spcBef>
                <a:spcPct val="0"/>
              </a:spcBef>
              <a:buFont typeface="Arial"/>
              <a:buChar char="•"/>
            </a:pPr>
            <a:r>
              <a:rPr lang="en-US" sz="3000">
                <a:solidFill>
                  <a:srgbClr val="0166C2"/>
                </a:solidFill>
                <a:latin typeface="Nourd"/>
                <a:ea typeface="Nourd"/>
                <a:cs typeface="Nourd"/>
                <a:sym typeface="Nourd"/>
              </a:rPr>
              <a:t>During detection:</a:t>
            </a:r>
          </a:p>
          <a:p>
            <a:pPr algn="l" marL="1295403" indent="-431801" lvl="2">
              <a:lnSpc>
                <a:spcPts val="4200"/>
              </a:lnSpc>
              <a:spcBef>
                <a:spcPct val="0"/>
              </a:spcBef>
              <a:buFont typeface="Arial"/>
              <a:buChar char="⚬"/>
            </a:pPr>
            <a:r>
              <a:rPr lang="en-US" sz="3000">
                <a:solidFill>
                  <a:srgbClr val="0166C2"/>
                </a:solidFill>
                <a:latin typeface="Nourd"/>
                <a:ea typeface="Nourd"/>
                <a:cs typeface="Nourd"/>
                <a:sym typeface="Nourd"/>
              </a:rPr>
              <a:t>Identify anomalies using LOF</a:t>
            </a:r>
          </a:p>
          <a:p>
            <a:pPr algn="l" marL="1295403" indent="-431801" lvl="2">
              <a:lnSpc>
                <a:spcPts val="4200"/>
              </a:lnSpc>
              <a:spcBef>
                <a:spcPct val="0"/>
              </a:spcBef>
              <a:buFont typeface="Arial"/>
              <a:buChar char="⚬"/>
            </a:pPr>
            <a:r>
              <a:rPr lang="en-US" sz="3000">
                <a:solidFill>
                  <a:srgbClr val="0166C2"/>
                </a:solidFill>
                <a:latin typeface="Nourd"/>
                <a:ea typeface="Nourd"/>
                <a:cs typeface="Nourd"/>
                <a:sym typeface="Nourd"/>
              </a:rPr>
              <a:t>Classify attacks using Random Forest</a:t>
            </a:r>
          </a:p>
          <a:p>
            <a:pPr algn="l" marL="1295403" indent="-431801" lvl="2">
              <a:lnSpc>
                <a:spcPts val="4200"/>
              </a:lnSpc>
              <a:spcBef>
                <a:spcPct val="0"/>
              </a:spcBef>
              <a:buFont typeface="Arial"/>
              <a:buChar char="⚬"/>
            </a:pPr>
            <a:r>
              <a:rPr lang="en-US" sz="3000">
                <a:solidFill>
                  <a:srgbClr val="0166C2"/>
                </a:solidFill>
                <a:latin typeface="Nourd"/>
                <a:ea typeface="Nourd"/>
                <a:cs typeface="Nourd"/>
                <a:sym typeface="Nourd"/>
              </a:rPr>
              <a:t>Generate alerts and confidence scores</a:t>
            </a:r>
          </a:p>
          <a:p>
            <a:pPr algn="l">
              <a:lnSpc>
                <a:spcPts val="4759"/>
              </a:lnSpc>
              <a:spcBef>
                <a:spcPct val="0"/>
              </a:spcBef>
            </a:pP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4" id="4"/>
          <p:cNvSpPr txBox="true"/>
          <p:nvPr/>
        </p:nvSpPr>
        <p:spPr>
          <a:xfrm rot="0">
            <a:off x="2908972" y="2080347"/>
            <a:ext cx="9464159" cy="2380615"/>
          </a:xfrm>
          <a:prstGeom prst="rect">
            <a:avLst/>
          </a:prstGeom>
        </p:spPr>
        <p:txBody>
          <a:bodyPr anchor="t" rtlCol="false" tIns="0" lIns="0" bIns="0" rIns="0">
            <a:spAutoFit/>
          </a:bodyPr>
          <a:lstStyle/>
          <a:p>
            <a:pPr algn="l">
              <a:lnSpc>
                <a:spcPts val="4759"/>
              </a:lnSpc>
              <a:spcBef>
                <a:spcPct val="0"/>
              </a:spcBef>
            </a:pPr>
            <a:r>
              <a:rPr lang="en-US" b="true" sz="3399">
                <a:solidFill>
                  <a:srgbClr val="0166C2"/>
                </a:solidFill>
                <a:latin typeface="Nourd Bold"/>
                <a:ea typeface="Nourd Bold"/>
                <a:cs typeface="Nourd Bold"/>
                <a:sym typeface="Nourd Bold"/>
              </a:rPr>
              <a:t>Alg</a:t>
            </a:r>
            <a:r>
              <a:rPr lang="en-US" b="true" sz="3399">
                <a:solidFill>
                  <a:srgbClr val="0166C2"/>
                </a:solidFill>
                <a:latin typeface="Nourd Bold"/>
                <a:ea typeface="Nourd Bold"/>
                <a:cs typeface="Nourd Bold"/>
                <a:sym typeface="Nourd Bold"/>
              </a:rPr>
              <a:t>orithm 1: Anomaly Detection using LOF</a:t>
            </a:r>
          </a:p>
          <a:p>
            <a:pPr algn="l">
              <a:lnSpc>
                <a:spcPts val="4759"/>
              </a:lnSpc>
              <a:spcBef>
                <a:spcPct val="0"/>
              </a:spcBef>
            </a:pPr>
            <a:r>
              <a:rPr lang="en-US" b="true" sz="3399">
                <a:solidFill>
                  <a:srgbClr val="0166C2"/>
                </a:solidFill>
                <a:latin typeface="Nourd Bold"/>
                <a:ea typeface="Nourd Bold"/>
                <a:cs typeface="Nourd Bold"/>
                <a:sym typeface="Nourd Bold"/>
              </a:rPr>
              <a:t>Input: Preprocessed data</a:t>
            </a:r>
          </a:p>
          <a:p>
            <a:pPr algn="l">
              <a:lnSpc>
                <a:spcPts val="4759"/>
              </a:lnSpc>
              <a:spcBef>
                <a:spcPct val="0"/>
              </a:spcBef>
            </a:pPr>
            <a:r>
              <a:rPr lang="en-US" b="true" sz="3399">
                <a:solidFill>
                  <a:srgbClr val="0166C2"/>
                </a:solidFill>
                <a:latin typeface="Nourd Bold"/>
                <a:ea typeface="Nourd Bold"/>
                <a:cs typeface="Nourd Bold"/>
                <a:sym typeface="Nourd Bold"/>
              </a:rPr>
              <a:t>Output: Normal / Anomaly</a:t>
            </a:r>
          </a:p>
          <a:p>
            <a:pPr algn="just">
              <a:lnSpc>
                <a:spcPts val="4759"/>
              </a:lnSpc>
              <a:spcBef>
                <a:spcPct val="0"/>
              </a:spcBef>
            </a:pPr>
          </a:p>
        </p:txBody>
      </p:sp>
      <p:sp>
        <p:nvSpPr>
          <p:cNvPr name="TextBox 5" id="5"/>
          <p:cNvSpPr txBox="true"/>
          <p:nvPr/>
        </p:nvSpPr>
        <p:spPr>
          <a:xfrm rot="0">
            <a:off x="4718731" y="4092762"/>
            <a:ext cx="8381643" cy="42481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1. Train LOF </a:t>
            </a:r>
            <a:r>
              <a:rPr lang="en-US" sz="3000">
                <a:solidFill>
                  <a:srgbClr val="0166C2"/>
                </a:solidFill>
                <a:latin typeface="Nourd"/>
                <a:ea typeface="Nourd"/>
                <a:cs typeface="Nourd"/>
                <a:sym typeface="Nourd"/>
              </a:rPr>
              <a:t>using normal data</a:t>
            </a:r>
          </a:p>
          <a:p>
            <a:pPr algn="just">
              <a:lnSpc>
                <a:spcPts val="4200"/>
              </a:lnSpc>
              <a:spcBef>
                <a:spcPct val="0"/>
              </a:spcBef>
            </a:pPr>
            <a:r>
              <a:rPr lang="en-US" sz="3000">
                <a:solidFill>
                  <a:srgbClr val="0166C2"/>
                </a:solidFill>
                <a:latin typeface="Nourd"/>
                <a:ea typeface="Nourd"/>
                <a:cs typeface="Nourd"/>
                <a:sym typeface="Nourd"/>
              </a:rPr>
              <a:t>2. For each incoming sample:</a:t>
            </a:r>
          </a:p>
          <a:p>
            <a:pPr algn="just">
              <a:lnSpc>
                <a:spcPts val="4200"/>
              </a:lnSpc>
              <a:spcBef>
                <a:spcPct val="0"/>
              </a:spcBef>
            </a:pPr>
            <a:r>
              <a:rPr lang="en-US" sz="3000">
                <a:solidFill>
                  <a:srgbClr val="0166C2"/>
                </a:solidFill>
                <a:latin typeface="Nourd"/>
                <a:ea typeface="Nourd"/>
                <a:cs typeface="Nourd"/>
                <a:sym typeface="Nourd"/>
              </a:rPr>
              <a:t>3.     Apply preprocessing (imputer, scaler, PCA)</a:t>
            </a:r>
          </a:p>
          <a:p>
            <a:pPr algn="just">
              <a:lnSpc>
                <a:spcPts val="4200"/>
              </a:lnSpc>
              <a:spcBef>
                <a:spcPct val="0"/>
              </a:spcBef>
            </a:pPr>
            <a:r>
              <a:rPr lang="en-US" sz="3000">
                <a:solidFill>
                  <a:srgbClr val="0166C2"/>
                </a:solidFill>
                <a:latin typeface="Nourd"/>
                <a:ea typeface="Nourd"/>
                <a:cs typeface="Nourd"/>
                <a:sym typeface="Nourd"/>
              </a:rPr>
              <a:t>4.     Predict using LOF</a:t>
            </a:r>
          </a:p>
          <a:p>
            <a:pPr algn="just">
              <a:lnSpc>
                <a:spcPts val="4200"/>
              </a:lnSpc>
              <a:spcBef>
                <a:spcPct val="0"/>
              </a:spcBef>
            </a:pPr>
            <a:r>
              <a:rPr lang="en-US" sz="3000">
                <a:solidFill>
                  <a:srgbClr val="0166C2"/>
                </a:solidFill>
                <a:latin typeface="Nourd"/>
                <a:ea typeface="Nourd"/>
                <a:cs typeface="Nourd"/>
                <a:sym typeface="Nourd"/>
              </a:rPr>
              <a:t>5.     If prediction == -1:</a:t>
            </a:r>
          </a:p>
          <a:p>
            <a:pPr algn="just">
              <a:lnSpc>
                <a:spcPts val="4200"/>
              </a:lnSpc>
              <a:spcBef>
                <a:spcPct val="0"/>
              </a:spcBef>
            </a:pPr>
            <a:r>
              <a:rPr lang="en-US" sz="3000">
                <a:solidFill>
                  <a:srgbClr val="0166C2"/>
                </a:solidFill>
                <a:latin typeface="Nourd"/>
                <a:ea typeface="Nourd"/>
                <a:cs typeface="Nourd"/>
                <a:sym typeface="Nourd"/>
              </a:rPr>
              <a:t>6.         Mark as Anomaly</a:t>
            </a:r>
          </a:p>
          <a:p>
            <a:pPr algn="just">
              <a:lnSpc>
                <a:spcPts val="4200"/>
              </a:lnSpc>
              <a:spcBef>
                <a:spcPct val="0"/>
              </a:spcBef>
            </a:pPr>
            <a:r>
              <a:rPr lang="en-US" sz="3000">
                <a:solidFill>
                  <a:srgbClr val="0166C2"/>
                </a:solidFill>
                <a:latin typeface="Nourd"/>
                <a:ea typeface="Nourd"/>
                <a:cs typeface="Nourd"/>
                <a:sym typeface="Nourd"/>
              </a:rPr>
              <a:t>7.     Else:</a:t>
            </a:r>
          </a:p>
          <a:p>
            <a:pPr algn="just">
              <a:lnSpc>
                <a:spcPts val="4200"/>
              </a:lnSpc>
              <a:spcBef>
                <a:spcPct val="0"/>
              </a:spcBef>
            </a:pPr>
            <a:r>
              <a:rPr lang="en-US" sz="3000">
                <a:solidFill>
                  <a:srgbClr val="0166C2"/>
                </a:solidFill>
                <a:latin typeface="Nourd"/>
                <a:ea typeface="Nourd"/>
                <a:cs typeface="Nourd"/>
                <a:sym typeface="Nourd"/>
              </a:rPr>
              <a:t>8.         Mark as Normal</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4" id="4"/>
          <p:cNvSpPr txBox="true"/>
          <p:nvPr/>
        </p:nvSpPr>
        <p:spPr>
          <a:xfrm rot="0">
            <a:off x="2908972" y="2080347"/>
            <a:ext cx="12386549" cy="2380615"/>
          </a:xfrm>
          <a:prstGeom prst="rect">
            <a:avLst/>
          </a:prstGeom>
        </p:spPr>
        <p:txBody>
          <a:bodyPr anchor="t" rtlCol="false" tIns="0" lIns="0" bIns="0" rIns="0">
            <a:spAutoFit/>
          </a:bodyPr>
          <a:lstStyle/>
          <a:p>
            <a:pPr algn="l">
              <a:lnSpc>
                <a:spcPts val="4759"/>
              </a:lnSpc>
              <a:spcBef>
                <a:spcPct val="0"/>
              </a:spcBef>
            </a:pPr>
            <a:r>
              <a:rPr lang="en-US" b="true" sz="3399">
                <a:solidFill>
                  <a:srgbClr val="0166C2"/>
                </a:solidFill>
                <a:latin typeface="Nourd Bold"/>
                <a:ea typeface="Nourd Bold"/>
                <a:cs typeface="Nourd Bold"/>
                <a:sym typeface="Nourd Bold"/>
              </a:rPr>
              <a:t>Alg</a:t>
            </a:r>
            <a:r>
              <a:rPr lang="en-US" b="true" sz="3399">
                <a:solidFill>
                  <a:srgbClr val="0166C2"/>
                </a:solidFill>
                <a:latin typeface="Nourd Bold"/>
                <a:ea typeface="Nourd Bold"/>
                <a:cs typeface="Nourd Bold"/>
                <a:sym typeface="Nourd Bold"/>
              </a:rPr>
              <a:t>orithm 2: Attack Classification using Random Forest</a:t>
            </a:r>
          </a:p>
          <a:p>
            <a:pPr algn="l">
              <a:lnSpc>
                <a:spcPts val="4759"/>
              </a:lnSpc>
              <a:spcBef>
                <a:spcPct val="0"/>
              </a:spcBef>
            </a:pPr>
            <a:r>
              <a:rPr lang="en-US" b="true" sz="3399">
                <a:solidFill>
                  <a:srgbClr val="0166C2"/>
                </a:solidFill>
                <a:latin typeface="Nourd Bold"/>
                <a:ea typeface="Nourd Bold"/>
                <a:cs typeface="Nourd Bold"/>
                <a:sym typeface="Nourd Bold"/>
              </a:rPr>
              <a:t>Input: Anomalous samples</a:t>
            </a:r>
          </a:p>
          <a:p>
            <a:pPr algn="l">
              <a:lnSpc>
                <a:spcPts val="4759"/>
              </a:lnSpc>
              <a:spcBef>
                <a:spcPct val="0"/>
              </a:spcBef>
            </a:pPr>
            <a:r>
              <a:rPr lang="en-US" b="true" sz="3399">
                <a:solidFill>
                  <a:srgbClr val="0166C2"/>
                </a:solidFill>
                <a:latin typeface="Nourd Bold"/>
                <a:ea typeface="Nourd Bold"/>
                <a:cs typeface="Nourd Bold"/>
                <a:sym typeface="Nourd Bold"/>
              </a:rPr>
              <a:t>Output: Attack type / Abnormal pattern</a:t>
            </a:r>
          </a:p>
          <a:p>
            <a:pPr algn="just">
              <a:lnSpc>
                <a:spcPts val="4759"/>
              </a:lnSpc>
              <a:spcBef>
                <a:spcPct val="0"/>
              </a:spcBef>
            </a:pPr>
          </a:p>
        </p:txBody>
      </p:sp>
      <p:sp>
        <p:nvSpPr>
          <p:cNvPr name="TextBox 5" id="5"/>
          <p:cNvSpPr txBox="true"/>
          <p:nvPr/>
        </p:nvSpPr>
        <p:spPr>
          <a:xfrm rot="0">
            <a:off x="4718731" y="4273943"/>
            <a:ext cx="8242102" cy="42481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1. Train Random Forest </a:t>
            </a:r>
            <a:r>
              <a:rPr lang="en-US" sz="3000">
                <a:solidFill>
                  <a:srgbClr val="0166C2"/>
                </a:solidFill>
                <a:latin typeface="Nourd"/>
                <a:ea typeface="Nourd"/>
                <a:cs typeface="Nourd"/>
                <a:sym typeface="Nourd"/>
              </a:rPr>
              <a:t>using labeled attack data</a:t>
            </a:r>
          </a:p>
          <a:p>
            <a:pPr algn="just">
              <a:lnSpc>
                <a:spcPts val="4200"/>
              </a:lnSpc>
              <a:spcBef>
                <a:spcPct val="0"/>
              </a:spcBef>
            </a:pPr>
            <a:r>
              <a:rPr lang="en-US" sz="3000">
                <a:solidFill>
                  <a:srgbClr val="0166C2"/>
                </a:solidFill>
                <a:latin typeface="Nourd"/>
                <a:ea typeface="Nourd"/>
                <a:cs typeface="Nourd"/>
                <a:sym typeface="Nourd"/>
              </a:rPr>
              <a:t>2. For each anomalous sample:</a:t>
            </a:r>
          </a:p>
          <a:p>
            <a:pPr algn="just">
              <a:lnSpc>
                <a:spcPts val="4200"/>
              </a:lnSpc>
              <a:spcBef>
                <a:spcPct val="0"/>
              </a:spcBef>
            </a:pPr>
            <a:r>
              <a:rPr lang="en-US" sz="3000">
                <a:solidFill>
                  <a:srgbClr val="0166C2"/>
                </a:solidFill>
                <a:latin typeface="Nourd"/>
                <a:ea typeface="Nourd"/>
                <a:cs typeface="Nourd"/>
                <a:sym typeface="Nourd"/>
              </a:rPr>
              <a:t>3.     Predict class probabilities</a:t>
            </a:r>
          </a:p>
          <a:p>
            <a:pPr algn="just">
              <a:lnSpc>
                <a:spcPts val="4200"/>
              </a:lnSpc>
              <a:spcBef>
                <a:spcPct val="0"/>
              </a:spcBef>
            </a:pPr>
            <a:r>
              <a:rPr lang="en-US" sz="3000">
                <a:solidFill>
                  <a:srgbClr val="0166C2"/>
                </a:solidFill>
                <a:latin typeface="Nourd"/>
                <a:ea typeface="Nourd"/>
                <a:cs typeface="Nourd"/>
                <a:sym typeface="Nourd"/>
              </a:rPr>
              <a:t>4.     Get maximum probability (confidence)</a:t>
            </a:r>
          </a:p>
          <a:p>
            <a:pPr algn="just">
              <a:lnSpc>
                <a:spcPts val="4200"/>
              </a:lnSpc>
              <a:spcBef>
                <a:spcPct val="0"/>
              </a:spcBef>
            </a:pPr>
            <a:r>
              <a:rPr lang="en-US" sz="3000">
                <a:solidFill>
                  <a:srgbClr val="0166C2"/>
                </a:solidFill>
                <a:latin typeface="Nourd"/>
                <a:ea typeface="Nourd"/>
                <a:cs typeface="Nourd"/>
                <a:sym typeface="Nourd"/>
              </a:rPr>
              <a:t>5.     If confidence &gt;= threshold:</a:t>
            </a:r>
          </a:p>
          <a:p>
            <a:pPr algn="just">
              <a:lnSpc>
                <a:spcPts val="4200"/>
              </a:lnSpc>
              <a:spcBef>
                <a:spcPct val="0"/>
              </a:spcBef>
            </a:pPr>
            <a:r>
              <a:rPr lang="en-US" sz="3000">
                <a:solidFill>
                  <a:srgbClr val="0166C2"/>
                </a:solidFill>
                <a:latin typeface="Nourd"/>
                <a:ea typeface="Nourd"/>
                <a:cs typeface="Nourd"/>
                <a:sym typeface="Nourd"/>
              </a:rPr>
              <a:t>6.         Classify as Known Attack</a:t>
            </a:r>
          </a:p>
          <a:p>
            <a:pPr algn="just">
              <a:lnSpc>
                <a:spcPts val="4200"/>
              </a:lnSpc>
              <a:spcBef>
                <a:spcPct val="0"/>
              </a:spcBef>
            </a:pPr>
            <a:r>
              <a:rPr lang="en-US" sz="3000">
                <a:solidFill>
                  <a:srgbClr val="0166C2"/>
                </a:solidFill>
                <a:latin typeface="Nourd"/>
                <a:ea typeface="Nourd"/>
                <a:cs typeface="Nourd"/>
                <a:sym typeface="Nourd"/>
              </a:rPr>
              <a:t>7.     Else:</a:t>
            </a:r>
          </a:p>
          <a:p>
            <a:pPr algn="just">
              <a:lnSpc>
                <a:spcPts val="4200"/>
              </a:lnSpc>
              <a:spcBef>
                <a:spcPct val="0"/>
              </a:spcBef>
            </a:pPr>
            <a:r>
              <a:rPr lang="en-US" sz="3000">
                <a:solidFill>
                  <a:srgbClr val="0166C2"/>
                </a:solidFill>
                <a:latin typeface="Nourd"/>
                <a:ea typeface="Nourd"/>
                <a:cs typeface="Nourd"/>
                <a:sym typeface="Nourd"/>
              </a:rPr>
              <a:t>8.         Classify as Abnormal Pattern Detected</a:t>
            </a:r>
          </a:p>
        </p:txBody>
      </p:sp>
      <p:grpSp>
        <p:nvGrpSpPr>
          <p:cNvPr name="Group 6" id="6"/>
          <p:cNvGrpSpPr/>
          <p:nvPr/>
        </p:nvGrpSpPr>
        <p:grpSpPr>
          <a:xfrm rot="0">
            <a:off x="0" y="9796900"/>
            <a:ext cx="18288000" cy="490100"/>
            <a:chOff x="0" y="0"/>
            <a:chExt cx="4816593" cy="129080"/>
          </a:xfrm>
        </p:grpSpPr>
        <p:sp>
          <p:nvSpPr>
            <p:cNvPr name="Freeform 7" id="7"/>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8" id="8"/>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7" id="7"/>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8" id="8"/>
          <p:cNvSpPr txBox="true"/>
          <p:nvPr/>
        </p:nvSpPr>
        <p:spPr>
          <a:xfrm rot="0">
            <a:off x="663463" y="2871474"/>
            <a:ext cx="4946110" cy="6240145"/>
          </a:xfrm>
          <a:prstGeom prst="rect">
            <a:avLst/>
          </a:prstGeom>
        </p:spPr>
        <p:txBody>
          <a:bodyPr anchor="t" rtlCol="false" tIns="0" lIns="0" bIns="0" rIns="0">
            <a:spAutoFit/>
          </a:bodyPr>
          <a:lstStyle/>
          <a:p>
            <a:pPr algn="l">
              <a:lnSpc>
                <a:spcPts val="3079"/>
              </a:lnSpc>
            </a:pPr>
            <a:r>
              <a:rPr lang="en-US" sz="2199">
                <a:solidFill>
                  <a:srgbClr val="000000"/>
                </a:solidFill>
                <a:latin typeface="Nourd"/>
                <a:ea typeface="Nourd"/>
                <a:cs typeface="Nourd"/>
                <a:sym typeface="Nourd"/>
              </a:rPr>
              <a:t> BEGIN</a:t>
            </a:r>
          </a:p>
          <a:p>
            <a:pPr algn="l">
              <a:lnSpc>
                <a:spcPts val="3079"/>
              </a:lnSpc>
            </a:pPr>
            <a:r>
              <a:rPr lang="en-US" sz="2199">
                <a:solidFill>
                  <a:srgbClr val="000000"/>
                </a:solidFill>
                <a:latin typeface="Nourd"/>
                <a:ea typeface="Nourd"/>
                <a:cs typeface="Nourd"/>
                <a:sym typeface="Nourd"/>
              </a:rPr>
              <a:t>LOAD normal_data and attack_data</a:t>
            </a:r>
          </a:p>
          <a:p>
            <a:pPr algn="l">
              <a:lnSpc>
                <a:spcPts val="3079"/>
              </a:lnSpc>
            </a:pPr>
            <a:r>
              <a:rPr lang="en-US" sz="2199">
                <a:solidFill>
                  <a:srgbClr val="000000"/>
                </a:solidFill>
                <a:latin typeface="Nourd"/>
                <a:ea typeface="Nourd"/>
                <a:cs typeface="Nourd"/>
                <a:sym typeface="Nourd"/>
              </a:rPr>
              <a:t>ADD label:</a:t>
            </a:r>
          </a:p>
          <a:p>
            <a:pPr algn="l">
              <a:lnSpc>
                <a:spcPts val="3079"/>
              </a:lnSpc>
            </a:pPr>
            <a:r>
              <a:rPr lang="en-US" sz="2199">
                <a:solidFill>
                  <a:srgbClr val="000000"/>
                </a:solidFill>
                <a:latin typeface="Nourd"/>
                <a:ea typeface="Nourd"/>
                <a:cs typeface="Nourd"/>
                <a:sym typeface="Nourd"/>
              </a:rPr>
              <a:t>    normal → 0</a:t>
            </a:r>
          </a:p>
          <a:p>
            <a:pPr algn="l">
              <a:lnSpc>
                <a:spcPts val="3079"/>
              </a:lnSpc>
            </a:pPr>
            <a:r>
              <a:rPr lang="en-US" sz="2199">
                <a:solidFill>
                  <a:srgbClr val="000000"/>
                </a:solidFill>
                <a:latin typeface="Nourd"/>
                <a:ea typeface="Nourd"/>
                <a:cs typeface="Nourd"/>
                <a:sym typeface="Nourd"/>
              </a:rPr>
              <a:t>    attack → 1</a:t>
            </a:r>
          </a:p>
          <a:p>
            <a:pPr algn="l">
              <a:lnSpc>
                <a:spcPts val="3079"/>
              </a:lnSpc>
            </a:pPr>
            <a:r>
              <a:rPr lang="en-US" sz="2199">
                <a:solidFill>
                  <a:srgbClr val="000000"/>
                </a:solidFill>
                <a:latin typeface="Nourd"/>
                <a:ea typeface="Nourd"/>
                <a:cs typeface="Nourd"/>
                <a:sym typeface="Nourd"/>
              </a:rPr>
              <a:t>MERGE datasets</a:t>
            </a:r>
          </a:p>
          <a:p>
            <a:pPr algn="l">
              <a:lnSpc>
                <a:spcPts val="3079"/>
              </a:lnSpc>
            </a:pPr>
            <a:r>
              <a:rPr lang="en-US" sz="2199">
                <a:solidFill>
                  <a:srgbClr val="000000"/>
                </a:solidFill>
                <a:latin typeface="Nourd"/>
                <a:ea typeface="Nourd"/>
                <a:cs typeface="Nourd"/>
                <a:sym typeface="Nourd"/>
              </a:rPr>
              <a:t>REMOVE empty columns</a:t>
            </a:r>
          </a:p>
          <a:p>
            <a:pPr algn="l">
              <a:lnSpc>
                <a:spcPts val="3079"/>
              </a:lnSpc>
            </a:pPr>
            <a:r>
              <a:rPr lang="en-US" sz="2199">
                <a:solidFill>
                  <a:srgbClr val="000000"/>
                </a:solidFill>
                <a:latin typeface="Nourd"/>
                <a:ea typeface="Nourd"/>
                <a:cs typeface="Nourd"/>
                <a:sym typeface="Nourd"/>
              </a:rPr>
              <a:t>ENCODE categorical features</a:t>
            </a:r>
          </a:p>
          <a:p>
            <a:pPr algn="l">
              <a:lnSpc>
                <a:spcPts val="3079"/>
              </a:lnSpc>
            </a:pPr>
            <a:r>
              <a:rPr lang="en-US" sz="2199">
                <a:solidFill>
                  <a:srgbClr val="000000"/>
                </a:solidFill>
                <a:latin typeface="Nourd"/>
                <a:ea typeface="Nourd"/>
                <a:cs typeface="Nourd"/>
                <a:sym typeface="Nourd"/>
              </a:rPr>
              <a:t>SEPARATE features (X) and labels (y)</a:t>
            </a:r>
          </a:p>
          <a:p>
            <a:pPr algn="l">
              <a:lnSpc>
                <a:spcPts val="3079"/>
              </a:lnSpc>
            </a:pPr>
            <a:r>
              <a:rPr lang="en-US" sz="2199">
                <a:solidFill>
                  <a:srgbClr val="000000"/>
                </a:solidFill>
                <a:latin typeface="Nourd"/>
                <a:ea typeface="Nourd"/>
                <a:cs typeface="Nourd"/>
                <a:sym typeface="Nourd"/>
              </a:rPr>
              <a:t>REMOVE highly correlated features</a:t>
            </a:r>
          </a:p>
          <a:p>
            <a:pPr algn="l">
              <a:lnSpc>
                <a:spcPts val="3079"/>
              </a:lnSpc>
            </a:pPr>
            <a:r>
              <a:rPr lang="en-US" sz="2199">
                <a:solidFill>
                  <a:srgbClr val="000000"/>
                </a:solidFill>
                <a:latin typeface="Nourd"/>
                <a:ea typeface="Nourd"/>
                <a:cs typeface="Nourd"/>
                <a:sym typeface="Nourd"/>
              </a:rPr>
              <a:t>SAVE feature column names</a:t>
            </a:r>
          </a:p>
          <a:p>
            <a:pPr algn="l">
              <a:lnSpc>
                <a:spcPts val="3079"/>
              </a:lnSpc>
            </a:pPr>
            <a:r>
              <a:rPr lang="en-US" sz="2199">
                <a:solidFill>
                  <a:srgbClr val="000000"/>
                </a:solidFill>
                <a:latin typeface="Nourd"/>
                <a:ea typeface="Nourd"/>
                <a:cs typeface="Nourd"/>
                <a:sym typeface="Nourd"/>
              </a:rPr>
              <a:t>APPLY preprocessing:</a:t>
            </a:r>
          </a:p>
          <a:p>
            <a:pPr algn="l">
              <a:lnSpc>
                <a:spcPts val="3079"/>
              </a:lnSpc>
            </a:pPr>
            <a:r>
              <a:rPr lang="en-US" sz="2199">
                <a:solidFill>
                  <a:srgbClr val="000000"/>
                </a:solidFill>
                <a:latin typeface="Nourd"/>
                <a:ea typeface="Nourd"/>
                <a:cs typeface="Nourd"/>
                <a:sym typeface="Nourd"/>
              </a:rPr>
              <a:t> IMPUTE missing values</a:t>
            </a:r>
          </a:p>
          <a:p>
            <a:pPr algn="l">
              <a:lnSpc>
                <a:spcPts val="3079"/>
              </a:lnSpc>
            </a:pPr>
            <a:r>
              <a:rPr lang="en-US" sz="2199">
                <a:solidFill>
                  <a:srgbClr val="000000"/>
                </a:solidFill>
                <a:latin typeface="Nourd"/>
                <a:ea typeface="Nourd"/>
                <a:cs typeface="Nourd"/>
                <a:sym typeface="Nourd"/>
              </a:rPr>
              <a:t> SCALE features</a:t>
            </a:r>
          </a:p>
          <a:p>
            <a:pPr algn="l">
              <a:lnSpc>
                <a:spcPts val="3079"/>
              </a:lnSpc>
            </a:pPr>
            <a:r>
              <a:rPr lang="en-US" sz="2199">
                <a:solidFill>
                  <a:srgbClr val="000000"/>
                </a:solidFill>
                <a:latin typeface="Nourd"/>
                <a:ea typeface="Nourd"/>
                <a:cs typeface="Nourd"/>
                <a:sym typeface="Nourd"/>
              </a:rPr>
              <a:t> APPLY PCA</a:t>
            </a:r>
          </a:p>
          <a:p>
            <a:pPr algn="l">
              <a:lnSpc>
                <a:spcPts val="3079"/>
              </a:lnSpc>
            </a:pPr>
            <a:r>
              <a:rPr lang="en-US" sz="2199">
                <a:solidFill>
                  <a:srgbClr val="000000"/>
                </a:solidFill>
                <a:latin typeface="Nourd"/>
                <a:ea typeface="Nourd"/>
                <a:cs typeface="Nourd"/>
                <a:sym typeface="Nourd"/>
              </a:rPr>
              <a:t>SAVE preprocessed datasets</a:t>
            </a:r>
          </a:p>
        </p:txBody>
      </p:sp>
      <p:sp>
        <p:nvSpPr>
          <p:cNvPr name="TextBox 9" id="9"/>
          <p:cNvSpPr txBox="true"/>
          <p:nvPr/>
        </p:nvSpPr>
        <p:spPr>
          <a:xfrm rot="0">
            <a:off x="4283571" y="1739089"/>
            <a:ext cx="9720858"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PSEUDOC</a:t>
            </a:r>
            <a:r>
              <a:rPr lang="en-US" b="true" sz="5000">
                <a:solidFill>
                  <a:srgbClr val="0166C2"/>
                </a:solidFill>
                <a:latin typeface="Luktao Bold"/>
                <a:ea typeface="Luktao Bold"/>
                <a:cs typeface="Luktao Bold"/>
                <a:sym typeface="Luktao Bold"/>
              </a:rPr>
              <a:t>ODE-MODEL TRAINING</a:t>
            </a:r>
          </a:p>
        </p:txBody>
      </p:sp>
      <p:sp>
        <p:nvSpPr>
          <p:cNvPr name="TextBox 10" id="10"/>
          <p:cNvSpPr txBox="true"/>
          <p:nvPr/>
        </p:nvSpPr>
        <p:spPr>
          <a:xfrm rot="0">
            <a:off x="5990090" y="2249230"/>
            <a:ext cx="5968260" cy="7792720"/>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TRAIN LOF (Anomaly Detection)</a:t>
            </a:r>
          </a:p>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SELECT normal samples</a:t>
            </a:r>
          </a:p>
          <a:p>
            <a:pPr algn="l">
              <a:lnSpc>
                <a:spcPts val="3080"/>
              </a:lnSpc>
              <a:spcBef>
                <a:spcPct val="0"/>
              </a:spcBef>
            </a:pPr>
            <a:r>
              <a:rPr lang="en-US" sz="2200">
                <a:solidFill>
                  <a:srgbClr val="000000"/>
                </a:solidFill>
                <a:latin typeface="Nourd"/>
                <a:ea typeface="Nourd"/>
                <a:cs typeface="Nourd"/>
                <a:sym typeface="Nourd"/>
              </a:rPr>
              <a:t>FIT LOF model on normal data</a:t>
            </a:r>
          </a:p>
          <a:p>
            <a:pPr algn="l">
              <a:lnSpc>
                <a:spcPts val="3080"/>
              </a:lnSpc>
              <a:spcBef>
                <a:spcPct val="0"/>
              </a:spcBef>
            </a:pPr>
            <a:r>
              <a:rPr lang="en-US" sz="2200">
                <a:solidFill>
                  <a:srgbClr val="000000"/>
                </a:solidFill>
                <a:latin typeface="Nourd"/>
                <a:ea typeface="Nourd"/>
                <a:cs typeface="Nourd"/>
                <a:sym typeface="Nourd"/>
              </a:rPr>
              <a:t>EVALUATE LOF:</a:t>
            </a:r>
          </a:p>
          <a:p>
            <a:pPr algn="l">
              <a:lnSpc>
                <a:spcPts val="3080"/>
              </a:lnSpc>
              <a:spcBef>
                <a:spcPct val="0"/>
              </a:spcBef>
            </a:pPr>
            <a:r>
              <a:rPr lang="en-US" sz="2200">
                <a:solidFill>
                  <a:srgbClr val="000000"/>
                </a:solidFill>
                <a:latin typeface="Nourd"/>
                <a:ea typeface="Nourd"/>
                <a:cs typeface="Nourd"/>
                <a:sym typeface="Nourd"/>
              </a:rPr>
              <a:t> PREDICT on full dataset</a:t>
            </a:r>
          </a:p>
          <a:p>
            <a:pPr algn="l">
              <a:lnSpc>
                <a:spcPts val="3080"/>
              </a:lnSpc>
              <a:spcBef>
                <a:spcPct val="0"/>
              </a:spcBef>
            </a:pPr>
            <a:r>
              <a:rPr lang="en-US" sz="2200">
                <a:solidFill>
                  <a:srgbClr val="000000"/>
                </a:solidFill>
                <a:latin typeface="Nourd"/>
                <a:ea typeface="Nourd"/>
                <a:cs typeface="Nourd"/>
                <a:sym typeface="Nourd"/>
              </a:rPr>
              <a:t> COMPUTE accuracy, precision, recall, F1-score</a:t>
            </a:r>
          </a:p>
          <a:p>
            <a:pPr algn="l">
              <a:lnSpc>
                <a:spcPts val="3080"/>
              </a:lnSpc>
              <a:spcBef>
                <a:spcPct val="0"/>
              </a:spcBef>
            </a:pPr>
            <a:r>
              <a:rPr lang="en-US" sz="2200">
                <a:solidFill>
                  <a:srgbClr val="000000"/>
                </a:solidFill>
                <a:latin typeface="Nourd"/>
                <a:ea typeface="Nourd"/>
                <a:cs typeface="Nourd"/>
                <a:sym typeface="Nourd"/>
              </a:rPr>
              <a:t> GENERATE confusion matrix</a:t>
            </a:r>
          </a:p>
          <a:p>
            <a:pPr algn="l">
              <a:lnSpc>
                <a:spcPts val="3080"/>
              </a:lnSpc>
              <a:spcBef>
                <a:spcPct val="0"/>
              </a:spcBef>
            </a:pPr>
            <a:r>
              <a:rPr lang="en-US" sz="2200">
                <a:solidFill>
                  <a:srgbClr val="000000"/>
                </a:solidFill>
                <a:latin typeface="Nourd"/>
                <a:ea typeface="Nourd"/>
                <a:cs typeface="Nourd"/>
                <a:sym typeface="Nourd"/>
              </a:rPr>
              <a:t> COMPUTE ROC-AUC</a:t>
            </a:r>
          </a:p>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TRAIN RANDOM FOREST</a:t>
            </a:r>
          </a:p>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SELECT attack samples</a:t>
            </a:r>
          </a:p>
          <a:p>
            <a:pPr algn="l">
              <a:lnSpc>
                <a:spcPts val="3080"/>
              </a:lnSpc>
              <a:spcBef>
                <a:spcPct val="0"/>
              </a:spcBef>
            </a:pPr>
            <a:r>
              <a:rPr lang="en-US" sz="2200">
                <a:solidFill>
                  <a:srgbClr val="000000"/>
                </a:solidFill>
                <a:latin typeface="Nourd"/>
                <a:ea typeface="Nourd"/>
                <a:cs typeface="Nourd"/>
                <a:sym typeface="Nourd"/>
              </a:rPr>
              <a:t>ENCODE attack labels</a:t>
            </a:r>
          </a:p>
          <a:p>
            <a:pPr algn="l">
              <a:lnSpc>
                <a:spcPts val="3080"/>
              </a:lnSpc>
              <a:spcBef>
                <a:spcPct val="0"/>
              </a:spcBef>
            </a:pPr>
            <a:r>
              <a:rPr lang="en-US" sz="2200">
                <a:solidFill>
                  <a:srgbClr val="000000"/>
                </a:solidFill>
                <a:latin typeface="Nourd"/>
                <a:ea typeface="Nourd"/>
                <a:cs typeface="Nourd"/>
                <a:sym typeface="Nourd"/>
              </a:rPr>
              <a:t>BALANCE dataset using resampling</a:t>
            </a:r>
          </a:p>
          <a:p>
            <a:pPr algn="l">
              <a:lnSpc>
                <a:spcPts val="3080"/>
              </a:lnSpc>
              <a:spcBef>
                <a:spcPct val="0"/>
              </a:spcBef>
            </a:pPr>
            <a:r>
              <a:rPr lang="en-US" sz="2200">
                <a:solidFill>
                  <a:srgbClr val="000000"/>
                </a:solidFill>
                <a:latin typeface="Nourd"/>
                <a:ea typeface="Nourd"/>
                <a:cs typeface="Nourd"/>
                <a:sym typeface="Nourd"/>
              </a:rPr>
              <a:t>COMPUTE class weights</a:t>
            </a:r>
          </a:p>
          <a:p>
            <a:pPr algn="l">
              <a:lnSpc>
                <a:spcPts val="3080"/>
              </a:lnSpc>
              <a:spcBef>
                <a:spcPct val="0"/>
              </a:spcBef>
            </a:pPr>
            <a:r>
              <a:rPr lang="en-US" sz="2200">
                <a:solidFill>
                  <a:srgbClr val="000000"/>
                </a:solidFill>
                <a:latin typeface="Nourd"/>
                <a:ea typeface="Nourd"/>
                <a:cs typeface="Nourd"/>
                <a:sym typeface="Nourd"/>
              </a:rPr>
              <a:t>SPLIT into train and test</a:t>
            </a:r>
          </a:p>
          <a:p>
            <a:pPr algn="l">
              <a:lnSpc>
                <a:spcPts val="3080"/>
              </a:lnSpc>
              <a:spcBef>
                <a:spcPct val="0"/>
              </a:spcBef>
            </a:pPr>
            <a:r>
              <a:rPr lang="en-US" sz="2200">
                <a:solidFill>
                  <a:srgbClr val="000000"/>
                </a:solidFill>
                <a:latin typeface="Nourd"/>
                <a:ea typeface="Nourd"/>
                <a:cs typeface="Nourd"/>
                <a:sym typeface="Nourd"/>
              </a:rPr>
              <a:t>TRAIN Random Forest model</a:t>
            </a:r>
          </a:p>
          <a:p>
            <a:pPr algn="l">
              <a:lnSpc>
                <a:spcPts val="3080"/>
              </a:lnSpc>
              <a:spcBef>
                <a:spcPct val="0"/>
              </a:spcBef>
            </a:pPr>
          </a:p>
        </p:txBody>
      </p:sp>
      <p:sp>
        <p:nvSpPr>
          <p:cNvPr name="TextBox 11" id="11"/>
          <p:cNvSpPr txBox="true"/>
          <p:nvPr/>
        </p:nvSpPr>
        <p:spPr>
          <a:xfrm rot="0">
            <a:off x="12338866" y="2545539"/>
            <a:ext cx="5730836" cy="5068570"/>
          </a:xfrm>
          <a:prstGeom prst="rect">
            <a:avLst/>
          </a:prstGeom>
        </p:spPr>
        <p:txBody>
          <a:bodyPr anchor="t" rtlCol="false" tIns="0" lIns="0" bIns="0" rIns="0">
            <a:spAutoFit/>
          </a:bodyPr>
          <a:lstStyle/>
          <a:p>
            <a:pPr algn="just">
              <a:lnSpc>
                <a:spcPts val="3079"/>
              </a:lnSpc>
              <a:spcBef>
                <a:spcPct val="0"/>
              </a:spcBef>
            </a:pPr>
          </a:p>
          <a:p>
            <a:pPr algn="just">
              <a:lnSpc>
                <a:spcPts val="3079"/>
              </a:lnSpc>
              <a:spcBef>
                <a:spcPct val="0"/>
              </a:spcBef>
            </a:pPr>
            <a:r>
              <a:rPr lang="en-US" sz="2199">
                <a:solidFill>
                  <a:srgbClr val="000000"/>
                </a:solidFill>
                <a:latin typeface="Nourd"/>
                <a:ea typeface="Nourd"/>
                <a:cs typeface="Nourd"/>
                <a:sym typeface="Nourd"/>
              </a:rPr>
              <a:t>EVALUATE model:</a:t>
            </a:r>
          </a:p>
          <a:p>
            <a:pPr algn="just">
              <a:lnSpc>
                <a:spcPts val="3079"/>
              </a:lnSpc>
              <a:spcBef>
                <a:spcPct val="0"/>
              </a:spcBef>
            </a:pPr>
            <a:r>
              <a:rPr lang="en-US" sz="2199">
                <a:solidFill>
                  <a:srgbClr val="000000"/>
                </a:solidFill>
                <a:latin typeface="Nourd"/>
                <a:ea typeface="Nourd"/>
                <a:cs typeface="Nourd"/>
                <a:sym typeface="Nourd"/>
              </a:rPr>
              <a:t> COMPUTE accuracy, F1-score</a:t>
            </a:r>
          </a:p>
          <a:p>
            <a:pPr algn="just">
              <a:lnSpc>
                <a:spcPts val="3079"/>
              </a:lnSpc>
              <a:spcBef>
                <a:spcPct val="0"/>
              </a:spcBef>
            </a:pPr>
            <a:r>
              <a:rPr lang="en-US" sz="2199">
                <a:solidFill>
                  <a:srgbClr val="000000"/>
                </a:solidFill>
                <a:latin typeface="Nourd"/>
                <a:ea typeface="Nourd"/>
                <a:cs typeface="Nourd"/>
                <a:sym typeface="Nourd"/>
              </a:rPr>
              <a:t> PERFORM cross-validation</a:t>
            </a:r>
          </a:p>
          <a:p>
            <a:pPr algn="just">
              <a:lnSpc>
                <a:spcPts val="3079"/>
              </a:lnSpc>
              <a:spcBef>
                <a:spcPct val="0"/>
              </a:spcBef>
            </a:pPr>
            <a:r>
              <a:rPr lang="en-US" sz="2199">
                <a:solidFill>
                  <a:srgbClr val="000000"/>
                </a:solidFill>
                <a:latin typeface="Nourd"/>
                <a:ea typeface="Nourd"/>
                <a:cs typeface="Nourd"/>
                <a:sym typeface="Nourd"/>
              </a:rPr>
              <a:t> GENERATE confusion matrix</a:t>
            </a:r>
          </a:p>
          <a:p>
            <a:pPr algn="just">
              <a:lnSpc>
                <a:spcPts val="3079"/>
              </a:lnSpc>
              <a:spcBef>
                <a:spcPct val="0"/>
              </a:spcBef>
            </a:pPr>
          </a:p>
          <a:p>
            <a:pPr algn="just">
              <a:lnSpc>
                <a:spcPts val="3079"/>
              </a:lnSpc>
              <a:spcBef>
                <a:spcPct val="0"/>
              </a:spcBef>
            </a:pPr>
            <a:r>
              <a:rPr lang="en-US" sz="2199">
                <a:solidFill>
                  <a:srgbClr val="000000"/>
                </a:solidFill>
                <a:latin typeface="Nourd"/>
                <a:ea typeface="Nourd"/>
                <a:cs typeface="Nourd"/>
                <a:sym typeface="Nourd"/>
              </a:rPr>
              <a:t>SAVE models:</a:t>
            </a:r>
          </a:p>
          <a:p>
            <a:pPr algn="just">
              <a:lnSpc>
                <a:spcPts val="3079"/>
              </a:lnSpc>
              <a:spcBef>
                <a:spcPct val="0"/>
              </a:spcBef>
            </a:pPr>
            <a:r>
              <a:rPr lang="en-US" sz="2199">
                <a:solidFill>
                  <a:srgbClr val="000000"/>
                </a:solidFill>
                <a:latin typeface="Nourd"/>
                <a:ea typeface="Nourd"/>
                <a:cs typeface="Nourd"/>
                <a:sym typeface="Nourd"/>
              </a:rPr>
              <a:t> LOF model</a:t>
            </a:r>
          </a:p>
          <a:p>
            <a:pPr algn="just">
              <a:lnSpc>
                <a:spcPts val="3079"/>
              </a:lnSpc>
              <a:spcBef>
                <a:spcPct val="0"/>
              </a:spcBef>
            </a:pPr>
            <a:r>
              <a:rPr lang="en-US" sz="2199">
                <a:solidFill>
                  <a:srgbClr val="000000"/>
                </a:solidFill>
                <a:latin typeface="Nourd"/>
                <a:ea typeface="Nourd"/>
                <a:cs typeface="Nourd"/>
                <a:sym typeface="Nourd"/>
              </a:rPr>
              <a:t> Random Forest model</a:t>
            </a:r>
          </a:p>
          <a:p>
            <a:pPr algn="just">
              <a:lnSpc>
                <a:spcPts val="3079"/>
              </a:lnSpc>
              <a:spcBef>
                <a:spcPct val="0"/>
              </a:spcBef>
            </a:pPr>
            <a:r>
              <a:rPr lang="en-US" sz="2199">
                <a:solidFill>
                  <a:srgbClr val="000000"/>
                </a:solidFill>
                <a:latin typeface="Nourd"/>
                <a:ea typeface="Nourd"/>
                <a:cs typeface="Nourd"/>
                <a:sym typeface="Nourd"/>
              </a:rPr>
              <a:t> preprocessing objects (imputer, scaler, PCA)</a:t>
            </a:r>
          </a:p>
          <a:p>
            <a:pPr algn="just">
              <a:lnSpc>
                <a:spcPts val="3079"/>
              </a:lnSpc>
              <a:spcBef>
                <a:spcPct val="0"/>
              </a:spcBef>
            </a:pPr>
          </a:p>
          <a:p>
            <a:pPr algn="just">
              <a:lnSpc>
                <a:spcPts val="3079"/>
              </a:lnSpc>
              <a:spcBef>
                <a:spcPct val="0"/>
              </a:spcBef>
            </a:pPr>
            <a:r>
              <a:rPr lang="en-US" sz="2199">
                <a:solidFill>
                  <a:srgbClr val="000000"/>
                </a:solidFill>
                <a:latin typeface="Nourd"/>
                <a:ea typeface="Nourd"/>
                <a:cs typeface="Nourd"/>
                <a:sym typeface="Nourd"/>
              </a:rPr>
              <a:t>END</a:t>
            </a:r>
          </a:p>
          <a:p>
            <a:pPr algn="just">
              <a:lnSpc>
                <a:spcPts val="3079"/>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3" id="3"/>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TextBox 7" id="7"/>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8" id="8"/>
          <p:cNvSpPr txBox="true"/>
          <p:nvPr/>
        </p:nvSpPr>
        <p:spPr>
          <a:xfrm rot="0">
            <a:off x="662130" y="2927110"/>
            <a:ext cx="4946110" cy="5849620"/>
          </a:xfrm>
          <a:prstGeom prst="rect">
            <a:avLst/>
          </a:prstGeom>
        </p:spPr>
        <p:txBody>
          <a:bodyPr anchor="t" rtlCol="false" tIns="0" lIns="0" bIns="0" rIns="0">
            <a:spAutoFit/>
          </a:bodyPr>
          <a:lstStyle/>
          <a:p>
            <a:pPr algn="l">
              <a:lnSpc>
                <a:spcPts val="3079"/>
              </a:lnSpc>
            </a:pPr>
            <a:r>
              <a:rPr lang="en-US" sz="2199">
                <a:solidFill>
                  <a:srgbClr val="000000"/>
                </a:solidFill>
                <a:latin typeface="Nourd"/>
                <a:ea typeface="Nourd"/>
                <a:cs typeface="Nourd"/>
                <a:sym typeface="Nourd"/>
              </a:rPr>
              <a:t>BEGIN</a:t>
            </a:r>
          </a:p>
          <a:p>
            <a:pPr algn="l">
              <a:lnSpc>
                <a:spcPts val="3079"/>
              </a:lnSpc>
            </a:pPr>
            <a:r>
              <a:rPr lang="en-US" sz="2199">
                <a:solidFill>
                  <a:srgbClr val="000000"/>
                </a:solidFill>
                <a:latin typeface="Nourd"/>
                <a:ea typeface="Nourd"/>
                <a:cs typeface="Nourd"/>
                <a:sym typeface="Nourd"/>
              </a:rPr>
              <a:t>LOAD trained models:</a:t>
            </a:r>
          </a:p>
          <a:p>
            <a:pPr algn="l">
              <a:lnSpc>
                <a:spcPts val="3079"/>
              </a:lnSpc>
            </a:pPr>
            <a:r>
              <a:rPr lang="en-US" sz="2199">
                <a:solidFill>
                  <a:srgbClr val="000000"/>
                </a:solidFill>
                <a:latin typeface="Nourd"/>
                <a:ea typeface="Nourd"/>
                <a:cs typeface="Nourd"/>
                <a:sym typeface="Nourd"/>
              </a:rPr>
              <a:t> LOF, Random Forest, label encoder</a:t>
            </a:r>
          </a:p>
          <a:p>
            <a:pPr algn="l">
              <a:lnSpc>
                <a:spcPts val="3079"/>
              </a:lnSpc>
            </a:pPr>
            <a:r>
              <a:rPr lang="en-US" sz="2199">
                <a:solidFill>
                  <a:srgbClr val="000000"/>
                </a:solidFill>
                <a:latin typeface="Nourd"/>
                <a:ea typeface="Nourd"/>
                <a:cs typeface="Nourd"/>
                <a:sym typeface="Nourd"/>
              </a:rPr>
              <a:t> imputer, scaler, PCA</a:t>
            </a:r>
          </a:p>
          <a:p>
            <a:pPr algn="l">
              <a:lnSpc>
                <a:spcPts val="3079"/>
              </a:lnSpc>
            </a:pPr>
            <a:r>
              <a:rPr lang="en-US" sz="2199">
                <a:solidFill>
                  <a:srgbClr val="000000"/>
                </a:solidFill>
                <a:latin typeface="Nourd"/>
                <a:ea typeface="Nourd"/>
                <a:cs typeface="Nourd"/>
                <a:sym typeface="Nourd"/>
              </a:rPr>
              <a:t> feature columns</a:t>
            </a:r>
          </a:p>
          <a:p>
            <a:pPr algn="l">
              <a:lnSpc>
                <a:spcPts val="3079"/>
              </a:lnSpc>
            </a:pPr>
            <a:r>
              <a:rPr lang="en-US" sz="2199">
                <a:solidFill>
                  <a:srgbClr val="000000"/>
                </a:solidFill>
                <a:latin typeface="Nourd"/>
                <a:ea typeface="Nourd"/>
                <a:cs typeface="Nourd"/>
                <a:sym typeface="Nourd"/>
              </a:rPr>
              <a:t>LOAD new input data</a:t>
            </a:r>
          </a:p>
          <a:p>
            <a:pPr algn="l">
              <a:lnSpc>
                <a:spcPts val="3079"/>
              </a:lnSpc>
            </a:pPr>
            <a:r>
              <a:rPr lang="en-US" sz="2199">
                <a:solidFill>
                  <a:srgbClr val="000000"/>
                </a:solidFill>
                <a:latin typeface="Nourd"/>
                <a:ea typeface="Nourd"/>
                <a:cs typeface="Nourd"/>
                <a:sym typeface="Nourd"/>
              </a:rPr>
              <a:t>REMOVE label column (if exists)</a:t>
            </a:r>
          </a:p>
          <a:p>
            <a:pPr algn="l">
              <a:lnSpc>
                <a:spcPts val="3079"/>
              </a:lnSpc>
            </a:pPr>
            <a:r>
              <a:rPr lang="en-US" sz="2199">
                <a:solidFill>
                  <a:srgbClr val="000000"/>
                </a:solidFill>
                <a:latin typeface="Nourd"/>
                <a:ea typeface="Nourd"/>
                <a:cs typeface="Nourd"/>
                <a:sym typeface="Nourd"/>
              </a:rPr>
              <a:t>SELECT numeric features</a:t>
            </a:r>
          </a:p>
          <a:p>
            <a:pPr algn="l">
              <a:lnSpc>
                <a:spcPts val="3079"/>
              </a:lnSpc>
            </a:pPr>
            <a:r>
              <a:rPr lang="en-US" sz="2199">
                <a:solidFill>
                  <a:srgbClr val="000000"/>
                </a:solidFill>
                <a:latin typeface="Nourd"/>
                <a:ea typeface="Nourd"/>
                <a:cs typeface="Nourd"/>
                <a:sym typeface="Nourd"/>
              </a:rPr>
              <a:t>ALIGN features with training columns</a:t>
            </a:r>
          </a:p>
          <a:p>
            <a:pPr algn="l">
              <a:lnSpc>
                <a:spcPts val="3079"/>
              </a:lnSpc>
            </a:pPr>
            <a:r>
              <a:rPr lang="en-US" sz="2199">
                <a:solidFill>
                  <a:srgbClr val="000000"/>
                </a:solidFill>
                <a:latin typeface="Nourd"/>
                <a:ea typeface="Nourd"/>
                <a:cs typeface="Nourd"/>
                <a:sym typeface="Nourd"/>
              </a:rPr>
              <a:t> FILL missing columns</a:t>
            </a:r>
          </a:p>
          <a:p>
            <a:pPr algn="l">
              <a:lnSpc>
                <a:spcPts val="3079"/>
              </a:lnSpc>
            </a:pPr>
            <a:r>
              <a:rPr lang="en-US" sz="2199">
                <a:solidFill>
                  <a:srgbClr val="000000"/>
                </a:solidFill>
                <a:latin typeface="Nourd"/>
                <a:ea typeface="Nourd"/>
                <a:cs typeface="Nourd"/>
                <a:sym typeface="Nourd"/>
              </a:rPr>
              <a:t>APPLY preprocessing:</a:t>
            </a:r>
          </a:p>
          <a:p>
            <a:pPr algn="l">
              <a:lnSpc>
                <a:spcPts val="3079"/>
              </a:lnSpc>
            </a:pPr>
            <a:r>
              <a:rPr lang="en-US" sz="2199">
                <a:solidFill>
                  <a:srgbClr val="000000"/>
                </a:solidFill>
                <a:latin typeface="Nourd"/>
                <a:ea typeface="Nourd"/>
                <a:cs typeface="Nourd"/>
                <a:sym typeface="Nourd"/>
              </a:rPr>
              <a:t> IMPUTE</a:t>
            </a:r>
          </a:p>
          <a:p>
            <a:pPr algn="l">
              <a:lnSpc>
                <a:spcPts val="3079"/>
              </a:lnSpc>
            </a:pPr>
            <a:r>
              <a:rPr lang="en-US" sz="2199">
                <a:solidFill>
                  <a:srgbClr val="000000"/>
                </a:solidFill>
                <a:latin typeface="Nourd"/>
                <a:ea typeface="Nourd"/>
                <a:cs typeface="Nourd"/>
                <a:sym typeface="Nourd"/>
              </a:rPr>
              <a:t> SCALE</a:t>
            </a:r>
          </a:p>
          <a:p>
            <a:pPr algn="l">
              <a:lnSpc>
                <a:spcPts val="3079"/>
              </a:lnSpc>
            </a:pPr>
            <a:r>
              <a:rPr lang="en-US" sz="2199">
                <a:solidFill>
                  <a:srgbClr val="000000"/>
                </a:solidFill>
                <a:latin typeface="Nourd"/>
                <a:ea typeface="Nourd"/>
                <a:cs typeface="Nourd"/>
                <a:sym typeface="Nourd"/>
              </a:rPr>
              <a:t> APPLY PCA</a:t>
            </a:r>
          </a:p>
          <a:p>
            <a:pPr algn="l">
              <a:lnSpc>
                <a:spcPts val="3079"/>
              </a:lnSpc>
              <a:spcBef>
                <a:spcPct val="0"/>
              </a:spcBef>
            </a:pPr>
          </a:p>
        </p:txBody>
      </p:sp>
      <p:sp>
        <p:nvSpPr>
          <p:cNvPr name="TextBox 9" id="9"/>
          <p:cNvSpPr txBox="true"/>
          <p:nvPr/>
        </p:nvSpPr>
        <p:spPr>
          <a:xfrm rot="0">
            <a:off x="2076092" y="1739089"/>
            <a:ext cx="14135815"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PSEUDOC</a:t>
            </a:r>
            <a:r>
              <a:rPr lang="en-US" b="true" sz="5000">
                <a:solidFill>
                  <a:srgbClr val="0166C2"/>
                </a:solidFill>
                <a:latin typeface="Luktao Bold"/>
                <a:ea typeface="Luktao Bold"/>
                <a:cs typeface="Luktao Bold"/>
                <a:sym typeface="Luktao Bold"/>
              </a:rPr>
              <a:t>ODE-DETECTION AND ALERT SYSTEM</a:t>
            </a:r>
          </a:p>
        </p:txBody>
      </p:sp>
      <p:sp>
        <p:nvSpPr>
          <p:cNvPr name="TextBox 10" id="10"/>
          <p:cNvSpPr txBox="true"/>
          <p:nvPr/>
        </p:nvSpPr>
        <p:spPr>
          <a:xfrm rot="0">
            <a:off x="6626629" y="2936064"/>
            <a:ext cx="3653552" cy="349694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ANOMALY DETECTION (LOF)</a:t>
            </a:r>
          </a:p>
          <a:p>
            <a:pPr algn="l">
              <a:lnSpc>
                <a:spcPts val="3080"/>
              </a:lnSpc>
              <a:spcBef>
                <a:spcPct val="0"/>
              </a:spcBef>
            </a:pPr>
            <a:r>
              <a:rPr lang="en-US" sz="2200">
                <a:solidFill>
                  <a:srgbClr val="000000"/>
                </a:solidFill>
                <a:latin typeface="Nourd"/>
                <a:ea typeface="Nourd"/>
                <a:cs typeface="Nourd"/>
                <a:sym typeface="Nourd"/>
              </a:rPr>
              <a:t>-----------------------------</a:t>
            </a:r>
          </a:p>
          <a:p>
            <a:pPr algn="l">
              <a:lnSpc>
                <a:spcPts val="3080"/>
              </a:lnSpc>
              <a:spcBef>
                <a:spcPct val="0"/>
              </a:spcBef>
            </a:pPr>
            <a:r>
              <a:rPr lang="en-US" sz="2200">
                <a:solidFill>
                  <a:srgbClr val="000000"/>
                </a:solidFill>
                <a:latin typeface="Nourd"/>
                <a:ea typeface="Nourd"/>
                <a:cs typeface="Nourd"/>
                <a:sym typeface="Nourd"/>
              </a:rPr>
              <a:t>FOR each sample:</a:t>
            </a:r>
          </a:p>
          <a:p>
            <a:pPr algn="l">
              <a:lnSpc>
                <a:spcPts val="3080"/>
              </a:lnSpc>
              <a:spcBef>
                <a:spcPct val="0"/>
              </a:spcBef>
            </a:pPr>
            <a:r>
              <a:rPr lang="en-US" sz="2200">
                <a:solidFill>
                  <a:srgbClr val="000000"/>
                </a:solidFill>
                <a:latin typeface="Nourd"/>
                <a:ea typeface="Nourd"/>
                <a:cs typeface="Nourd"/>
                <a:sym typeface="Nourd"/>
              </a:rPr>
              <a:t> PREDICT using LOF</a:t>
            </a:r>
          </a:p>
          <a:p>
            <a:pPr algn="l">
              <a:lnSpc>
                <a:spcPts val="3080"/>
              </a:lnSpc>
              <a:spcBef>
                <a:spcPct val="0"/>
              </a:spcBef>
            </a:pPr>
            <a:r>
              <a:rPr lang="en-US" sz="2200">
                <a:solidFill>
                  <a:srgbClr val="000000"/>
                </a:solidFill>
                <a:latin typeface="Nourd"/>
                <a:ea typeface="Nourd"/>
                <a:cs typeface="Nourd"/>
                <a:sym typeface="Nourd"/>
              </a:rPr>
              <a:t>IF prediction = normal:</a:t>
            </a:r>
          </a:p>
          <a:p>
            <a:pPr algn="l">
              <a:lnSpc>
                <a:spcPts val="3080"/>
              </a:lnSpc>
              <a:spcBef>
                <a:spcPct val="0"/>
              </a:spcBef>
            </a:pPr>
            <a:r>
              <a:rPr lang="en-US" sz="2200">
                <a:solidFill>
                  <a:srgbClr val="000000"/>
                </a:solidFill>
                <a:latin typeface="Nourd"/>
                <a:ea typeface="Nourd"/>
                <a:cs typeface="Nourd"/>
                <a:sym typeface="Nourd"/>
              </a:rPr>
              <a:t> PRINT "Normal Traffic"</a:t>
            </a:r>
          </a:p>
          <a:p>
            <a:pPr algn="l">
              <a:lnSpc>
                <a:spcPts val="3080"/>
              </a:lnSpc>
              <a:spcBef>
                <a:spcPct val="0"/>
              </a:spcBef>
            </a:pPr>
            <a:r>
              <a:rPr lang="en-US" sz="2200">
                <a:solidFill>
                  <a:srgbClr val="000000"/>
                </a:solidFill>
                <a:latin typeface="Nourd"/>
                <a:ea typeface="Nourd"/>
                <a:cs typeface="Nourd"/>
                <a:sym typeface="Nourd"/>
              </a:rPr>
              <a:t>ELSE:</a:t>
            </a:r>
          </a:p>
          <a:p>
            <a:pPr algn="l">
              <a:lnSpc>
                <a:spcPts val="3080"/>
              </a:lnSpc>
              <a:spcBef>
                <a:spcPct val="0"/>
              </a:spcBef>
            </a:pPr>
            <a:r>
              <a:rPr lang="en-US" sz="2200">
                <a:solidFill>
                  <a:srgbClr val="000000"/>
                </a:solidFill>
                <a:latin typeface="Nourd"/>
                <a:ea typeface="Nourd"/>
                <a:cs typeface="Nourd"/>
                <a:sym typeface="Nourd"/>
              </a:rPr>
              <a:t> MARK as anomaly</a:t>
            </a:r>
          </a:p>
        </p:txBody>
      </p:sp>
      <p:sp>
        <p:nvSpPr>
          <p:cNvPr name="TextBox 11" id="11"/>
          <p:cNvSpPr txBox="true"/>
          <p:nvPr/>
        </p:nvSpPr>
        <p:spPr>
          <a:xfrm rot="0">
            <a:off x="12340199" y="2927110"/>
            <a:ext cx="5522952" cy="6240145"/>
          </a:xfrm>
          <a:prstGeom prst="rect">
            <a:avLst/>
          </a:prstGeom>
        </p:spPr>
        <p:txBody>
          <a:bodyPr anchor="t" rtlCol="false" tIns="0" lIns="0" bIns="0" rIns="0">
            <a:spAutoFit/>
          </a:bodyPr>
          <a:lstStyle/>
          <a:p>
            <a:pPr algn="just">
              <a:lnSpc>
                <a:spcPts val="3079"/>
              </a:lnSpc>
              <a:spcBef>
                <a:spcPct val="0"/>
              </a:spcBef>
            </a:pPr>
            <a:r>
              <a:rPr lang="en-US" sz="2199">
                <a:solidFill>
                  <a:srgbClr val="000000"/>
                </a:solidFill>
                <a:latin typeface="Nourd"/>
                <a:ea typeface="Nourd"/>
                <a:cs typeface="Nourd"/>
                <a:sym typeface="Nourd"/>
              </a:rPr>
              <a:t>-----------------------------</a:t>
            </a:r>
          </a:p>
          <a:p>
            <a:pPr algn="just">
              <a:lnSpc>
                <a:spcPts val="3079"/>
              </a:lnSpc>
              <a:spcBef>
                <a:spcPct val="0"/>
              </a:spcBef>
            </a:pPr>
            <a:r>
              <a:rPr lang="en-US" sz="2199">
                <a:solidFill>
                  <a:srgbClr val="000000"/>
                </a:solidFill>
                <a:latin typeface="Nourd"/>
                <a:ea typeface="Nourd"/>
                <a:cs typeface="Nourd"/>
                <a:sym typeface="Nourd"/>
              </a:rPr>
              <a:t>ATTACK CLASSIFICATION</a:t>
            </a:r>
          </a:p>
          <a:p>
            <a:pPr algn="just">
              <a:lnSpc>
                <a:spcPts val="3079"/>
              </a:lnSpc>
              <a:spcBef>
                <a:spcPct val="0"/>
              </a:spcBef>
            </a:pPr>
            <a:r>
              <a:rPr lang="en-US" sz="2199">
                <a:solidFill>
                  <a:srgbClr val="000000"/>
                </a:solidFill>
                <a:latin typeface="Nourd"/>
                <a:ea typeface="Nourd"/>
                <a:cs typeface="Nourd"/>
                <a:sym typeface="Nourd"/>
              </a:rPr>
              <a:t>-----------------------------</a:t>
            </a:r>
          </a:p>
          <a:p>
            <a:pPr algn="just">
              <a:lnSpc>
                <a:spcPts val="3079"/>
              </a:lnSpc>
              <a:spcBef>
                <a:spcPct val="0"/>
              </a:spcBef>
            </a:pPr>
            <a:r>
              <a:rPr lang="en-US" sz="2199">
                <a:solidFill>
                  <a:srgbClr val="000000"/>
                </a:solidFill>
                <a:latin typeface="Nourd"/>
                <a:ea typeface="Nourd"/>
                <a:cs typeface="Nourd"/>
                <a:sym typeface="Nourd"/>
              </a:rPr>
              <a:t>FOR each anomaly sample:</a:t>
            </a:r>
          </a:p>
          <a:p>
            <a:pPr algn="just">
              <a:lnSpc>
                <a:spcPts val="3079"/>
              </a:lnSpc>
              <a:spcBef>
                <a:spcPct val="0"/>
              </a:spcBef>
            </a:pPr>
            <a:r>
              <a:rPr lang="en-US" sz="2199">
                <a:solidFill>
                  <a:srgbClr val="000000"/>
                </a:solidFill>
                <a:latin typeface="Nourd"/>
                <a:ea typeface="Nourd"/>
                <a:cs typeface="Nourd"/>
                <a:sym typeface="Nourd"/>
              </a:rPr>
              <a:t> PREDICT probabilities using Random Forest</a:t>
            </a:r>
          </a:p>
          <a:p>
            <a:pPr algn="just">
              <a:lnSpc>
                <a:spcPts val="3079"/>
              </a:lnSpc>
              <a:spcBef>
                <a:spcPct val="0"/>
              </a:spcBef>
            </a:pPr>
            <a:r>
              <a:rPr lang="en-US" sz="2199">
                <a:solidFill>
                  <a:srgbClr val="000000"/>
                </a:solidFill>
                <a:latin typeface="Nourd"/>
                <a:ea typeface="Nourd"/>
                <a:cs typeface="Nourd"/>
                <a:sym typeface="Nourd"/>
              </a:rPr>
              <a:t> COMPUTE confidence = max probability</a:t>
            </a:r>
          </a:p>
          <a:p>
            <a:pPr algn="just">
              <a:lnSpc>
                <a:spcPts val="3079"/>
              </a:lnSpc>
              <a:spcBef>
                <a:spcPct val="0"/>
              </a:spcBef>
            </a:pPr>
            <a:r>
              <a:rPr lang="en-US" sz="2199">
                <a:solidFill>
                  <a:srgbClr val="000000"/>
                </a:solidFill>
                <a:latin typeface="Nourd"/>
                <a:ea typeface="Nourd"/>
                <a:cs typeface="Nourd"/>
                <a:sym typeface="Nourd"/>
              </a:rPr>
              <a:t> IF confidence ≥ threshold:</a:t>
            </a:r>
          </a:p>
          <a:p>
            <a:pPr algn="just">
              <a:lnSpc>
                <a:spcPts val="3079"/>
              </a:lnSpc>
              <a:spcBef>
                <a:spcPct val="0"/>
              </a:spcBef>
            </a:pPr>
            <a:r>
              <a:rPr lang="en-US" sz="2199">
                <a:solidFill>
                  <a:srgbClr val="000000"/>
                </a:solidFill>
                <a:latin typeface="Nourd"/>
                <a:ea typeface="Nourd"/>
                <a:cs typeface="Nourd"/>
                <a:sym typeface="Nourd"/>
              </a:rPr>
              <a:t> LABEL as "Known Attack"</a:t>
            </a:r>
          </a:p>
          <a:p>
            <a:pPr algn="just">
              <a:lnSpc>
                <a:spcPts val="3079"/>
              </a:lnSpc>
              <a:spcBef>
                <a:spcPct val="0"/>
              </a:spcBef>
            </a:pPr>
            <a:r>
              <a:rPr lang="en-US" sz="2199">
                <a:solidFill>
                  <a:srgbClr val="000000"/>
                </a:solidFill>
                <a:latin typeface="Nourd"/>
                <a:ea typeface="Nourd"/>
                <a:cs typeface="Nourd"/>
                <a:sym typeface="Nourd"/>
              </a:rPr>
              <a:t> DISPLAY attack type</a:t>
            </a:r>
          </a:p>
          <a:p>
            <a:pPr algn="just">
              <a:lnSpc>
                <a:spcPts val="3079"/>
              </a:lnSpc>
              <a:spcBef>
                <a:spcPct val="0"/>
              </a:spcBef>
            </a:pPr>
            <a:r>
              <a:rPr lang="en-US" sz="2199">
                <a:solidFill>
                  <a:srgbClr val="000000"/>
                </a:solidFill>
                <a:latin typeface="Nourd"/>
                <a:ea typeface="Nourd"/>
                <a:cs typeface="Nourd"/>
                <a:sym typeface="Nourd"/>
              </a:rPr>
              <a:t> ELSE:</a:t>
            </a:r>
          </a:p>
          <a:p>
            <a:pPr algn="just">
              <a:lnSpc>
                <a:spcPts val="3079"/>
              </a:lnSpc>
              <a:spcBef>
                <a:spcPct val="0"/>
              </a:spcBef>
            </a:pPr>
            <a:r>
              <a:rPr lang="en-US" sz="2199">
                <a:solidFill>
                  <a:srgbClr val="000000"/>
                </a:solidFill>
                <a:latin typeface="Nourd"/>
                <a:ea typeface="Nourd"/>
                <a:cs typeface="Nourd"/>
                <a:sym typeface="Nourd"/>
              </a:rPr>
              <a:t> LABEL as "Abnormal Pattern Detected"</a:t>
            </a:r>
          </a:p>
          <a:p>
            <a:pPr algn="just">
              <a:lnSpc>
                <a:spcPts val="3079"/>
              </a:lnSpc>
              <a:spcBef>
                <a:spcPct val="0"/>
              </a:spcBef>
            </a:pPr>
            <a:r>
              <a:rPr lang="en-US" sz="2199">
                <a:solidFill>
                  <a:srgbClr val="000000"/>
                </a:solidFill>
                <a:latin typeface="Nourd"/>
                <a:ea typeface="Nourd"/>
                <a:cs typeface="Nourd"/>
                <a:sym typeface="Nourd"/>
              </a:rPr>
              <a:t> PRINT prediction and confidence</a:t>
            </a:r>
          </a:p>
          <a:p>
            <a:pPr algn="just">
              <a:lnSpc>
                <a:spcPts val="3079"/>
              </a:lnSpc>
              <a:spcBef>
                <a:spcPct val="0"/>
              </a:spcBef>
            </a:pPr>
            <a:r>
              <a:rPr lang="en-US" sz="2199">
                <a:solidFill>
                  <a:srgbClr val="000000"/>
                </a:solidFill>
                <a:latin typeface="Nourd"/>
                <a:ea typeface="Nourd"/>
                <a:cs typeface="Nourd"/>
                <a:sym typeface="Nourd"/>
              </a:rPr>
              <a:t> LOG alert</a:t>
            </a:r>
          </a:p>
          <a:p>
            <a:pPr algn="just">
              <a:lnSpc>
                <a:spcPts val="3079"/>
              </a:lnSpc>
              <a:spcBef>
                <a:spcPct val="0"/>
              </a:spcBef>
            </a:pPr>
            <a:r>
              <a:rPr lang="en-US" sz="2199">
                <a:solidFill>
                  <a:srgbClr val="000000"/>
                </a:solidFill>
                <a:latin typeface="Nourd"/>
                <a:ea typeface="Nourd"/>
                <a:cs typeface="Nourd"/>
                <a:sym typeface="Nourd"/>
              </a:rPr>
              <a:t> SEND email alert</a:t>
            </a:r>
          </a:p>
          <a:p>
            <a:pPr algn="just">
              <a:lnSpc>
                <a:spcPts val="3079"/>
              </a:lnSpc>
              <a:spcBef>
                <a:spcPct val="0"/>
              </a:spcBef>
            </a:pPr>
            <a:r>
              <a:rPr lang="en-US" sz="2199">
                <a:solidFill>
                  <a:srgbClr val="000000"/>
                </a:solidFill>
                <a:latin typeface="Nourd"/>
                <a:ea typeface="Nourd"/>
                <a:cs typeface="Nourd"/>
                <a:sym typeface="Nourd"/>
              </a:rPr>
              <a:t>SAVE final output results</a:t>
            </a:r>
          </a:p>
          <a:p>
            <a:pPr algn="just">
              <a:lnSpc>
                <a:spcPts val="3079"/>
              </a:lnSpc>
              <a:spcBef>
                <a:spcPct val="0"/>
              </a:spcBef>
            </a:pPr>
            <a:r>
              <a:rPr lang="en-US" sz="2199">
                <a:solidFill>
                  <a:srgbClr val="000000"/>
                </a:solidFill>
                <a:latin typeface="Nourd"/>
                <a:ea typeface="Nourd"/>
                <a:cs typeface="Nourd"/>
                <a:sym typeface="Nourd"/>
              </a:rPr>
              <a:t>END</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1241642" y="2160043"/>
            <a:ext cx="7238956" cy="7277771"/>
          </a:xfrm>
          <a:custGeom>
            <a:avLst/>
            <a:gdLst/>
            <a:ahLst/>
            <a:cxnLst/>
            <a:rect r="r" b="b" t="t" l="l"/>
            <a:pathLst>
              <a:path h="7277771" w="7238956">
                <a:moveTo>
                  <a:pt x="0" y="0"/>
                </a:moveTo>
                <a:lnTo>
                  <a:pt x="7238956" y="0"/>
                </a:lnTo>
                <a:lnTo>
                  <a:pt x="7238956" y="7277771"/>
                </a:lnTo>
                <a:lnTo>
                  <a:pt x="0" y="7277771"/>
                </a:lnTo>
                <a:lnTo>
                  <a:pt x="0" y="0"/>
                </a:lnTo>
                <a:close/>
              </a:path>
            </a:pathLst>
          </a:custGeom>
          <a:blipFill>
            <a:blip r:embed="rId3"/>
            <a:stretch>
              <a:fillRect l="0" t="0" r="0" b="0"/>
            </a:stretch>
          </a:blipFill>
        </p:spPr>
      </p:sp>
      <p:sp>
        <p:nvSpPr>
          <p:cNvPr name="Freeform 7" id="7"/>
          <p:cNvSpPr/>
          <p:nvPr/>
        </p:nvSpPr>
        <p:spPr>
          <a:xfrm flipH="false" flipV="false" rot="0">
            <a:off x="9347509" y="2160043"/>
            <a:ext cx="7452437" cy="7277771"/>
          </a:xfrm>
          <a:custGeom>
            <a:avLst/>
            <a:gdLst/>
            <a:ahLst/>
            <a:cxnLst/>
            <a:rect r="r" b="b" t="t" l="l"/>
            <a:pathLst>
              <a:path h="7277771" w="7452437">
                <a:moveTo>
                  <a:pt x="0" y="0"/>
                </a:moveTo>
                <a:lnTo>
                  <a:pt x="7452438" y="0"/>
                </a:lnTo>
                <a:lnTo>
                  <a:pt x="7452438" y="7277771"/>
                </a:lnTo>
                <a:lnTo>
                  <a:pt x="0" y="7277771"/>
                </a:lnTo>
                <a:lnTo>
                  <a:pt x="0" y="0"/>
                </a:lnTo>
                <a:close/>
              </a:path>
            </a:pathLst>
          </a:custGeom>
          <a:blipFill>
            <a:blip r:embed="rId4"/>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4549914" y="2277057"/>
            <a:ext cx="8837255" cy="6695553"/>
          </a:xfrm>
          <a:custGeom>
            <a:avLst/>
            <a:gdLst/>
            <a:ahLst/>
            <a:cxnLst/>
            <a:rect r="r" b="b" t="t" l="l"/>
            <a:pathLst>
              <a:path h="6695553" w="8837255">
                <a:moveTo>
                  <a:pt x="0" y="0"/>
                </a:moveTo>
                <a:lnTo>
                  <a:pt x="8837255" y="0"/>
                </a:lnTo>
                <a:lnTo>
                  <a:pt x="8837255" y="6695553"/>
                </a:lnTo>
                <a:lnTo>
                  <a:pt x="0" y="6695553"/>
                </a:lnTo>
                <a:lnTo>
                  <a:pt x="0" y="0"/>
                </a:lnTo>
                <a:close/>
              </a:path>
            </a:pathLst>
          </a:custGeom>
          <a:blipFill>
            <a:blip r:embed="rId3"/>
            <a:stretch>
              <a:fillRect l="0" t="0" r="-3397"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280028" y="2985765"/>
            <a:ext cx="8287189" cy="5471129"/>
          </a:xfrm>
          <a:custGeom>
            <a:avLst/>
            <a:gdLst/>
            <a:ahLst/>
            <a:cxnLst/>
            <a:rect r="r" b="b" t="t" l="l"/>
            <a:pathLst>
              <a:path h="5471129" w="8287189">
                <a:moveTo>
                  <a:pt x="0" y="0"/>
                </a:moveTo>
                <a:lnTo>
                  <a:pt x="8287189" y="0"/>
                </a:lnTo>
                <a:lnTo>
                  <a:pt x="8287189" y="5471129"/>
                </a:lnTo>
                <a:lnTo>
                  <a:pt x="0" y="5471129"/>
                </a:lnTo>
                <a:lnTo>
                  <a:pt x="0" y="0"/>
                </a:lnTo>
                <a:close/>
              </a:path>
            </a:pathLst>
          </a:custGeom>
          <a:blipFill>
            <a:blip r:embed="rId3"/>
            <a:stretch>
              <a:fillRect l="-3285" t="0" r="-5494"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3447091" y="1615628"/>
            <a:ext cx="11955653" cy="1739900"/>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Model Testing (Metrics</a:t>
            </a:r>
            <a:r>
              <a:rPr lang="en-US" b="true" sz="5000">
                <a:solidFill>
                  <a:srgbClr val="0166C2"/>
                </a:solidFill>
                <a:latin typeface="Luktao Bold"/>
                <a:ea typeface="Luktao Bold"/>
                <a:cs typeface="Luktao Bold"/>
                <a:sym typeface="Luktao Bold"/>
              </a:rPr>
              <a:t>)</a:t>
            </a:r>
          </a:p>
          <a:p>
            <a:pPr algn="ctr">
              <a:lnSpc>
                <a:spcPts val="7000"/>
              </a:lnSpc>
              <a:spcBef>
                <a:spcPct val="0"/>
              </a:spcBef>
            </a:pPr>
          </a:p>
        </p:txBody>
      </p:sp>
      <p:sp>
        <p:nvSpPr>
          <p:cNvPr name="TextBox 10" id="10"/>
          <p:cNvSpPr txBox="true"/>
          <p:nvPr/>
        </p:nvSpPr>
        <p:spPr>
          <a:xfrm rot="0">
            <a:off x="9424918" y="2639756"/>
            <a:ext cx="8219882" cy="6434455"/>
          </a:xfrm>
          <a:prstGeom prst="rect">
            <a:avLst/>
          </a:prstGeom>
        </p:spPr>
        <p:txBody>
          <a:bodyPr anchor="t" rtlCol="false" tIns="0" lIns="0" bIns="0" rIns="0">
            <a:spAutoFit/>
          </a:bodyPr>
          <a:lstStyle/>
          <a:p>
            <a:pPr algn="just">
              <a:lnSpc>
                <a:spcPts val="3919"/>
              </a:lnSpc>
              <a:spcBef>
                <a:spcPct val="0"/>
              </a:spcBef>
            </a:pPr>
            <a:r>
              <a:rPr lang="en-US" sz="2799">
                <a:solidFill>
                  <a:srgbClr val="0166C2"/>
                </a:solidFill>
                <a:latin typeface="Nourd"/>
                <a:ea typeface="Nourd"/>
                <a:cs typeface="Nourd"/>
                <a:sym typeface="Nourd"/>
              </a:rPr>
              <a:t>The performance evaluation of the LOF model demonstrates strong capability in detecting anomalies within IoT network traffic. The model achieves an accuracy of approximately 88.8%, indicating reliable overall performance. A precision of around 91.0% shows that the system is highly effective in correctly identifying attack traffic with fewer false alarms. However, the recall is slightly lower at about 85.6%, suggesting that some attack instances are not detected. The F1 score of approximately 88.2% reflects a good balance between precision and recall, indicating stable and consistent performance.</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1714583" y="2950720"/>
            <a:ext cx="6806326" cy="5741390"/>
          </a:xfrm>
          <a:custGeom>
            <a:avLst/>
            <a:gdLst/>
            <a:ahLst/>
            <a:cxnLst/>
            <a:rect r="r" b="b" t="t" l="l"/>
            <a:pathLst>
              <a:path h="5741390" w="6806326">
                <a:moveTo>
                  <a:pt x="0" y="0"/>
                </a:moveTo>
                <a:lnTo>
                  <a:pt x="6806326" y="0"/>
                </a:lnTo>
                <a:lnTo>
                  <a:pt x="6806326" y="5741390"/>
                </a:lnTo>
                <a:lnTo>
                  <a:pt x="0" y="5741390"/>
                </a:lnTo>
                <a:lnTo>
                  <a:pt x="0" y="0"/>
                </a:lnTo>
                <a:close/>
              </a:path>
            </a:pathLst>
          </a:custGeom>
          <a:blipFill>
            <a:blip r:embed="rId3"/>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3698360" y="1591688"/>
            <a:ext cx="11955653" cy="1739900"/>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Model Testing (Metrics</a:t>
            </a:r>
            <a:r>
              <a:rPr lang="en-US" b="true" sz="5000">
                <a:solidFill>
                  <a:srgbClr val="0166C2"/>
                </a:solidFill>
                <a:latin typeface="Luktao Bold"/>
                <a:ea typeface="Luktao Bold"/>
                <a:cs typeface="Luktao Bold"/>
                <a:sym typeface="Luktao Bold"/>
              </a:rPr>
              <a:t>)</a:t>
            </a:r>
          </a:p>
          <a:p>
            <a:pPr algn="ctr">
              <a:lnSpc>
                <a:spcPts val="7000"/>
              </a:lnSpc>
              <a:spcBef>
                <a:spcPct val="0"/>
              </a:spcBef>
            </a:pPr>
          </a:p>
        </p:txBody>
      </p:sp>
      <p:sp>
        <p:nvSpPr>
          <p:cNvPr name="TextBox 10" id="10"/>
          <p:cNvSpPr txBox="true"/>
          <p:nvPr/>
        </p:nvSpPr>
        <p:spPr>
          <a:xfrm rot="0">
            <a:off x="9676187" y="2461638"/>
            <a:ext cx="7878086" cy="7240187"/>
          </a:xfrm>
          <a:prstGeom prst="rect">
            <a:avLst/>
          </a:prstGeom>
        </p:spPr>
        <p:txBody>
          <a:bodyPr anchor="t" rtlCol="false" tIns="0" lIns="0" bIns="0" rIns="0">
            <a:spAutoFit/>
          </a:bodyPr>
          <a:lstStyle/>
          <a:p>
            <a:pPr algn="just">
              <a:lnSpc>
                <a:spcPts val="3590"/>
              </a:lnSpc>
            </a:pPr>
            <a:r>
              <a:rPr lang="en-US" sz="2564">
                <a:solidFill>
                  <a:srgbClr val="0166C2"/>
                </a:solidFill>
                <a:latin typeface="Nourd"/>
                <a:ea typeface="Nourd"/>
                <a:cs typeface="Nourd"/>
                <a:sym typeface="Nourd"/>
              </a:rPr>
              <a:t>The confusion matrix provides insight into the model’s performance, showing that 5,427 normal instances are correctly classified as normal, while 573 normal instances are incorrectly flagged as attacks (false positives). Similarly, 18,655 attack instances are correctly detected, whereas 1,345 attack instances are misclassified as normal (false negatives). These results indicate that the model is highly effective in detecting attack instances with a strong true positive rate, while maintaining relatively low false positives; however, there is still scope for improvement in reducing missed attacks. Overall, the LOF model demonstrates solid performance for anomaly detection in IoT environments, achieving a good balance between accurate attack detection and minimizing false alarms.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1247175" y="2960061"/>
            <a:ext cx="6815103" cy="5729821"/>
          </a:xfrm>
          <a:custGeom>
            <a:avLst/>
            <a:gdLst/>
            <a:ahLst/>
            <a:cxnLst/>
            <a:rect r="r" b="b" t="t" l="l"/>
            <a:pathLst>
              <a:path h="5729821" w="6815103">
                <a:moveTo>
                  <a:pt x="0" y="0"/>
                </a:moveTo>
                <a:lnTo>
                  <a:pt x="6815104" y="0"/>
                </a:lnTo>
                <a:lnTo>
                  <a:pt x="6815104" y="5729821"/>
                </a:lnTo>
                <a:lnTo>
                  <a:pt x="0" y="5729821"/>
                </a:lnTo>
                <a:lnTo>
                  <a:pt x="0" y="0"/>
                </a:lnTo>
                <a:close/>
              </a:path>
            </a:pathLst>
          </a:custGeom>
          <a:blipFill>
            <a:blip r:embed="rId3"/>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3698360" y="1591688"/>
            <a:ext cx="11955653" cy="1739900"/>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Model Testing (Evaluation Technique</a:t>
            </a:r>
            <a:r>
              <a:rPr lang="en-US" b="true" sz="5000">
                <a:solidFill>
                  <a:srgbClr val="0166C2"/>
                </a:solidFill>
                <a:latin typeface="Luktao Bold"/>
                <a:ea typeface="Luktao Bold"/>
                <a:cs typeface="Luktao Bold"/>
                <a:sym typeface="Luktao Bold"/>
              </a:rPr>
              <a:t>)</a:t>
            </a:r>
          </a:p>
          <a:p>
            <a:pPr algn="ctr">
              <a:lnSpc>
                <a:spcPts val="7000"/>
              </a:lnSpc>
              <a:spcBef>
                <a:spcPct val="0"/>
              </a:spcBef>
            </a:pPr>
          </a:p>
        </p:txBody>
      </p:sp>
      <p:sp>
        <p:nvSpPr>
          <p:cNvPr name="TextBox 10" id="10"/>
          <p:cNvSpPr txBox="true"/>
          <p:nvPr/>
        </p:nvSpPr>
        <p:spPr>
          <a:xfrm rot="0">
            <a:off x="8631864" y="3336407"/>
            <a:ext cx="9162598" cy="4929505"/>
          </a:xfrm>
          <a:prstGeom prst="rect">
            <a:avLst/>
          </a:prstGeom>
        </p:spPr>
        <p:txBody>
          <a:bodyPr anchor="t" rtlCol="false" tIns="0" lIns="0" bIns="0" rIns="0">
            <a:spAutoFit/>
          </a:bodyPr>
          <a:lstStyle/>
          <a:p>
            <a:pPr algn="just" marL="604521" indent="-302261" lvl="1">
              <a:lnSpc>
                <a:spcPts val="3920"/>
              </a:lnSpc>
              <a:buFont typeface="Arial"/>
              <a:buChar char="•"/>
            </a:pPr>
            <a:r>
              <a:rPr lang="en-US" sz="2800">
                <a:solidFill>
                  <a:srgbClr val="0166C2"/>
                </a:solidFill>
                <a:latin typeface="Nourd"/>
                <a:ea typeface="Nourd"/>
                <a:cs typeface="Nourd"/>
                <a:sym typeface="Nourd"/>
              </a:rPr>
              <a:t>The ROC curve shows the performance of the LOF model in detecting anomalies.</a:t>
            </a:r>
          </a:p>
          <a:p>
            <a:pPr algn="just" marL="604521" indent="-302261" lvl="1">
              <a:lnSpc>
                <a:spcPts val="3920"/>
              </a:lnSpc>
              <a:buFont typeface="Arial"/>
              <a:buChar char="•"/>
            </a:pPr>
            <a:r>
              <a:rPr lang="en-US" sz="2800">
                <a:solidFill>
                  <a:srgbClr val="0166C2"/>
                </a:solidFill>
                <a:latin typeface="Nourd"/>
                <a:ea typeface="Nourd"/>
                <a:cs typeface="Nourd"/>
                <a:sym typeface="Nourd"/>
              </a:rPr>
              <a:t>It plots True Positive Rate (TPR) vs False Positive Rate (FPR).</a:t>
            </a:r>
          </a:p>
          <a:p>
            <a:pPr algn="just" marL="604521" indent="-302261" lvl="1">
              <a:lnSpc>
                <a:spcPts val="3920"/>
              </a:lnSpc>
              <a:buFont typeface="Arial"/>
              <a:buChar char="•"/>
            </a:pPr>
            <a:r>
              <a:rPr lang="en-US" sz="2800">
                <a:solidFill>
                  <a:srgbClr val="0166C2"/>
                </a:solidFill>
                <a:latin typeface="Nourd"/>
                <a:ea typeface="Nourd"/>
                <a:cs typeface="Nourd"/>
                <a:sym typeface="Nourd"/>
              </a:rPr>
              <a:t>The curve is close to the top-left corner, indicating high detection accuracy.</a:t>
            </a:r>
          </a:p>
          <a:p>
            <a:pPr algn="just" marL="604521" indent="-302261" lvl="1">
              <a:lnSpc>
                <a:spcPts val="3920"/>
              </a:lnSpc>
              <a:buFont typeface="Arial"/>
              <a:buChar char="•"/>
            </a:pPr>
            <a:r>
              <a:rPr lang="en-US" sz="2800">
                <a:solidFill>
                  <a:srgbClr val="0166C2"/>
                </a:solidFill>
                <a:latin typeface="Nourd"/>
                <a:ea typeface="Nourd"/>
                <a:cs typeface="Nourd"/>
                <a:sym typeface="Nourd"/>
              </a:rPr>
              <a:t>The model achieves high true positives with low false positives.</a:t>
            </a:r>
          </a:p>
          <a:p>
            <a:pPr algn="just" marL="604521" indent="-302261" lvl="1">
              <a:lnSpc>
                <a:spcPts val="3920"/>
              </a:lnSpc>
              <a:buFont typeface="Arial"/>
              <a:buChar char="•"/>
            </a:pPr>
            <a:r>
              <a:rPr lang="en-US" sz="2800">
                <a:solidFill>
                  <a:srgbClr val="0166C2"/>
                </a:solidFill>
                <a:latin typeface="Nourd"/>
                <a:ea typeface="Nourd"/>
                <a:cs typeface="Nourd"/>
                <a:sym typeface="Nourd"/>
              </a:rPr>
              <a:t>It performs significantly better than random classification (diagonal line).</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362363" y="3331588"/>
            <a:ext cx="7181362" cy="4298703"/>
          </a:xfrm>
          <a:custGeom>
            <a:avLst/>
            <a:gdLst/>
            <a:ahLst/>
            <a:cxnLst/>
            <a:rect r="r" b="b" t="t" l="l"/>
            <a:pathLst>
              <a:path h="4298703" w="7181362">
                <a:moveTo>
                  <a:pt x="0" y="0"/>
                </a:moveTo>
                <a:lnTo>
                  <a:pt x="7181362" y="0"/>
                </a:lnTo>
                <a:lnTo>
                  <a:pt x="7181362" y="4298702"/>
                </a:lnTo>
                <a:lnTo>
                  <a:pt x="0" y="4298702"/>
                </a:lnTo>
                <a:lnTo>
                  <a:pt x="0" y="0"/>
                </a:lnTo>
                <a:close/>
              </a:path>
            </a:pathLst>
          </a:custGeom>
          <a:blipFill>
            <a:blip r:embed="rId3"/>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3698360" y="1591688"/>
            <a:ext cx="11955653" cy="1739900"/>
          </a:xfrm>
          <a:prstGeom prst="rect">
            <a:avLst/>
          </a:prstGeom>
        </p:spPr>
        <p:txBody>
          <a:bodyPr anchor="t" rtlCol="false" tIns="0" lIns="0" bIns="0" rIns="0">
            <a:spAutoFit/>
          </a:bodyPr>
          <a:lstStyle/>
          <a:p>
            <a:pPr algn="ctr">
              <a:lnSpc>
                <a:spcPts val="7000"/>
              </a:lnSpc>
              <a:spcBef>
                <a:spcPct val="0"/>
              </a:spcBef>
            </a:pPr>
            <a:r>
              <a:rPr lang="en-US" b="true" sz="5000">
                <a:solidFill>
                  <a:srgbClr val="0166C2"/>
                </a:solidFill>
                <a:latin typeface="Luktao Bold"/>
                <a:ea typeface="Luktao Bold"/>
                <a:cs typeface="Luktao Bold"/>
                <a:sym typeface="Luktao Bold"/>
              </a:rPr>
              <a:t>Detailed Result Analysis</a:t>
            </a:r>
          </a:p>
          <a:p>
            <a:pPr algn="ctr">
              <a:lnSpc>
                <a:spcPts val="7000"/>
              </a:lnSpc>
              <a:spcBef>
                <a:spcPct val="0"/>
              </a:spcBef>
            </a:pPr>
          </a:p>
        </p:txBody>
      </p:sp>
      <p:sp>
        <p:nvSpPr>
          <p:cNvPr name="TextBox 10" id="10"/>
          <p:cNvSpPr txBox="true"/>
          <p:nvPr/>
        </p:nvSpPr>
        <p:spPr>
          <a:xfrm rot="0">
            <a:off x="8041262" y="2732383"/>
            <a:ext cx="9675923" cy="6170295"/>
          </a:xfrm>
          <a:prstGeom prst="rect">
            <a:avLst/>
          </a:prstGeom>
        </p:spPr>
        <p:txBody>
          <a:bodyPr anchor="t" rtlCol="false" tIns="0" lIns="0" bIns="0" rIns="0">
            <a:spAutoFit/>
          </a:bodyPr>
          <a:lstStyle/>
          <a:p>
            <a:pPr algn="just">
              <a:lnSpc>
                <a:spcPts val="3779"/>
              </a:lnSpc>
              <a:spcBef>
                <a:spcPct val="0"/>
              </a:spcBef>
            </a:pPr>
            <a:r>
              <a:rPr lang="en-US" sz="2700">
                <a:solidFill>
                  <a:srgbClr val="0166C2"/>
                </a:solidFill>
                <a:latin typeface="Nourd"/>
                <a:ea typeface="Nourd"/>
                <a:cs typeface="Nourd"/>
                <a:sym typeface="Nourd"/>
              </a:rPr>
              <a:t>The graph compares different anomaly detection models based on accuracy and F1 score, where the Local Outlier Factor (LOF) achieves the highest performance with values around 0.88–0.89, indicating strong capability in distinguishing normal and attack traffic. The Autoencoder also performs well but slightly below LOF, while One-Class SVM shows moderate performance with balanced results. Elliptic Envelope performs lower, especially in F1 score, and Isolation Forest shows the weakest performance, indicating higher misclassification. Overall, the results highlight that LOF is the most effective model for IoT anomaly detection, and while accuracy provides general performance insight, F1 score gives a better understanding of model effectiveness.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506700" y="1543117"/>
            <a:ext cx="9274599" cy="854075"/>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CONCLUSION</a:t>
            </a:r>
          </a:p>
        </p:txBody>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2070041" y="2519112"/>
            <a:ext cx="14847027" cy="7448550"/>
          </a:xfrm>
          <a:prstGeom prst="rect">
            <a:avLst/>
          </a:prstGeom>
        </p:spPr>
        <p:txBody>
          <a:bodyPr anchor="t" rtlCol="false" tIns="0" lIns="0" bIns="0" rIns="0">
            <a:spAutoFit/>
          </a:bodyPr>
          <a:lstStyle/>
          <a:p>
            <a:pPr algn="just">
              <a:lnSpc>
                <a:spcPts val="4200"/>
              </a:lnSpc>
              <a:spcBef>
                <a:spcPct val="0"/>
              </a:spcBef>
            </a:pPr>
            <a:r>
              <a:rPr lang="en-US" sz="3000">
                <a:solidFill>
                  <a:srgbClr val="0166C2"/>
                </a:solidFill>
                <a:latin typeface="Nourd"/>
                <a:ea typeface="Nourd"/>
                <a:cs typeface="Nourd"/>
                <a:sym typeface="Nourd"/>
              </a:rPr>
              <a:t>The implementation of the IoT-based Smart Home Security System successfully demonstrates an automated approach for detecting and classifying cyber threats in real-time network traffic. By integrating IoT communication (ESP32 and smart bulb), network traffic analysis, and a hybrid machine learning framework combining Local Outlier Factor (LOF) for anomaly detection and Random Forest for attack classification, the system achieves accurate identification of normal behavior, known attacks, and abnormal patterns. The use of a consistent prepr</a:t>
            </a:r>
            <a:r>
              <a:rPr lang="en-US" sz="3000">
                <a:solidFill>
                  <a:srgbClr val="0166C2"/>
                </a:solidFill>
                <a:latin typeface="Nourd"/>
                <a:ea typeface="Nourd"/>
                <a:cs typeface="Nourd"/>
                <a:sym typeface="Nourd"/>
              </a:rPr>
              <a:t>ocessing pipeline ensures reliable and stable predictions, while confidence-based decision logic improves the handling of uncertain scenarios. The inclusion of an automated email alert mechanism further enhances responsiveness and practical usability. The results validate the effectiveness, reliability, and scalability of the proposed approach, while also highlighting opportunities for future enhancements such as improved classification accuracy, real-time streaming integration, and advanced zero-day attack detection techniques.</a:t>
            </a:r>
          </a:p>
          <a:p>
            <a:pPr algn="just">
              <a:lnSpc>
                <a:spcPts val="4200"/>
              </a:lnSpc>
              <a:spcBef>
                <a:spcPct val="0"/>
              </a:spcBef>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506700" y="1543117"/>
            <a:ext cx="9274599" cy="854075"/>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FUTURE SCOPE</a:t>
            </a:r>
          </a:p>
        </p:txBody>
      </p:sp>
      <p:grpSp>
        <p:nvGrpSpPr>
          <p:cNvPr name="Group 3" id="3"/>
          <p:cNvGrpSpPr/>
          <p:nvPr/>
        </p:nvGrpSpPr>
        <p:grpSpPr>
          <a:xfrm rot="0">
            <a:off x="0" y="9796900"/>
            <a:ext cx="18288000" cy="490100"/>
            <a:chOff x="0" y="0"/>
            <a:chExt cx="4816593" cy="129080"/>
          </a:xfrm>
        </p:grpSpPr>
        <p:sp>
          <p:nvSpPr>
            <p:cNvPr name="Freeform 4" id="4"/>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5" id="5"/>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6" id="6"/>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7" id="7"/>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8" id="8"/>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
        <p:nvSpPr>
          <p:cNvPr name="TextBox 9" id="9"/>
          <p:cNvSpPr txBox="true"/>
          <p:nvPr/>
        </p:nvSpPr>
        <p:spPr>
          <a:xfrm rot="0">
            <a:off x="2070041" y="2519112"/>
            <a:ext cx="14847027" cy="5848350"/>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166C2"/>
                </a:solidFill>
                <a:latin typeface="Nourd Bold"/>
                <a:ea typeface="Nourd Bold"/>
                <a:cs typeface="Nourd Bold"/>
                <a:sym typeface="Nourd Bold"/>
              </a:rPr>
              <a:t>Sca</a:t>
            </a:r>
            <a:r>
              <a:rPr lang="en-US" b="true" sz="3000">
                <a:solidFill>
                  <a:srgbClr val="0166C2"/>
                </a:solidFill>
                <a:latin typeface="Nourd Bold"/>
                <a:ea typeface="Nourd Bold"/>
                <a:cs typeface="Nourd Bold"/>
                <a:sym typeface="Nourd Bold"/>
              </a:rPr>
              <a:t>lability to Larger IoT Environments:</a:t>
            </a:r>
            <a:r>
              <a:rPr lang="en-US" sz="3000">
                <a:solidFill>
                  <a:srgbClr val="0166C2"/>
                </a:solidFill>
                <a:latin typeface="Nourd"/>
                <a:ea typeface="Nourd"/>
                <a:cs typeface="Nourd"/>
                <a:sym typeface="Nourd"/>
              </a:rPr>
              <a:t> Extend the system to support multiple IoT devices and more complex smart home or industrial IoT networks.</a:t>
            </a:r>
          </a:p>
          <a:p>
            <a:pPr algn="just" marL="647700" indent="-323850" lvl="1">
              <a:lnSpc>
                <a:spcPts val="4200"/>
              </a:lnSpc>
              <a:buFont typeface="Arial"/>
              <a:buChar char="•"/>
            </a:pPr>
            <a:r>
              <a:rPr lang="en-US" b="true" sz="3000">
                <a:solidFill>
                  <a:srgbClr val="0166C2"/>
                </a:solidFill>
                <a:latin typeface="Nourd Bold"/>
                <a:ea typeface="Nourd Bold"/>
                <a:cs typeface="Nourd Bold"/>
                <a:sym typeface="Nourd Bold"/>
              </a:rPr>
              <a:t>Advanced Alert and Monitoring System:</a:t>
            </a:r>
            <a:r>
              <a:rPr lang="en-US" sz="3000">
                <a:solidFill>
                  <a:srgbClr val="0166C2"/>
                </a:solidFill>
                <a:latin typeface="Nourd"/>
                <a:ea typeface="Nourd"/>
                <a:cs typeface="Nourd"/>
                <a:sym typeface="Nourd"/>
              </a:rPr>
              <a:t> Develop a web-based dashboard and improve alert mechanisms for better visualization and faster response.</a:t>
            </a:r>
          </a:p>
          <a:p>
            <a:pPr algn="just" marL="647700" indent="-323850" lvl="1">
              <a:lnSpc>
                <a:spcPts val="4200"/>
              </a:lnSpc>
              <a:spcBef>
                <a:spcPct val="0"/>
              </a:spcBef>
              <a:buFont typeface="Arial"/>
              <a:buChar char="•"/>
            </a:pPr>
            <a:r>
              <a:rPr lang="en-US" b="true" sz="3000">
                <a:solidFill>
                  <a:srgbClr val="0166C2"/>
                </a:solidFill>
                <a:latin typeface="Nourd Bold"/>
                <a:ea typeface="Nourd Bold"/>
                <a:cs typeface="Nourd Bold"/>
                <a:sym typeface="Nourd Bold"/>
              </a:rPr>
              <a:t>Federated Learning for Distributed IoT Security:</a:t>
            </a:r>
            <a:r>
              <a:rPr lang="en-US" sz="3000">
                <a:solidFill>
                  <a:srgbClr val="0166C2"/>
                </a:solidFill>
                <a:latin typeface="Nourd"/>
                <a:ea typeface="Nourd"/>
                <a:cs typeface="Nourd"/>
                <a:sym typeface="Nourd"/>
              </a:rPr>
              <a:t> Implem</a:t>
            </a:r>
            <a:r>
              <a:rPr lang="en-US" sz="3000">
                <a:solidFill>
                  <a:srgbClr val="0166C2"/>
                </a:solidFill>
                <a:latin typeface="Nourd"/>
                <a:ea typeface="Nourd"/>
                <a:cs typeface="Nourd"/>
                <a:sym typeface="Nourd"/>
              </a:rPr>
              <a:t>ent federated learning to train models across multiple IoT devices without sharing raw data, improving privacy and scalability.</a:t>
            </a:r>
          </a:p>
          <a:p>
            <a:pPr algn="just" marL="647700" indent="-323850" lvl="1">
              <a:lnSpc>
                <a:spcPts val="4200"/>
              </a:lnSpc>
              <a:spcBef>
                <a:spcPct val="0"/>
              </a:spcBef>
              <a:buFont typeface="Arial"/>
              <a:buChar char="•"/>
            </a:pPr>
            <a:r>
              <a:rPr lang="en-US" b="true" sz="3000">
                <a:solidFill>
                  <a:srgbClr val="0166C2"/>
                </a:solidFill>
                <a:latin typeface="Nourd Bold"/>
                <a:ea typeface="Nourd Bold"/>
                <a:cs typeface="Nourd Bold"/>
                <a:sym typeface="Nourd Bold"/>
              </a:rPr>
              <a:t>Adaptive and Self-Learning Detection System:</a:t>
            </a:r>
            <a:r>
              <a:rPr lang="en-US" sz="3000">
                <a:solidFill>
                  <a:srgbClr val="0166C2"/>
                </a:solidFill>
                <a:latin typeface="Nourd"/>
                <a:ea typeface="Nourd"/>
                <a:cs typeface="Nourd"/>
                <a:sym typeface="Nourd"/>
              </a:rPr>
              <a:t>Develop a system that continuously learns from new network traffic and automatically updates the model to adapt to evolving attack patterns.</a:t>
            </a:r>
          </a:p>
          <a:p>
            <a:pPr algn="just">
              <a:lnSpc>
                <a:spcPts val="4200"/>
              </a:lnSpc>
              <a:spcBef>
                <a:spcPct val="0"/>
              </a:spcBef>
            </a:pP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4506700" y="1543117"/>
            <a:ext cx="9274599" cy="1739900"/>
          </a:xfrm>
          <a:prstGeom prst="rect">
            <a:avLst/>
          </a:prstGeom>
        </p:spPr>
        <p:txBody>
          <a:bodyPr anchor="t" rtlCol="false" tIns="0" lIns="0" bIns="0" rIns="0">
            <a:spAutoFit/>
          </a:bodyPr>
          <a:lstStyle/>
          <a:p>
            <a:pPr algn="ctr">
              <a:lnSpc>
                <a:spcPts val="7000"/>
              </a:lnSpc>
            </a:pPr>
            <a:r>
              <a:rPr lang="en-US" b="true" sz="5000">
                <a:solidFill>
                  <a:srgbClr val="0166C2"/>
                </a:solidFill>
                <a:latin typeface="Luktao Bold"/>
                <a:ea typeface="Luktao Bold"/>
                <a:cs typeface="Luktao Bold"/>
                <a:sym typeface="Luktao Bold"/>
              </a:rPr>
              <a:t>WORK PLAN</a:t>
            </a:r>
          </a:p>
          <a:p>
            <a:pPr algn="ctr">
              <a:lnSpc>
                <a:spcPts val="7000"/>
              </a:lnSpc>
            </a:pPr>
          </a:p>
        </p:txBody>
      </p:sp>
      <p:sp>
        <p:nvSpPr>
          <p:cNvPr name="TextBox 3" id="3"/>
          <p:cNvSpPr txBox="true"/>
          <p:nvPr/>
        </p:nvSpPr>
        <p:spPr>
          <a:xfrm rot="0">
            <a:off x="514350" y="2351465"/>
            <a:ext cx="17259300" cy="7690485"/>
          </a:xfrm>
          <a:prstGeom prst="rect">
            <a:avLst/>
          </a:prstGeom>
        </p:spPr>
        <p:txBody>
          <a:bodyPr anchor="t" rtlCol="false" tIns="0" lIns="0" bIns="0" rIns="0">
            <a:spAutoFit/>
          </a:bodyPr>
          <a:lstStyle/>
          <a:p>
            <a:pPr algn="just" marL="647700" indent="-323850" lvl="1">
              <a:lnSpc>
                <a:spcPts val="6240"/>
              </a:lnSpc>
              <a:buFont typeface="Arial"/>
              <a:buChar char="•"/>
            </a:pPr>
            <a:r>
              <a:rPr lang="en-US" b="true" sz="3000">
                <a:solidFill>
                  <a:srgbClr val="0166C2"/>
                </a:solidFill>
                <a:latin typeface="Nourd Bold"/>
                <a:ea typeface="Nourd Bold"/>
                <a:cs typeface="Nourd Bold"/>
                <a:sym typeface="Nourd Bold"/>
              </a:rPr>
              <a:t>PHASE 1:  IOT SYSTEM SETUP   (WEEKS 17–20)</a:t>
            </a:r>
          </a:p>
          <a:p>
            <a:pPr algn="just" marL="647700" indent="-323850" lvl="1">
              <a:lnSpc>
                <a:spcPts val="6240"/>
              </a:lnSpc>
              <a:buFont typeface="Arial"/>
              <a:buChar char="•"/>
            </a:pPr>
            <a:r>
              <a:rPr lang="en-US" b="true" sz="3000">
                <a:solidFill>
                  <a:srgbClr val="0166C2"/>
                </a:solidFill>
                <a:latin typeface="Nourd Bold"/>
                <a:ea typeface="Nourd Bold"/>
                <a:cs typeface="Nourd Bold"/>
                <a:sym typeface="Nourd Bold"/>
              </a:rPr>
              <a:t>PHASE 2:DATA GENERATION  (WEEKS 21–24)</a:t>
            </a:r>
          </a:p>
          <a:p>
            <a:pPr algn="just" marL="647700" indent="-323850" lvl="1">
              <a:lnSpc>
                <a:spcPts val="6240"/>
              </a:lnSpc>
              <a:buFont typeface="Arial"/>
              <a:buChar char="•"/>
            </a:pPr>
            <a:r>
              <a:rPr lang="en-US" b="true" sz="3000">
                <a:solidFill>
                  <a:srgbClr val="0166C2"/>
                </a:solidFill>
                <a:latin typeface="Nourd Bold"/>
                <a:ea typeface="Nourd Bold"/>
                <a:cs typeface="Nourd Bold"/>
                <a:sym typeface="Nourd Bold"/>
              </a:rPr>
              <a:t>PHASE 3: FEATURE EXTRACTION &amp; PREPROCESSING(WEEKS 25–28)</a:t>
            </a:r>
          </a:p>
          <a:p>
            <a:pPr algn="just" marL="647700" indent="-323850" lvl="1">
              <a:lnSpc>
                <a:spcPts val="6240"/>
              </a:lnSpc>
              <a:buFont typeface="Arial"/>
              <a:buChar char="•"/>
            </a:pPr>
            <a:r>
              <a:rPr lang="en-US" b="true" sz="3000">
                <a:solidFill>
                  <a:srgbClr val="0166C2"/>
                </a:solidFill>
                <a:latin typeface="Nourd Bold"/>
                <a:ea typeface="Nourd Bold"/>
                <a:cs typeface="Nourd Bold"/>
                <a:sym typeface="Nourd Bold"/>
              </a:rPr>
              <a:t>PHASE 4:  ANOMALY DETECTION MODEL DEVELOPMENT &amp; BENCHMARKING (WEEKS 29–31)</a:t>
            </a:r>
          </a:p>
          <a:p>
            <a:pPr algn="just" marL="647700" indent="-323850" lvl="1">
              <a:lnSpc>
                <a:spcPts val="6240"/>
              </a:lnSpc>
              <a:buFont typeface="Arial"/>
              <a:buChar char="•"/>
            </a:pPr>
            <a:r>
              <a:rPr lang="en-US" b="true" sz="3000">
                <a:solidFill>
                  <a:srgbClr val="0166C2"/>
                </a:solidFill>
                <a:latin typeface="Nourd Bold"/>
                <a:ea typeface="Nourd Bold"/>
                <a:cs typeface="Nourd Bold"/>
                <a:sym typeface="Nourd Bold"/>
              </a:rPr>
              <a:t>PHASE 5: SECURITY MECHANISM IMPLEMENTATION &amp; RESULT ANALYSIS  (WEEKS 32–33)</a:t>
            </a:r>
          </a:p>
          <a:p>
            <a:pPr algn="just" marL="647700" indent="-323850" lvl="1">
              <a:lnSpc>
                <a:spcPts val="6240"/>
              </a:lnSpc>
              <a:spcBef>
                <a:spcPct val="0"/>
              </a:spcBef>
              <a:buFont typeface="Arial"/>
              <a:buChar char="•"/>
            </a:pPr>
            <a:r>
              <a:rPr lang="en-US" b="true" sz="3000">
                <a:solidFill>
                  <a:srgbClr val="0166C2"/>
                </a:solidFill>
                <a:latin typeface="Nourd Bold"/>
                <a:ea typeface="Nourd Bold"/>
                <a:cs typeface="Nourd Bold"/>
                <a:sym typeface="Nourd Bold"/>
              </a:rPr>
              <a:t>PHASE 6: DOCUMENTATION, REPORT WRITING(WEEK 34)</a:t>
            </a:r>
          </a:p>
          <a:p>
            <a:pPr algn="just">
              <a:lnSpc>
                <a:spcPts val="6240"/>
              </a:lnSpc>
              <a:spcBef>
                <a:spcPct val="0"/>
              </a:spcBef>
            </a:pPr>
          </a:p>
          <a:p>
            <a:pPr algn="just">
              <a:lnSpc>
                <a:spcPts val="4200"/>
              </a:lnSpc>
              <a:spcBef>
                <a:spcPct val="0"/>
              </a:spcBef>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5407062" y="1590860"/>
            <a:ext cx="7473876" cy="1730401"/>
          </a:xfrm>
          <a:prstGeom prst="rect">
            <a:avLst/>
          </a:prstGeom>
        </p:spPr>
        <p:txBody>
          <a:bodyPr anchor="t" rtlCol="false" tIns="0" lIns="0" bIns="0" rIns="0">
            <a:spAutoFit/>
          </a:bodyPr>
          <a:lstStyle/>
          <a:p>
            <a:pPr algn="ctr">
              <a:lnSpc>
                <a:spcPts val="6998"/>
              </a:lnSpc>
            </a:pPr>
            <a:r>
              <a:rPr lang="en-US" b="true" sz="4998">
                <a:solidFill>
                  <a:srgbClr val="0166C2"/>
                </a:solidFill>
                <a:latin typeface="Luktao Bold"/>
                <a:ea typeface="Luktao Bold"/>
                <a:cs typeface="Luktao Bold"/>
                <a:sym typeface="Luktao Bold"/>
              </a:rPr>
              <a:t>REFERENCES</a:t>
            </a:r>
          </a:p>
          <a:p>
            <a:pPr algn="ctr">
              <a:lnSpc>
                <a:spcPts val="6998"/>
              </a:lnSpc>
            </a:pPr>
          </a:p>
        </p:txBody>
      </p:sp>
      <p:sp>
        <p:nvSpPr>
          <p:cNvPr name="TextBox 3" id="3"/>
          <p:cNvSpPr txBox="true"/>
          <p:nvPr/>
        </p:nvSpPr>
        <p:spPr>
          <a:xfrm rot="0">
            <a:off x="1617764" y="2466975"/>
            <a:ext cx="15641536" cy="6791325"/>
          </a:xfrm>
          <a:prstGeom prst="rect">
            <a:avLst/>
          </a:prstGeom>
        </p:spPr>
        <p:txBody>
          <a:bodyPr anchor="t" rtlCol="false" tIns="0" lIns="0" bIns="0" rIns="0">
            <a:spAutoFit/>
          </a:bodyPr>
          <a:lstStyle/>
          <a:p>
            <a:pPr algn="just" marL="647697" indent="-323848" lvl="1">
              <a:lnSpc>
                <a:spcPts val="4199"/>
              </a:lnSpc>
              <a:buFont typeface="Arial"/>
              <a:buChar char="•"/>
            </a:pPr>
            <a:r>
              <a:rPr lang="en-US" sz="2999" spc="374">
                <a:solidFill>
                  <a:srgbClr val="0166C2"/>
                </a:solidFill>
                <a:latin typeface="Nourd"/>
                <a:ea typeface="Nourd"/>
                <a:cs typeface="Nourd"/>
                <a:sym typeface="Nourd"/>
              </a:rPr>
              <a:t>S. S. R. DEPURU, A. G. REDDY, AND L. M. PATNAIK, “A MACHINE LEARNING ATTACK-RESISTANT PUF-BASED ROBUST AND EFFICIENT MUTUAL AUTHENTICATION SCHEME IN FOG-ENABLED IOT ENVIRONMENTS,” IEEE ACCESS, VOL. 9, PP. 1–15, 2021.</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A. K. SIKDER, G. PETRACCA, H. AKSU, T. JAEGER, AND A. S. ULUAGAC, “A SURVEY OF PUBLIC IOT DATASETS FOR NETWORK SECURITY RESEARCH,” ARXIV PREPRINT ARXIV:1905.01727, 2019.</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C. LAI, X. MA, J. DENG, AND R. LU, “SMART HOME SECURITY: AN EFFICIENT MULTI-FACTOR AUTHENTICATION PROTOCOL FOR I</a:t>
            </a:r>
            <a:r>
              <a:rPr lang="en-US" sz="2999" spc="374">
                <a:solidFill>
                  <a:srgbClr val="0166C2"/>
                </a:solidFill>
                <a:latin typeface="Nourd"/>
                <a:ea typeface="Nourd"/>
                <a:cs typeface="Nourd"/>
                <a:sym typeface="Nourd"/>
              </a:rPr>
              <a:t>OT,” IEEE INTERNET OF THINGS JOURNAL, VOL. 8, NO. 2, PP. 1–13, 2021.</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CISCO, “SMART HOME SECURITY SIMULATION IN PACKET TRACER,” CISCO NETWORKING ACADEMY RESOURCES, 2020.</a:t>
            </a:r>
          </a:p>
          <a:p>
            <a:pPr algn="just">
              <a:lnSpc>
                <a:spcPts val="4199"/>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5407062" y="1590860"/>
            <a:ext cx="7473876" cy="1730401"/>
          </a:xfrm>
          <a:prstGeom prst="rect">
            <a:avLst/>
          </a:prstGeom>
        </p:spPr>
        <p:txBody>
          <a:bodyPr anchor="t" rtlCol="false" tIns="0" lIns="0" bIns="0" rIns="0">
            <a:spAutoFit/>
          </a:bodyPr>
          <a:lstStyle/>
          <a:p>
            <a:pPr algn="ctr">
              <a:lnSpc>
                <a:spcPts val="6998"/>
              </a:lnSpc>
            </a:pPr>
            <a:r>
              <a:rPr lang="en-US" b="true" sz="4998">
                <a:solidFill>
                  <a:srgbClr val="0166C2"/>
                </a:solidFill>
                <a:latin typeface="Luktao Bold"/>
                <a:ea typeface="Luktao Bold"/>
                <a:cs typeface="Luktao Bold"/>
                <a:sym typeface="Luktao Bold"/>
              </a:rPr>
              <a:t>REFERENCES</a:t>
            </a:r>
          </a:p>
          <a:p>
            <a:pPr algn="ctr">
              <a:lnSpc>
                <a:spcPts val="6998"/>
              </a:lnSpc>
            </a:pPr>
          </a:p>
        </p:txBody>
      </p:sp>
      <p:sp>
        <p:nvSpPr>
          <p:cNvPr name="TextBox 3" id="3"/>
          <p:cNvSpPr txBox="true"/>
          <p:nvPr/>
        </p:nvSpPr>
        <p:spPr>
          <a:xfrm rot="0">
            <a:off x="1293785" y="2481699"/>
            <a:ext cx="16429638" cy="7315200"/>
          </a:xfrm>
          <a:prstGeom prst="rect">
            <a:avLst/>
          </a:prstGeom>
        </p:spPr>
        <p:txBody>
          <a:bodyPr anchor="t" rtlCol="false" tIns="0" lIns="0" bIns="0" rIns="0">
            <a:spAutoFit/>
          </a:bodyPr>
          <a:lstStyle/>
          <a:p>
            <a:pPr algn="just" marL="647697" indent="-323848" lvl="1">
              <a:lnSpc>
                <a:spcPts val="4199"/>
              </a:lnSpc>
              <a:buFont typeface="Arial"/>
              <a:buChar char="•"/>
            </a:pPr>
            <a:r>
              <a:rPr lang="en-US" sz="2999" spc="374">
                <a:solidFill>
                  <a:srgbClr val="0166C2"/>
                </a:solidFill>
                <a:latin typeface="Nourd"/>
                <a:ea typeface="Nourd"/>
                <a:cs typeface="Nourd"/>
                <a:sym typeface="Nourd"/>
              </a:rPr>
              <a:t>M. AMMAR, G. RUSSELLO, AND B. CRISPO, “INTERNET OF THINGS: A SURVEY ON THE SECURITY OF IOT FRAMEWORKS,” JOURNAL OF INFORMATION SECURITY AND APPLICATIONS, VOL. 38, PP. 8–27, 2018.</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J. GRANJAL, E. MONTEIRO, AND J. SILVA, “SECURITY FOR THE INTERNET OF THINGS: A SURVEY OF EXISTING PROTOCOLS AND OPEN RESEARCH ISSUES,” IEEE COMMUNICATIONS SURVEYS &amp; TUTORIALS, VOL. 17, NO. 3, PP. 1294–1312, 2015.</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A. K. SIKDER, H. AKSU, AND A. S. ULUAGAC, “IOT-AD: A FRAMEWORK FOR ANOMALY DETECTION IN IOT NETWORKS,” ARXIV PREPRINT ARXIV:2306.06764, 2023.</a:t>
            </a:r>
          </a:p>
          <a:p>
            <a:pPr algn="just" marL="647697" indent="-323848" lvl="1">
              <a:lnSpc>
                <a:spcPts val="4199"/>
              </a:lnSpc>
              <a:buFont typeface="Arial"/>
              <a:buChar char="•"/>
            </a:pPr>
            <a:r>
              <a:rPr lang="en-US" sz="2999" spc="374">
                <a:solidFill>
                  <a:srgbClr val="0166C2"/>
                </a:solidFill>
                <a:latin typeface="Nourd"/>
                <a:ea typeface="Nourd"/>
                <a:cs typeface="Nourd"/>
                <a:sym typeface="Nourd"/>
              </a:rPr>
              <a:t>M. GUPTA, J. GAO, AND R. G. CID-FUENTES, “SECURING MQTT ECOSYSTEM: EXPLORING VULNERABILITIES, MITIGATIONS, AND FUTURE </a:t>
            </a:r>
            <a:r>
              <a:rPr lang="en-US" sz="2999" spc="374">
                <a:solidFill>
                  <a:srgbClr val="0166C2"/>
                </a:solidFill>
                <a:latin typeface="Nourd"/>
                <a:ea typeface="Nourd"/>
                <a:cs typeface="Nourd"/>
                <a:sym typeface="Nourd"/>
              </a:rPr>
              <a:t>TRAJECTORIES,” SENSORS, VOL. 24, NO. 9, PP. 2781–2797, 2024.</a:t>
            </a:r>
          </a:p>
          <a:p>
            <a:pPr algn="just">
              <a:lnSpc>
                <a:spcPts val="4199"/>
              </a:lnSpc>
            </a:pPr>
          </a:p>
        </p:txBody>
      </p:sp>
      <p:grpSp>
        <p:nvGrpSpPr>
          <p:cNvPr name="Group 4" id="4"/>
          <p:cNvGrpSpPr/>
          <p:nvPr/>
        </p:nvGrpSpPr>
        <p:grpSpPr>
          <a:xfrm rot="0">
            <a:off x="0" y="9796900"/>
            <a:ext cx="18288000" cy="490100"/>
            <a:chOff x="0" y="0"/>
            <a:chExt cx="4816593" cy="129080"/>
          </a:xfrm>
        </p:grpSpPr>
        <p:sp>
          <p:nvSpPr>
            <p:cNvPr name="Freeform 5" id="5"/>
            <p:cNvSpPr/>
            <p:nvPr/>
          </p:nvSpPr>
          <p:spPr>
            <a:xfrm flipH="false" flipV="false" rot="0">
              <a:off x="0" y="0"/>
              <a:ext cx="4816592" cy="129080"/>
            </a:xfrm>
            <a:custGeom>
              <a:avLst/>
              <a:gdLst/>
              <a:ahLst/>
              <a:cxnLst/>
              <a:rect r="r" b="b" t="t" l="l"/>
              <a:pathLst>
                <a:path h="129080" w="4816592">
                  <a:moveTo>
                    <a:pt x="0" y="0"/>
                  </a:moveTo>
                  <a:lnTo>
                    <a:pt x="4816592" y="0"/>
                  </a:lnTo>
                  <a:lnTo>
                    <a:pt x="4816592" y="129080"/>
                  </a:lnTo>
                  <a:lnTo>
                    <a:pt x="0" y="129080"/>
                  </a:lnTo>
                  <a:close/>
                </a:path>
              </a:pathLst>
            </a:custGeom>
            <a:solidFill>
              <a:srgbClr val="0166C2"/>
            </a:solidFill>
          </p:spPr>
        </p:sp>
        <p:sp>
          <p:nvSpPr>
            <p:cNvPr name="TextBox 6" id="6"/>
            <p:cNvSpPr txBox="true"/>
            <p:nvPr/>
          </p:nvSpPr>
          <p:spPr>
            <a:xfrm>
              <a:off x="0" y="-47625"/>
              <a:ext cx="4816593" cy="176705"/>
            </a:xfrm>
            <a:prstGeom prst="rect">
              <a:avLst/>
            </a:prstGeom>
          </p:spPr>
          <p:txBody>
            <a:bodyPr anchor="ctr" rtlCol="false" tIns="50800" lIns="50800" bIns="50800" rIns="50800"/>
            <a:lstStyle/>
            <a:p>
              <a:pPr algn="ctr">
                <a:lnSpc>
                  <a:spcPts val="3725"/>
                </a:lnSpc>
              </a:pPr>
            </a:p>
          </p:txBody>
        </p:sp>
      </p:grpSp>
      <p:sp>
        <p:nvSpPr>
          <p:cNvPr name="Freeform 7" id="7"/>
          <p:cNvSpPr/>
          <p:nvPr/>
        </p:nvSpPr>
        <p:spPr>
          <a:xfrm flipH="false" flipV="false" rot="0">
            <a:off x="0" y="0"/>
            <a:ext cx="1888860" cy="1845931"/>
          </a:xfrm>
          <a:custGeom>
            <a:avLst/>
            <a:gdLst/>
            <a:ahLst/>
            <a:cxnLst/>
            <a:rect r="r" b="b" t="t" l="l"/>
            <a:pathLst>
              <a:path h="1845931" w="1888860">
                <a:moveTo>
                  <a:pt x="0" y="0"/>
                </a:moveTo>
                <a:lnTo>
                  <a:pt x="1888860" y="0"/>
                </a:lnTo>
                <a:lnTo>
                  <a:pt x="1888860" y="1845931"/>
                </a:lnTo>
                <a:lnTo>
                  <a:pt x="0" y="1845931"/>
                </a:lnTo>
                <a:lnTo>
                  <a:pt x="0" y="0"/>
                </a:lnTo>
                <a:close/>
              </a:path>
            </a:pathLst>
          </a:custGeom>
          <a:blipFill>
            <a:blip r:embed="rId2"/>
            <a:stretch>
              <a:fillRect l="0" t="0" r="0" b="0"/>
            </a:stretch>
          </a:blipFill>
        </p:spPr>
      </p:sp>
      <p:sp>
        <p:nvSpPr>
          <p:cNvPr name="TextBox 8" id="8"/>
          <p:cNvSpPr txBox="true"/>
          <p:nvPr/>
        </p:nvSpPr>
        <p:spPr>
          <a:xfrm rot="0">
            <a:off x="2908972" y="325540"/>
            <a:ext cx="13534430" cy="1127228"/>
          </a:xfrm>
          <a:prstGeom prst="rect">
            <a:avLst/>
          </a:prstGeom>
        </p:spPr>
        <p:txBody>
          <a:bodyPr anchor="t" rtlCol="false" tIns="0" lIns="0" bIns="0" rIns="0">
            <a:spAutoFit/>
          </a:bodyPr>
          <a:lstStyle/>
          <a:p>
            <a:pPr algn="ctr">
              <a:lnSpc>
                <a:spcPts val="4544"/>
              </a:lnSpc>
              <a:spcBef>
                <a:spcPct val="0"/>
              </a:spcBef>
            </a:pPr>
            <a:r>
              <a:rPr lang="en-US" b="true" sz="3245">
                <a:solidFill>
                  <a:srgbClr val="FF2828"/>
                </a:solidFill>
                <a:latin typeface="Luktao Bold"/>
                <a:ea typeface="Luktao Bold"/>
                <a:cs typeface="Luktao Bold"/>
                <a:sym typeface="Luktao Bold"/>
              </a:rPr>
              <a:t>VNR VIGNANA JYOTHI INSTITUTE OF ENGINEERING AND TECHNOLOGY</a:t>
            </a:r>
          </a:p>
          <a:p>
            <a:pPr algn="ctr">
              <a:lnSpc>
                <a:spcPts val="4544"/>
              </a:lnSpc>
              <a:spcBef>
                <a:spcPct val="0"/>
              </a:spcBef>
            </a:pPr>
            <a:r>
              <a:rPr lang="en-US" b="true" sz="3245">
                <a:solidFill>
                  <a:srgbClr val="0166C2"/>
                </a:solidFill>
                <a:latin typeface="Luktao Bold"/>
                <a:ea typeface="Luktao Bold"/>
                <a:cs typeface="Luktao Bold"/>
                <a:sym typeface="Luktao Bold"/>
              </a:rPr>
              <a:t>COMPUTER SCIENCE AND ENGINEERING DEPARTMENT</a:t>
            </a:r>
          </a:p>
        </p:txBody>
      </p:sp>
      <p:sp>
        <p:nvSpPr>
          <p:cNvPr name="TextBox 9" id="9"/>
          <p:cNvSpPr txBox="true"/>
          <p:nvPr/>
        </p:nvSpPr>
        <p:spPr>
          <a:xfrm rot="0">
            <a:off x="136386" y="9824780"/>
            <a:ext cx="18015228" cy="396240"/>
          </a:xfrm>
          <a:prstGeom prst="rect">
            <a:avLst/>
          </a:prstGeom>
        </p:spPr>
        <p:txBody>
          <a:bodyPr anchor="t" rtlCol="false" tIns="0" lIns="0" bIns="0" rIns="0">
            <a:spAutoFit/>
          </a:bodyPr>
          <a:lstStyle/>
          <a:p>
            <a:pPr algn="ctr">
              <a:lnSpc>
                <a:spcPts val="3359"/>
              </a:lnSpc>
              <a:spcBef>
                <a:spcPct val="0"/>
              </a:spcBef>
            </a:pPr>
            <a:r>
              <a:rPr lang="en-US" sz="2400">
                <a:solidFill>
                  <a:srgbClr val="F8FCFF"/>
                </a:solidFill>
                <a:latin typeface="Luktao"/>
                <a:ea typeface="Luktao"/>
                <a:cs typeface="Luktao"/>
                <a:sym typeface="Luktao"/>
              </a:rPr>
              <a:t>A Hybr</a:t>
            </a:r>
            <a:r>
              <a:rPr lang="en-US" sz="2400">
                <a:solidFill>
                  <a:srgbClr val="F8FCFF"/>
                </a:solidFill>
                <a:latin typeface="Luktao"/>
                <a:ea typeface="Luktao"/>
                <a:cs typeface="Luktao"/>
                <a:sym typeface="Luktao"/>
              </a:rPr>
              <a:t>id Machine Learning-Based Smart Home IoT Security System for Threat Detection, Classification, and Alert Mechanisms</a:t>
            </a: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F8FCFF"/>
        </a:solidFill>
      </p:bgPr>
    </p:bg>
    <p:spTree>
      <p:nvGrpSpPr>
        <p:cNvPr id="1" name=""/>
        <p:cNvGrpSpPr/>
        <p:nvPr/>
      </p:nvGrpSpPr>
      <p:grpSpPr>
        <a:xfrm>
          <a:off x="0" y="0"/>
          <a:ext cx="0" cy="0"/>
          <a:chOff x="0" y="0"/>
          <a:chExt cx="0" cy="0"/>
        </a:xfrm>
      </p:grpSpPr>
      <p:sp>
        <p:nvSpPr>
          <p:cNvPr name="TextBox 2" id="2"/>
          <p:cNvSpPr txBox="true"/>
          <p:nvPr/>
        </p:nvSpPr>
        <p:spPr>
          <a:xfrm rot="0">
            <a:off x="2914790" y="4059268"/>
            <a:ext cx="12458420" cy="1949389"/>
          </a:xfrm>
          <a:prstGeom prst="rect">
            <a:avLst/>
          </a:prstGeom>
        </p:spPr>
        <p:txBody>
          <a:bodyPr anchor="t" rtlCol="false" tIns="0" lIns="0" bIns="0" rIns="0">
            <a:spAutoFit/>
          </a:bodyPr>
          <a:lstStyle/>
          <a:p>
            <a:pPr algn="ctr">
              <a:lnSpc>
                <a:spcPts val="15942"/>
              </a:lnSpc>
            </a:pPr>
            <a:r>
              <a:rPr lang="en-US" b="true" sz="11387">
                <a:solidFill>
                  <a:srgbClr val="0166C2"/>
                </a:solidFill>
                <a:latin typeface="Luktao Bold"/>
                <a:ea typeface="Luktao Bold"/>
                <a:cs typeface="Luktao Bold"/>
                <a:sym typeface="Lukta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DAG2-p8dA34</dc:identifier>
  <dcterms:modified xsi:type="dcterms:W3CDTF">2011-08-01T06:04:30Z</dcterms:modified>
  <cp:revision>1</cp:revision>
  <dc:title>MAJOR PROJECT IMPLEMENTATION REVIEW</dc:title>
</cp:coreProperties>
</file>