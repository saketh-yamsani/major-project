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Lst>
  <p:sldSz cx="10693400" cy="15113000"/>
  <p:notesSz cx="6858000" cy="9144000"/>
  <p:embeddedFontLst>
    <p:embeddedFont>
      <p:font typeface="Arial Bold" panose="020B0704020202020204" pitchFamily="34" charset="0"/>
      <p:regular r:id="rId3"/>
      <p:bold r:id="rId4"/>
    </p:embeddedFont>
    <p:embeddedFont>
      <p:font typeface="Cambria Bold" panose="02040803050406030204" pitchFamily="18" charset="0"/>
      <p:regular r:id="rId5"/>
      <p:bold r:id="rId6"/>
    </p:embeddedFont>
    <p:embeddedFont>
      <p:font typeface="Glacial Indifference Bold" panose="020B0604020202020204" charset="0"/>
      <p:regular r:id="rId7"/>
      <p:bold r:id="rId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1538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autoAdjust="0"/>
    <p:restoredTop sz="94626" autoAdjust="0"/>
  </p:normalViewPr>
  <p:slideViewPr>
    <p:cSldViewPr>
      <p:cViewPr>
        <p:scale>
          <a:sx n="75" d="100"/>
          <a:sy n="75" d="100"/>
        </p:scale>
        <p:origin x="1301" y="-32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6.fntdata"/><Relationship Id="rId3" Type="http://schemas.openxmlformats.org/officeDocument/2006/relationships/font" Target="fonts/font1.fntdata"/><Relationship Id="rId7" Type="http://schemas.openxmlformats.org/officeDocument/2006/relationships/font" Target="fonts/font5.fntdata"/><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font" Target="fonts/font4.fntdata"/><Relationship Id="rId11" Type="http://schemas.openxmlformats.org/officeDocument/2006/relationships/theme" Target="theme/theme1.xml"/><Relationship Id="rId5" Type="http://schemas.openxmlformats.org/officeDocument/2006/relationships/font" Target="fonts/font3.fntdata"/><Relationship Id="rId10" Type="http://schemas.openxmlformats.org/officeDocument/2006/relationships/viewProps" Target="viewProps.xml"/><Relationship Id="rId4" Type="http://schemas.openxmlformats.org/officeDocument/2006/relationships/font" Target="fonts/font2.fntdata"/><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svg"/><Relationship Id="rId18" Type="http://schemas.openxmlformats.org/officeDocument/2006/relationships/image" Target="../media/image17.png"/><Relationship Id="rId3" Type="http://schemas.openxmlformats.org/officeDocument/2006/relationships/image" Target="../media/image2.png"/><Relationship Id="rId21" Type="http://schemas.openxmlformats.org/officeDocument/2006/relationships/image" Target="../media/image20.png"/><Relationship Id="rId7" Type="http://schemas.openxmlformats.org/officeDocument/2006/relationships/image" Target="../media/image6.svg"/><Relationship Id="rId12" Type="http://schemas.openxmlformats.org/officeDocument/2006/relationships/image" Target="../media/image11.png"/><Relationship Id="rId17" Type="http://schemas.openxmlformats.org/officeDocument/2006/relationships/image" Target="../media/image16.svg"/><Relationship Id="rId2" Type="http://schemas.openxmlformats.org/officeDocument/2006/relationships/image" Target="../media/image1.png"/><Relationship Id="rId16" Type="http://schemas.openxmlformats.org/officeDocument/2006/relationships/image" Target="../media/image15.png"/><Relationship Id="rId20" Type="http://schemas.openxmlformats.org/officeDocument/2006/relationships/image" Target="../media/image19.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svg"/><Relationship Id="rId5" Type="http://schemas.openxmlformats.org/officeDocument/2006/relationships/image" Target="../media/image4.svg"/><Relationship Id="rId15" Type="http://schemas.openxmlformats.org/officeDocument/2006/relationships/image" Target="../media/image14.svg"/><Relationship Id="rId10" Type="http://schemas.openxmlformats.org/officeDocument/2006/relationships/image" Target="../media/image9.png"/><Relationship Id="rId19" Type="http://schemas.openxmlformats.org/officeDocument/2006/relationships/image" Target="../media/image18.jpeg"/><Relationship Id="rId4" Type="http://schemas.openxmlformats.org/officeDocument/2006/relationships/image" Target="../media/image3.png"/><Relationship Id="rId9" Type="http://schemas.openxmlformats.org/officeDocument/2006/relationships/image" Target="../media/image8.svg"/><Relationship Id="rId14"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CDD9EF"/>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0692000" cy="1069200"/>
            <a:chOff x="0" y="0"/>
            <a:chExt cx="10079609" cy="1638883"/>
          </a:xfrm>
        </p:grpSpPr>
        <p:sp>
          <p:nvSpPr>
            <p:cNvPr id="3" name="Freeform 3"/>
            <p:cNvSpPr/>
            <p:nvPr/>
          </p:nvSpPr>
          <p:spPr>
            <a:xfrm>
              <a:off x="0" y="0"/>
              <a:ext cx="10079634" cy="1638921"/>
            </a:xfrm>
            <a:custGeom>
              <a:avLst/>
              <a:gdLst/>
              <a:ahLst/>
              <a:cxnLst/>
              <a:rect l="l" t="t" r="r" b="b"/>
              <a:pathLst>
                <a:path w="10079634" h="1638921">
                  <a:moveTo>
                    <a:pt x="0" y="0"/>
                  </a:moveTo>
                  <a:lnTo>
                    <a:pt x="10079634" y="0"/>
                  </a:lnTo>
                  <a:lnTo>
                    <a:pt x="10079634" y="1638921"/>
                  </a:lnTo>
                  <a:lnTo>
                    <a:pt x="0" y="1638921"/>
                  </a:lnTo>
                  <a:close/>
                </a:path>
              </a:pathLst>
            </a:custGeom>
            <a:solidFill>
              <a:srgbClr val="1F3864"/>
            </a:solidFill>
          </p:spPr>
          <p:txBody>
            <a:bodyPr/>
            <a:lstStyle/>
            <a:p>
              <a:endParaRPr lang="en-US"/>
            </a:p>
          </p:txBody>
        </p:sp>
        <p:sp>
          <p:nvSpPr>
            <p:cNvPr id="4" name="TextBox 4"/>
            <p:cNvSpPr txBox="1"/>
            <p:nvPr/>
          </p:nvSpPr>
          <p:spPr>
            <a:xfrm>
              <a:off x="0" y="-19050"/>
              <a:ext cx="10079609" cy="1657933"/>
            </a:xfrm>
            <a:prstGeom prst="rect">
              <a:avLst/>
            </a:prstGeom>
          </p:spPr>
          <p:txBody>
            <a:bodyPr lIns="50800" tIns="50800" rIns="50800" bIns="50800" rtlCol="0" anchor="ctr"/>
            <a:lstStyle/>
            <a:p>
              <a:pPr algn="ctr">
                <a:lnSpc>
                  <a:spcPts val="1986"/>
                </a:lnSpc>
              </a:pPr>
              <a:endParaRPr/>
            </a:p>
          </p:txBody>
        </p:sp>
      </p:grpSp>
      <p:sp>
        <p:nvSpPr>
          <p:cNvPr id="5" name="Freeform 5"/>
          <p:cNvSpPr/>
          <p:nvPr/>
        </p:nvSpPr>
        <p:spPr>
          <a:xfrm>
            <a:off x="183674" y="66092"/>
            <a:ext cx="1039788" cy="881283"/>
          </a:xfrm>
          <a:custGeom>
            <a:avLst/>
            <a:gdLst/>
            <a:ahLst/>
            <a:cxnLst/>
            <a:rect l="l" t="t" r="r" b="b"/>
            <a:pathLst>
              <a:path w="1039788" h="881283">
                <a:moveTo>
                  <a:pt x="0" y="0"/>
                </a:moveTo>
                <a:lnTo>
                  <a:pt x="1039788" y="0"/>
                </a:lnTo>
                <a:lnTo>
                  <a:pt x="1039788" y="881282"/>
                </a:lnTo>
                <a:lnTo>
                  <a:pt x="0" y="881282"/>
                </a:lnTo>
                <a:lnTo>
                  <a:pt x="0" y="0"/>
                </a:lnTo>
                <a:close/>
              </a:path>
            </a:pathLst>
          </a:custGeom>
          <a:blipFill>
            <a:blip r:embed="rId2"/>
            <a:stretch>
              <a:fillRect r="-322821" b="-42177"/>
            </a:stretch>
          </a:blipFill>
        </p:spPr>
        <p:txBody>
          <a:bodyPr/>
          <a:lstStyle/>
          <a:p>
            <a:endParaRPr lang="en-US"/>
          </a:p>
        </p:txBody>
      </p:sp>
      <p:grpSp>
        <p:nvGrpSpPr>
          <p:cNvPr id="6" name="Group 6"/>
          <p:cNvGrpSpPr/>
          <p:nvPr/>
        </p:nvGrpSpPr>
        <p:grpSpPr>
          <a:xfrm>
            <a:off x="193402" y="1249200"/>
            <a:ext cx="10285739" cy="652894"/>
            <a:chOff x="0" y="0"/>
            <a:chExt cx="3698109" cy="234740"/>
          </a:xfrm>
        </p:grpSpPr>
        <p:sp>
          <p:nvSpPr>
            <p:cNvPr id="7" name="Freeform 7"/>
            <p:cNvSpPr/>
            <p:nvPr/>
          </p:nvSpPr>
          <p:spPr>
            <a:xfrm>
              <a:off x="0" y="0"/>
              <a:ext cx="3698109" cy="234740"/>
            </a:xfrm>
            <a:custGeom>
              <a:avLst/>
              <a:gdLst/>
              <a:ahLst/>
              <a:cxnLst/>
              <a:rect l="l" t="t" r="r" b="b"/>
              <a:pathLst>
                <a:path w="3698109" h="234740">
                  <a:moveTo>
                    <a:pt x="9032" y="0"/>
                  </a:moveTo>
                  <a:lnTo>
                    <a:pt x="3689077" y="0"/>
                  </a:lnTo>
                  <a:cubicBezTo>
                    <a:pt x="3691472" y="0"/>
                    <a:pt x="3693770" y="952"/>
                    <a:pt x="3695464" y="2645"/>
                  </a:cubicBezTo>
                  <a:cubicBezTo>
                    <a:pt x="3697158" y="4339"/>
                    <a:pt x="3698109" y="6637"/>
                    <a:pt x="3698109" y="9032"/>
                  </a:cubicBezTo>
                  <a:lnTo>
                    <a:pt x="3698109" y="225708"/>
                  </a:lnTo>
                  <a:cubicBezTo>
                    <a:pt x="3698109" y="230696"/>
                    <a:pt x="3694065" y="234740"/>
                    <a:pt x="3689077" y="234740"/>
                  </a:cubicBezTo>
                  <a:lnTo>
                    <a:pt x="9032" y="234740"/>
                  </a:lnTo>
                  <a:cubicBezTo>
                    <a:pt x="4044" y="234740"/>
                    <a:pt x="0" y="230696"/>
                    <a:pt x="0" y="225708"/>
                  </a:cubicBezTo>
                  <a:lnTo>
                    <a:pt x="0" y="9032"/>
                  </a:lnTo>
                  <a:cubicBezTo>
                    <a:pt x="0" y="4044"/>
                    <a:pt x="4044" y="0"/>
                    <a:pt x="9032" y="0"/>
                  </a:cubicBezTo>
                  <a:close/>
                </a:path>
              </a:pathLst>
            </a:custGeom>
            <a:solidFill>
              <a:srgbClr val="FFFFFF"/>
            </a:solidFill>
            <a:ln w="9525" cap="sq">
              <a:solidFill>
                <a:srgbClr val="F2F2F2"/>
              </a:solidFill>
              <a:prstDash val="solid"/>
              <a:miter/>
            </a:ln>
          </p:spPr>
          <p:txBody>
            <a:bodyPr/>
            <a:lstStyle/>
            <a:p>
              <a:endParaRPr lang="en-US" dirty="0"/>
            </a:p>
          </p:txBody>
        </p:sp>
        <p:sp>
          <p:nvSpPr>
            <p:cNvPr id="8" name="TextBox 8"/>
            <p:cNvSpPr txBox="1"/>
            <p:nvPr/>
          </p:nvSpPr>
          <p:spPr>
            <a:xfrm>
              <a:off x="0" y="-19050"/>
              <a:ext cx="3698109" cy="253790"/>
            </a:xfrm>
            <a:prstGeom prst="rect">
              <a:avLst/>
            </a:prstGeom>
          </p:spPr>
          <p:txBody>
            <a:bodyPr lIns="50800" tIns="50800" rIns="50800" bIns="50800" rtlCol="0" anchor="ctr"/>
            <a:lstStyle/>
            <a:p>
              <a:pPr algn="ctr">
                <a:lnSpc>
                  <a:spcPts val="1437"/>
                </a:lnSpc>
              </a:pPr>
              <a:endParaRPr/>
            </a:p>
          </p:txBody>
        </p:sp>
      </p:grpSp>
      <p:sp>
        <p:nvSpPr>
          <p:cNvPr id="9" name="Freeform 9"/>
          <p:cNvSpPr/>
          <p:nvPr/>
        </p:nvSpPr>
        <p:spPr>
          <a:xfrm>
            <a:off x="1301821" y="141351"/>
            <a:ext cx="1769791" cy="728730"/>
          </a:xfrm>
          <a:custGeom>
            <a:avLst/>
            <a:gdLst/>
            <a:ahLst/>
            <a:cxnLst/>
            <a:rect l="l" t="t" r="r" b="b"/>
            <a:pathLst>
              <a:path w="1769791" h="728730">
                <a:moveTo>
                  <a:pt x="0" y="0"/>
                </a:moveTo>
                <a:lnTo>
                  <a:pt x="1769791" y="0"/>
                </a:lnTo>
                <a:lnTo>
                  <a:pt x="1769791" y="728730"/>
                </a:lnTo>
                <a:lnTo>
                  <a:pt x="0" y="728730"/>
                </a:lnTo>
                <a:lnTo>
                  <a:pt x="0" y="0"/>
                </a:lnTo>
                <a:close/>
              </a:path>
            </a:pathLst>
          </a:custGeom>
          <a:blipFill>
            <a:blip r:embed="rId3"/>
            <a:stretch>
              <a:fillRect l="-52462" t="-14616" r="-5176" b="-14632"/>
            </a:stretch>
          </a:blipFill>
        </p:spPr>
        <p:txBody>
          <a:bodyPr/>
          <a:lstStyle/>
          <a:p>
            <a:endParaRPr lang="en-US"/>
          </a:p>
        </p:txBody>
      </p:sp>
      <p:sp>
        <p:nvSpPr>
          <p:cNvPr id="10" name="TextBox 10"/>
          <p:cNvSpPr txBox="1"/>
          <p:nvPr/>
        </p:nvSpPr>
        <p:spPr>
          <a:xfrm>
            <a:off x="3592843" y="168598"/>
            <a:ext cx="3506315" cy="607561"/>
          </a:xfrm>
          <a:prstGeom prst="rect">
            <a:avLst/>
          </a:prstGeom>
        </p:spPr>
        <p:txBody>
          <a:bodyPr lIns="0" tIns="0" rIns="0" bIns="0" rtlCol="0" anchor="t">
            <a:spAutoFit/>
          </a:bodyPr>
          <a:lstStyle/>
          <a:p>
            <a:pPr algn="ctr">
              <a:lnSpc>
                <a:spcPts val="5087"/>
              </a:lnSpc>
            </a:pPr>
            <a:r>
              <a:rPr lang="en-US" sz="3634" b="1">
                <a:solidFill>
                  <a:srgbClr val="FFFFFF"/>
                </a:solidFill>
                <a:latin typeface="Cambria Bold"/>
                <a:ea typeface="Cambria Bold"/>
                <a:cs typeface="Cambria Bold"/>
                <a:sym typeface="Cambria Bold"/>
              </a:rPr>
              <a:t>OPEN HOUSE’26</a:t>
            </a:r>
          </a:p>
        </p:txBody>
      </p:sp>
      <p:sp>
        <p:nvSpPr>
          <p:cNvPr id="11" name="TextBox 11"/>
          <p:cNvSpPr txBox="1"/>
          <p:nvPr/>
        </p:nvSpPr>
        <p:spPr>
          <a:xfrm>
            <a:off x="-80279" y="1305671"/>
            <a:ext cx="10833100" cy="615553"/>
          </a:xfrm>
          <a:prstGeom prst="rect">
            <a:avLst/>
          </a:prstGeom>
        </p:spPr>
        <p:txBody>
          <a:bodyPr wrap="square" lIns="0" tIns="0" rIns="0" bIns="0" rtlCol="0" anchor="t">
            <a:spAutoFit/>
          </a:bodyPr>
          <a:lstStyle/>
          <a:p>
            <a:pPr algn="ctr"/>
            <a:r>
              <a:rPr lang="en-US" sz="2000" b="1" dirty="0">
                <a:solidFill>
                  <a:srgbClr val="002060"/>
                </a:solidFill>
                <a:latin typeface="Glacial Indifference Bold"/>
                <a:ea typeface="Glacial Indifference Bold"/>
                <a:cs typeface="Glacial Indifference Bold"/>
                <a:sym typeface="Glacial Indifference Bold"/>
              </a:rPr>
              <a:t>An Intelligent Smart Home IoT Security System for Threat Detection, Classification, </a:t>
            </a:r>
            <a:br>
              <a:rPr lang="en-US" sz="2000" b="1" dirty="0">
                <a:solidFill>
                  <a:srgbClr val="002060"/>
                </a:solidFill>
                <a:latin typeface="Glacial Indifference Bold"/>
                <a:ea typeface="Glacial Indifference Bold"/>
                <a:cs typeface="Glacial Indifference Bold"/>
                <a:sym typeface="Glacial Indifference Bold"/>
              </a:rPr>
            </a:br>
            <a:r>
              <a:rPr lang="en-US" sz="2000" b="1" dirty="0">
                <a:solidFill>
                  <a:srgbClr val="002060"/>
                </a:solidFill>
                <a:latin typeface="Glacial Indifference Bold"/>
                <a:ea typeface="Glacial Indifference Bold"/>
                <a:cs typeface="Glacial Indifference Bold"/>
                <a:sym typeface="Glacial Indifference Bold"/>
              </a:rPr>
              <a:t>and Alert Mechanisms</a:t>
            </a:r>
          </a:p>
        </p:txBody>
      </p:sp>
      <p:grpSp>
        <p:nvGrpSpPr>
          <p:cNvPr id="12" name="Group 12"/>
          <p:cNvGrpSpPr/>
          <p:nvPr/>
        </p:nvGrpSpPr>
        <p:grpSpPr>
          <a:xfrm>
            <a:off x="203131" y="2002608"/>
            <a:ext cx="10266282" cy="5758971"/>
            <a:chOff x="0" y="-69181"/>
            <a:chExt cx="13688376" cy="7678628"/>
          </a:xfrm>
        </p:grpSpPr>
        <p:grpSp>
          <p:nvGrpSpPr>
            <p:cNvPr id="13" name="Group 13"/>
            <p:cNvGrpSpPr/>
            <p:nvPr/>
          </p:nvGrpSpPr>
          <p:grpSpPr>
            <a:xfrm>
              <a:off x="20906" y="-69181"/>
              <a:ext cx="7043344" cy="3068462"/>
              <a:chOff x="0" y="-19050"/>
              <a:chExt cx="1939492" cy="844948"/>
            </a:xfrm>
          </p:grpSpPr>
          <p:sp>
            <p:nvSpPr>
              <p:cNvPr id="14" name="Freeform 14"/>
              <p:cNvSpPr/>
              <p:nvPr/>
            </p:nvSpPr>
            <p:spPr>
              <a:xfrm>
                <a:off x="0" y="0"/>
                <a:ext cx="1939492" cy="825898"/>
              </a:xfrm>
              <a:custGeom>
                <a:avLst/>
                <a:gdLst/>
                <a:ahLst/>
                <a:cxnLst/>
                <a:rect l="l" t="t" r="r" b="b"/>
                <a:pathLst>
                  <a:path w="1856090" h="825898">
                    <a:moveTo>
                      <a:pt x="26034" y="0"/>
                    </a:moveTo>
                    <a:lnTo>
                      <a:pt x="1830056" y="0"/>
                    </a:lnTo>
                    <a:cubicBezTo>
                      <a:pt x="1844435" y="0"/>
                      <a:pt x="1856090" y="11656"/>
                      <a:pt x="1856090" y="26034"/>
                    </a:cubicBezTo>
                    <a:lnTo>
                      <a:pt x="1856090" y="799864"/>
                    </a:lnTo>
                    <a:cubicBezTo>
                      <a:pt x="1856090" y="814242"/>
                      <a:pt x="1844435" y="825898"/>
                      <a:pt x="1830056" y="825898"/>
                    </a:cubicBezTo>
                    <a:lnTo>
                      <a:pt x="26034" y="825898"/>
                    </a:lnTo>
                    <a:cubicBezTo>
                      <a:pt x="11656" y="825898"/>
                      <a:pt x="0" y="814242"/>
                      <a:pt x="0" y="799864"/>
                    </a:cubicBezTo>
                    <a:lnTo>
                      <a:pt x="0" y="26034"/>
                    </a:lnTo>
                    <a:cubicBezTo>
                      <a:pt x="0" y="11656"/>
                      <a:pt x="11656" y="0"/>
                      <a:pt x="26034" y="0"/>
                    </a:cubicBezTo>
                    <a:close/>
                  </a:path>
                </a:pathLst>
              </a:custGeom>
              <a:solidFill>
                <a:srgbClr val="FFFFFF"/>
              </a:solidFill>
              <a:ln w="9525" cap="sq">
                <a:solidFill>
                  <a:srgbClr val="F2F2F2"/>
                </a:solidFill>
                <a:prstDash val="solid"/>
                <a:miter/>
              </a:ln>
            </p:spPr>
            <p:txBody>
              <a:bodyPr/>
              <a:lstStyle/>
              <a:p>
                <a:endParaRPr lang="en-US"/>
              </a:p>
            </p:txBody>
          </p:sp>
          <p:sp>
            <p:nvSpPr>
              <p:cNvPr id="15" name="TextBox 15"/>
              <p:cNvSpPr txBox="1"/>
              <p:nvPr/>
            </p:nvSpPr>
            <p:spPr>
              <a:xfrm>
                <a:off x="0" y="-19050"/>
                <a:ext cx="1856090" cy="844948"/>
              </a:xfrm>
              <a:prstGeom prst="rect">
                <a:avLst/>
              </a:prstGeom>
            </p:spPr>
            <p:txBody>
              <a:bodyPr lIns="50800" tIns="50800" rIns="50800" bIns="50800" rtlCol="0" anchor="ctr"/>
              <a:lstStyle/>
              <a:p>
                <a:pPr algn="ctr">
                  <a:lnSpc>
                    <a:spcPts val="1437"/>
                  </a:lnSpc>
                </a:pPr>
                <a:endParaRPr/>
              </a:p>
            </p:txBody>
          </p:sp>
        </p:grpSp>
        <p:sp>
          <p:nvSpPr>
            <p:cNvPr id="16" name="AutoShape 16"/>
            <p:cNvSpPr/>
            <p:nvPr/>
          </p:nvSpPr>
          <p:spPr>
            <a:xfrm>
              <a:off x="858415" y="553749"/>
              <a:ext cx="5473763" cy="3131"/>
            </a:xfrm>
            <a:prstGeom prst="line">
              <a:avLst/>
            </a:prstGeom>
            <a:ln w="12700" cap="flat">
              <a:solidFill>
                <a:srgbClr val="31538F"/>
              </a:solidFill>
              <a:prstDash val="solid"/>
              <a:headEnd type="none" w="sm" len="sm"/>
              <a:tailEnd type="none" w="sm" len="sm"/>
            </a:ln>
          </p:spPr>
          <p:txBody>
            <a:bodyPr/>
            <a:lstStyle/>
            <a:p>
              <a:endParaRPr lang="en-US"/>
            </a:p>
          </p:txBody>
        </p:sp>
        <p:sp>
          <p:nvSpPr>
            <p:cNvPr id="17" name="Freeform 17"/>
            <p:cNvSpPr/>
            <p:nvPr/>
          </p:nvSpPr>
          <p:spPr>
            <a:xfrm>
              <a:off x="161394" y="146712"/>
              <a:ext cx="460577" cy="460577"/>
            </a:xfrm>
            <a:custGeom>
              <a:avLst/>
              <a:gdLst/>
              <a:ahLst/>
              <a:cxnLst/>
              <a:rect l="l" t="t" r="r" b="b"/>
              <a:pathLst>
                <a:path w="460577" h="460577">
                  <a:moveTo>
                    <a:pt x="0" y="0"/>
                  </a:moveTo>
                  <a:lnTo>
                    <a:pt x="460577" y="0"/>
                  </a:lnTo>
                  <a:lnTo>
                    <a:pt x="460577" y="460577"/>
                  </a:lnTo>
                  <a:lnTo>
                    <a:pt x="0" y="46057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8" name="TextBox 18"/>
            <p:cNvSpPr txBox="1"/>
            <p:nvPr/>
          </p:nvSpPr>
          <p:spPr>
            <a:xfrm>
              <a:off x="858415" y="137276"/>
              <a:ext cx="2850077" cy="330624"/>
            </a:xfrm>
            <a:prstGeom prst="rect">
              <a:avLst/>
            </a:prstGeom>
          </p:spPr>
          <p:txBody>
            <a:bodyPr wrap="square" lIns="0" tIns="0" rIns="0" bIns="0" rtlCol="0" anchor="t">
              <a:spAutoFit/>
            </a:bodyPr>
            <a:lstStyle/>
            <a:p>
              <a:pPr algn="ctr">
                <a:lnSpc>
                  <a:spcPts val="2103"/>
                </a:lnSpc>
              </a:pPr>
              <a:r>
                <a:rPr lang="en-US" sz="1502" b="1" spc="73" dirty="0">
                  <a:solidFill>
                    <a:srgbClr val="31538F"/>
                  </a:solidFill>
                  <a:latin typeface="Glacial Indifference Bold"/>
                  <a:ea typeface="Glacial Indifference Bold"/>
                  <a:cs typeface="Glacial Indifference Bold"/>
                  <a:sym typeface="Glacial Indifference Bold"/>
                </a:rPr>
                <a:t>PROBLEM STATEMENT</a:t>
              </a:r>
            </a:p>
          </p:txBody>
        </p:sp>
        <p:grpSp>
          <p:nvGrpSpPr>
            <p:cNvPr id="19" name="Group 19"/>
            <p:cNvGrpSpPr/>
            <p:nvPr/>
          </p:nvGrpSpPr>
          <p:grpSpPr>
            <a:xfrm>
              <a:off x="0" y="3158700"/>
              <a:ext cx="7090827" cy="4450747"/>
              <a:chOff x="0" y="-19050"/>
              <a:chExt cx="1952568" cy="1225581"/>
            </a:xfrm>
          </p:grpSpPr>
          <p:sp>
            <p:nvSpPr>
              <p:cNvPr id="20" name="Freeform 20"/>
              <p:cNvSpPr/>
              <p:nvPr/>
            </p:nvSpPr>
            <p:spPr>
              <a:xfrm>
                <a:off x="0" y="0"/>
                <a:ext cx="1952568" cy="1206531"/>
              </a:xfrm>
              <a:custGeom>
                <a:avLst/>
                <a:gdLst/>
                <a:ahLst/>
                <a:cxnLst/>
                <a:rect l="l" t="t" r="r" b="b"/>
                <a:pathLst>
                  <a:path w="1855712" h="1206531">
                    <a:moveTo>
                      <a:pt x="26040" y="0"/>
                    </a:moveTo>
                    <a:lnTo>
                      <a:pt x="1829672" y="0"/>
                    </a:lnTo>
                    <a:cubicBezTo>
                      <a:pt x="1844053" y="0"/>
                      <a:pt x="1855712" y="11658"/>
                      <a:pt x="1855712" y="26040"/>
                    </a:cubicBezTo>
                    <a:lnTo>
                      <a:pt x="1855712" y="1180491"/>
                    </a:lnTo>
                    <a:cubicBezTo>
                      <a:pt x="1855712" y="1187397"/>
                      <a:pt x="1852968" y="1194021"/>
                      <a:pt x="1848085" y="1198904"/>
                    </a:cubicBezTo>
                    <a:cubicBezTo>
                      <a:pt x="1843201" y="1203788"/>
                      <a:pt x="1836578" y="1206531"/>
                      <a:pt x="1829672" y="1206531"/>
                    </a:cubicBezTo>
                    <a:lnTo>
                      <a:pt x="26040" y="1206531"/>
                    </a:lnTo>
                    <a:cubicBezTo>
                      <a:pt x="19133" y="1206531"/>
                      <a:pt x="12510" y="1203788"/>
                      <a:pt x="7627" y="1198904"/>
                    </a:cubicBezTo>
                    <a:cubicBezTo>
                      <a:pt x="2743" y="1194021"/>
                      <a:pt x="0" y="1187397"/>
                      <a:pt x="0" y="1180491"/>
                    </a:cubicBezTo>
                    <a:lnTo>
                      <a:pt x="0" y="26040"/>
                    </a:lnTo>
                    <a:cubicBezTo>
                      <a:pt x="0" y="19133"/>
                      <a:pt x="2743" y="12510"/>
                      <a:pt x="7627" y="7627"/>
                    </a:cubicBezTo>
                    <a:cubicBezTo>
                      <a:pt x="12510" y="2743"/>
                      <a:pt x="19133" y="0"/>
                      <a:pt x="26040" y="0"/>
                    </a:cubicBezTo>
                    <a:close/>
                  </a:path>
                </a:pathLst>
              </a:custGeom>
              <a:solidFill>
                <a:srgbClr val="FFFFFF"/>
              </a:solidFill>
              <a:ln w="9525" cap="sq">
                <a:solidFill>
                  <a:srgbClr val="F2F2F2"/>
                </a:solidFill>
                <a:prstDash val="solid"/>
                <a:miter/>
              </a:ln>
            </p:spPr>
            <p:txBody>
              <a:bodyPr/>
              <a:lstStyle/>
              <a:p>
                <a:endParaRPr lang="en-US"/>
              </a:p>
            </p:txBody>
          </p:sp>
          <p:sp>
            <p:nvSpPr>
              <p:cNvPr id="21" name="TextBox 21"/>
              <p:cNvSpPr txBox="1"/>
              <p:nvPr/>
            </p:nvSpPr>
            <p:spPr>
              <a:xfrm>
                <a:off x="0" y="-19050"/>
                <a:ext cx="1855712" cy="1225581"/>
              </a:xfrm>
              <a:prstGeom prst="rect">
                <a:avLst/>
              </a:prstGeom>
            </p:spPr>
            <p:txBody>
              <a:bodyPr lIns="50800" tIns="50800" rIns="50800" bIns="50800" rtlCol="0" anchor="ctr"/>
              <a:lstStyle/>
              <a:p>
                <a:pPr algn="ctr">
                  <a:lnSpc>
                    <a:spcPts val="1437"/>
                  </a:lnSpc>
                </a:pPr>
                <a:r>
                  <a:rPr lang="en-US" sz="1197" b="1">
                    <a:solidFill>
                      <a:srgbClr val="FFFFFF"/>
                    </a:solidFill>
                    <a:latin typeface="Arial Bold"/>
                    <a:ea typeface="Arial Bold"/>
                    <a:cs typeface="Arial Bold"/>
                    <a:sym typeface="Arial Bold"/>
                  </a:rPr>
                  <a:t>¡¡</a:t>
                </a:r>
              </a:p>
            </p:txBody>
          </p:sp>
        </p:grpSp>
        <p:sp>
          <p:nvSpPr>
            <p:cNvPr id="22" name="Freeform 22"/>
            <p:cNvSpPr/>
            <p:nvPr/>
          </p:nvSpPr>
          <p:spPr>
            <a:xfrm>
              <a:off x="161394" y="3426793"/>
              <a:ext cx="462240" cy="438708"/>
            </a:xfrm>
            <a:custGeom>
              <a:avLst/>
              <a:gdLst/>
              <a:ahLst/>
              <a:cxnLst/>
              <a:rect l="l" t="t" r="r" b="b"/>
              <a:pathLst>
                <a:path w="462240" h="438708">
                  <a:moveTo>
                    <a:pt x="0" y="0"/>
                  </a:moveTo>
                  <a:lnTo>
                    <a:pt x="462240" y="0"/>
                  </a:lnTo>
                  <a:lnTo>
                    <a:pt x="462240" y="438708"/>
                  </a:lnTo>
                  <a:lnTo>
                    <a:pt x="0" y="438708"/>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23" name="AutoShape 23"/>
            <p:cNvSpPr/>
            <p:nvPr/>
          </p:nvSpPr>
          <p:spPr>
            <a:xfrm flipV="1">
              <a:off x="835781" y="3832147"/>
              <a:ext cx="5496398" cy="0"/>
            </a:xfrm>
            <a:prstGeom prst="line">
              <a:avLst/>
            </a:prstGeom>
            <a:ln w="12700" cap="flat">
              <a:solidFill>
                <a:srgbClr val="31538F"/>
              </a:solidFill>
              <a:prstDash val="solid"/>
              <a:headEnd type="none" w="sm" len="sm"/>
              <a:tailEnd type="none" w="sm" len="sm"/>
            </a:ln>
          </p:spPr>
          <p:txBody>
            <a:bodyPr/>
            <a:lstStyle/>
            <a:p>
              <a:endParaRPr lang="en-US"/>
            </a:p>
          </p:txBody>
        </p:sp>
        <p:sp>
          <p:nvSpPr>
            <p:cNvPr id="24" name="TextBox 24"/>
            <p:cNvSpPr txBox="1"/>
            <p:nvPr/>
          </p:nvSpPr>
          <p:spPr>
            <a:xfrm>
              <a:off x="802588" y="3388693"/>
              <a:ext cx="1363296" cy="331680"/>
            </a:xfrm>
            <a:prstGeom prst="rect">
              <a:avLst/>
            </a:prstGeom>
          </p:spPr>
          <p:txBody>
            <a:bodyPr lIns="0" tIns="0" rIns="0" bIns="0" rtlCol="0" anchor="t">
              <a:spAutoFit/>
            </a:bodyPr>
            <a:lstStyle/>
            <a:p>
              <a:pPr algn="ctr">
                <a:lnSpc>
                  <a:spcPts val="2110"/>
                </a:lnSpc>
              </a:pPr>
              <a:r>
                <a:rPr lang="en-US" sz="1507" b="1" spc="73">
                  <a:solidFill>
                    <a:srgbClr val="31538F"/>
                  </a:solidFill>
                  <a:latin typeface="Glacial Indifference Bold"/>
                  <a:ea typeface="Glacial Indifference Bold"/>
                  <a:cs typeface="Glacial Indifference Bold"/>
                  <a:sym typeface="Glacial Indifference Bold"/>
                </a:rPr>
                <a:t>ABSTRACT</a:t>
              </a:r>
            </a:p>
          </p:txBody>
        </p:sp>
        <p:grpSp>
          <p:nvGrpSpPr>
            <p:cNvPr id="25" name="Group 25"/>
            <p:cNvGrpSpPr/>
            <p:nvPr/>
          </p:nvGrpSpPr>
          <p:grpSpPr>
            <a:xfrm>
              <a:off x="6947910" y="-69181"/>
              <a:ext cx="6740466" cy="7678628"/>
              <a:chOff x="0" y="-19050"/>
              <a:chExt cx="1856090" cy="2114428"/>
            </a:xfrm>
          </p:grpSpPr>
          <p:sp>
            <p:nvSpPr>
              <p:cNvPr id="26" name="Freeform 26"/>
              <p:cNvSpPr/>
              <p:nvPr/>
            </p:nvSpPr>
            <p:spPr>
              <a:xfrm>
                <a:off x="78039" y="0"/>
                <a:ext cx="1778051" cy="2095378"/>
              </a:xfrm>
              <a:custGeom>
                <a:avLst/>
                <a:gdLst/>
                <a:ahLst/>
                <a:cxnLst/>
                <a:rect l="l" t="t" r="r" b="b"/>
                <a:pathLst>
                  <a:path w="1856090" h="2095378">
                    <a:moveTo>
                      <a:pt x="26034" y="0"/>
                    </a:moveTo>
                    <a:lnTo>
                      <a:pt x="1830056" y="0"/>
                    </a:lnTo>
                    <a:cubicBezTo>
                      <a:pt x="1844435" y="0"/>
                      <a:pt x="1856090" y="11656"/>
                      <a:pt x="1856090" y="26034"/>
                    </a:cubicBezTo>
                    <a:lnTo>
                      <a:pt x="1856090" y="2069343"/>
                    </a:lnTo>
                    <a:cubicBezTo>
                      <a:pt x="1856090" y="2083722"/>
                      <a:pt x="1844435" y="2095378"/>
                      <a:pt x="1830056" y="2095378"/>
                    </a:cubicBezTo>
                    <a:lnTo>
                      <a:pt x="26034" y="2095378"/>
                    </a:lnTo>
                    <a:cubicBezTo>
                      <a:pt x="11656" y="2095378"/>
                      <a:pt x="0" y="2083722"/>
                      <a:pt x="0" y="2069343"/>
                    </a:cubicBezTo>
                    <a:lnTo>
                      <a:pt x="0" y="26034"/>
                    </a:lnTo>
                    <a:cubicBezTo>
                      <a:pt x="0" y="11656"/>
                      <a:pt x="11656" y="0"/>
                      <a:pt x="26034" y="0"/>
                    </a:cubicBezTo>
                    <a:close/>
                  </a:path>
                </a:pathLst>
              </a:custGeom>
              <a:solidFill>
                <a:srgbClr val="FFFFFF"/>
              </a:solidFill>
              <a:ln w="9525" cap="sq">
                <a:solidFill>
                  <a:srgbClr val="F2F2F2"/>
                </a:solidFill>
                <a:prstDash val="solid"/>
                <a:miter/>
              </a:ln>
            </p:spPr>
            <p:txBody>
              <a:bodyPr/>
              <a:lstStyle/>
              <a:p>
                <a:endParaRPr lang="en-US"/>
              </a:p>
            </p:txBody>
          </p:sp>
          <p:sp>
            <p:nvSpPr>
              <p:cNvPr id="27" name="TextBox 27"/>
              <p:cNvSpPr txBox="1"/>
              <p:nvPr/>
            </p:nvSpPr>
            <p:spPr>
              <a:xfrm>
                <a:off x="0" y="-19050"/>
                <a:ext cx="1856090" cy="2114428"/>
              </a:xfrm>
              <a:prstGeom prst="rect">
                <a:avLst/>
              </a:prstGeom>
            </p:spPr>
            <p:txBody>
              <a:bodyPr lIns="50800" tIns="50800" rIns="50800" bIns="50800" rtlCol="0" anchor="ctr"/>
              <a:lstStyle/>
              <a:p>
                <a:pPr algn="ctr">
                  <a:lnSpc>
                    <a:spcPts val="1437"/>
                  </a:lnSpc>
                </a:pPr>
                <a:endParaRPr/>
              </a:p>
            </p:txBody>
          </p:sp>
        </p:grpSp>
        <p:sp>
          <p:nvSpPr>
            <p:cNvPr id="28" name="AutoShape 28"/>
            <p:cNvSpPr/>
            <p:nvPr/>
          </p:nvSpPr>
          <p:spPr>
            <a:xfrm>
              <a:off x="7950677" y="586463"/>
              <a:ext cx="5370245" cy="0"/>
            </a:xfrm>
            <a:prstGeom prst="line">
              <a:avLst/>
            </a:prstGeom>
            <a:ln w="12700" cap="flat">
              <a:solidFill>
                <a:srgbClr val="31538F"/>
              </a:solidFill>
              <a:prstDash val="solid"/>
              <a:headEnd type="none" w="sm" len="sm"/>
              <a:tailEnd type="none" w="sm" len="sm"/>
            </a:ln>
          </p:spPr>
          <p:txBody>
            <a:bodyPr/>
            <a:lstStyle/>
            <a:p>
              <a:endParaRPr lang="en-US"/>
            </a:p>
          </p:txBody>
        </p:sp>
        <p:sp>
          <p:nvSpPr>
            <p:cNvPr id="29" name="Freeform 29"/>
            <p:cNvSpPr/>
            <p:nvPr/>
          </p:nvSpPr>
          <p:spPr>
            <a:xfrm>
              <a:off x="7297307" y="209403"/>
              <a:ext cx="695628" cy="382143"/>
            </a:xfrm>
            <a:custGeom>
              <a:avLst/>
              <a:gdLst/>
              <a:ahLst/>
              <a:cxnLst/>
              <a:rect l="l" t="t" r="r" b="b"/>
              <a:pathLst>
                <a:path w="695628" h="496505">
                  <a:moveTo>
                    <a:pt x="0" y="0"/>
                  </a:moveTo>
                  <a:lnTo>
                    <a:pt x="695628" y="0"/>
                  </a:lnTo>
                  <a:lnTo>
                    <a:pt x="695628" y="496504"/>
                  </a:lnTo>
                  <a:lnTo>
                    <a:pt x="0" y="496504"/>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US" dirty="0"/>
            </a:p>
          </p:txBody>
        </p:sp>
        <p:sp>
          <p:nvSpPr>
            <p:cNvPr id="30" name="TextBox 30"/>
            <p:cNvSpPr txBox="1"/>
            <p:nvPr/>
          </p:nvSpPr>
          <p:spPr>
            <a:xfrm>
              <a:off x="7950677" y="168774"/>
              <a:ext cx="2891105" cy="331564"/>
            </a:xfrm>
            <a:prstGeom prst="rect">
              <a:avLst/>
            </a:prstGeom>
          </p:spPr>
          <p:txBody>
            <a:bodyPr lIns="0" tIns="0" rIns="0" bIns="0" rtlCol="0" anchor="t">
              <a:spAutoFit/>
            </a:bodyPr>
            <a:lstStyle/>
            <a:p>
              <a:pPr algn="ctr">
                <a:lnSpc>
                  <a:spcPts val="2109"/>
                </a:lnSpc>
              </a:pPr>
              <a:r>
                <a:rPr lang="en-US" sz="1507" b="1" spc="73">
                  <a:solidFill>
                    <a:srgbClr val="31538F"/>
                  </a:solidFill>
                  <a:latin typeface="Glacial Indifference Bold"/>
                  <a:ea typeface="Glacial Indifference Bold"/>
                  <a:cs typeface="Glacial Indifference Bold"/>
                  <a:sym typeface="Glacial Indifference Bold"/>
                </a:rPr>
                <a:t>WORKING PROTOTYPE</a:t>
              </a:r>
            </a:p>
          </p:txBody>
        </p:sp>
      </p:grpSp>
      <p:grpSp>
        <p:nvGrpSpPr>
          <p:cNvPr id="31" name="Group 31"/>
          <p:cNvGrpSpPr/>
          <p:nvPr/>
        </p:nvGrpSpPr>
        <p:grpSpPr>
          <a:xfrm>
            <a:off x="183674" y="12891880"/>
            <a:ext cx="10305195" cy="1933865"/>
            <a:chOff x="0" y="-69181"/>
            <a:chExt cx="13740260" cy="2578486"/>
          </a:xfrm>
        </p:grpSpPr>
        <p:grpSp>
          <p:nvGrpSpPr>
            <p:cNvPr id="32" name="Group 32"/>
            <p:cNvGrpSpPr/>
            <p:nvPr/>
          </p:nvGrpSpPr>
          <p:grpSpPr>
            <a:xfrm>
              <a:off x="0" y="0"/>
              <a:ext cx="9861545" cy="2509305"/>
              <a:chOff x="0" y="0"/>
              <a:chExt cx="2715527" cy="690975"/>
            </a:xfrm>
          </p:grpSpPr>
          <p:sp>
            <p:nvSpPr>
              <p:cNvPr id="33" name="Freeform 33"/>
              <p:cNvSpPr/>
              <p:nvPr/>
            </p:nvSpPr>
            <p:spPr>
              <a:xfrm>
                <a:off x="0" y="0"/>
                <a:ext cx="2715527" cy="690975"/>
              </a:xfrm>
              <a:custGeom>
                <a:avLst/>
                <a:gdLst/>
                <a:ahLst/>
                <a:cxnLst/>
                <a:rect l="l" t="t" r="r" b="b"/>
                <a:pathLst>
                  <a:path w="2715527" h="690975">
                    <a:moveTo>
                      <a:pt x="17795" y="0"/>
                    </a:moveTo>
                    <a:lnTo>
                      <a:pt x="2697732" y="0"/>
                    </a:lnTo>
                    <a:cubicBezTo>
                      <a:pt x="2707560" y="0"/>
                      <a:pt x="2715527" y="7967"/>
                      <a:pt x="2715527" y="17795"/>
                    </a:cubicBezTo>
                    <a:lnTo>
                      <a:pt x="2715527" y="673181"/>
                    </a:lnTo>
                    <a:cubicBezTo>
                      <a:pt x="2715527" y="683009"/>
                      <a:pt x="2707560" y="690975"/>
                      <a:pt x="2697732" y="690975"/>
                    </a:cubicBezTo>
                    <a:lnTo>
                      <a:pt x="17795" y="690975"/>
                    </a:lnTo>
                    <a:cubicBezTo>
                      <a:pt x="7967" y="690975"/>
                      <a:pt x="0" y="683009"/>
                      <a:pt x="0" y="673181"/>
                    </a:cubicBezTo>
                    <a:lnTo>
                      <a:pt x="0" y="17795"/>
                    </a:lnTo>
                    <a:cubicBezTo>
                      <a:pt x="0" y="7967"/>
                      <a:pt x="7967" y="0"/>
                      <a:pt x="17795" y="0"/>
                    </a:cubicBezTo>
                    <a:close/>
                  </a:path>
                </a:pathLst>
              </a:custGeom>
              <a:solidFill>
                <a:srgbClr val="FFFFFF"/>
              </a:solidFill>
              <a:ln w="9525" cap="sq">
                <a:solidFill>
                  <a:srgbClr val="F2F2F2"/>
                </a:solidFill>
                <a:prstDash val="solid"/>
                <a:miter/>
              </a:ln>
            </p:spPr>
            <p:txBody>
              <a:bodyPr/>
              <a:lstStyle/>
              <a:p>
                <a:endParaRPr lang="en-US"/>
              </a:p>
            </p:txBody>
          </p:sp>
          <p:sp>
            <p:nvSpPr>
              <p:cNvPr id="34" name="TextBox 34"/>
              <p:cNvSpPr txBox="1"/>
              <p:nvPr/>
            </p:nvSpPr>
            <p:spPr>
              <a:xfrm>
                <a:off x="0" y="-19050"/>
                <a:ext cx="2715527" cy="710025"/>
              </a:xfrm>
              <a:prstGeom prst="rect">
                <a:avLst/>
              </a:prstGeom>
            </p:spPr>
            <p:txBody>
              <a:bodyPr lIns="50800" tIns="50800" rIns="50800" bIns="50800" rtlCol="0" anchor="ctr"/>
              <a:lstStyle/>
              <a:p>
                <a:pPr algn="ctr">
                  <a:lnSpc>
                    <a:spcPts val="1437"/>
                  </a:lnSpc>
                </a:pPr>
                <a:endParaRPr/>
              </a:p>
            </p:txBody>
          </p:sp>
        </p:grpSp>
        <p:sp>
          <p:nvSpPr>
            <p:cNvPr id="35" name="AutoShape 35"/>
            <p:cNvSpPr/>
            <p:nvPr/>
          </p:nvSpPr>
          <p:spPr>
            <a:xfrm>
              <a:off x="939663" y="603675"/>
              <a:ext cx="8660399" cy="0"/>
            </a:xfrm>
            <a:prstGeom prst="line">
              <a:avLst/>
            </a:prstGeom>
            <a:ln w="12700" cap="flat">
              <a:solidFill>
                <a:srgbClr val="31538F"/>
              </a:solidFill>
              <a:prstDash val="solid"/>
              <a:headEnd type="none" w="sm" len="sm"/>
              <a:tailEnd type="none" w="sm" len="sm"/>
            </a:ln>
          </p:spPr>
          <p:txBody>
            <a:bodyPr/>
            <a:lstStyle/>
            <a:p>
              <a:endParaRPr lang="en-US"/>
            </a:p>
          </p:txBody>
        </p:sp>
        <p:sp>
          <p:nvSpPr>
            <p:cNvPr id="36" name="Freeform 36"/>
            <p:cNvSpPr/>
            <p:nvPr/>
          </p:nvSpPr>
          <p:spPr>
            <a:xfrm>
              <a:off x="254094" y="162075"/>
              <a:ext cx="466191" cy="537396"/>
            </a:xfrm>
            <a:custGeom>
              <a:avLst/>
              <a:gdLst/>
              <a:ahLst/>
              <a:cxnLst/>
              <a:rect l="l" t="t" r="r" b="b"/>
              <a:pathLst>
                <a:path w="466191" h="537396">
                  <a:moveTo>
                    <a:pt x="0" y="0"/>
                  </a:moveTo>
                  <a:lnTo>
                    <a:pt x="466191" y="0"/>
                  </a:lnTo>
                  <a:lnTo>
                    <a:pt x="466191" y="537396"/>
                  </a:lnTo>
                  <a:lnTo>
                    <a:pt x="0" y="537396"/>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US"/>
            </a:p>
          </p:txBody>
        </p:sp>
        <p:sp>
          <p:nvSpPr>
            <p:cNvPr id="37" name="TextBox 37"/>
            <p:cNvSpPr txBox="1"/>
            <p:nvPr/>
          </p:nvSpPr>
          <p:spPr>
            <a:xfrm>
              <a:off x="939661" y="178563"/>
              <a:ext cx="1778772" cy="342561"/>
            </a:xfrm>
            <a:prstGeom prst="rect">
              <a:avLst/>
            </a:prstGeom>
          </p:spPr>
          <p:txBody>
            <a:bodyPr wrap="square" lIns="0" tIns="0" rIns="0" bIns="0" rtlCol="0" anchor="t">
              <a:spAutoFit/>
            </a:bodyPr>
            <a:lstStyle/>
            <a:p>
              <a:pPr algn="ctr">
                <a:lnSpc>
                  <a:spcPts val="2113"/>
                </a:lnSpc>
              </a:pPr>
              <a:r>
                <a:rPr lang="en-US" sz="1509" b="1" spc="73" dirty="0">
                  <a:solidFill>
                    <a:srgbClr val="31538F"/>
                  </a:solidFill>
                  <a:latin typeface="Glacial Indifference Bold"/>
                  <a:ea typeface="Glacial Indifference Bold"/>
                  <a:cs typeface="Glacial Indifference Bold"/>
                  <a:sym typeface="Glacial Indifference Bold"/>
                </a:rPr>
                <a:t>CONCLUSION</a:t>
              </a:r>
            </a:p>
          </p:txBody>
        </p:sp>
        <p:grpSp>
          <p:nvGrpSpPr>
            <p:cNvPr id="38" name="Group 38"/>
            <p:cNvGrpSpPr/>
            <p:nvPr/>
          </p:nvGrpSpPr>
          <p:grpSpPr>
            <a:xfrm>
              <a:off x="10047007" y="-69181"/>
              <a:ext cx="3693253" cy="2578486"/>
              <a:chOff x="0" y="-19050"/>
              <a:chExt cx="1016994" cy="710025"/>
            </a:xfrm>
          </p:grpSpPr>
          <p:sp>
            <p:nvSpPr>
              <p:cNvPr id="39" name="Freeform 39"/>
              <p:cNvSpPr/>
              <p:nvPr/>
            </p:nvSpPr>
            <p:spPr>
              <a:xfrm>
                <a:off x="0" y="0"/>
                <a:ext cx="1016994" cy="690975"/>
              </a:xfrm>
              <a:custGeom>
                <a:avLst/>
                <a:gdLst/>
                <a:ahLst/>
                <a:cxnLst/>
                <a:rect l="l" t="t" r="r" b="b"/>
                <a:pathLst>
                  <a:path w="1016994" h="690975">
                    <a:moveTo>
                      <a:pt x="47515" y="0"/>
                    </a:moveTo>
                    <a:lnTo>
                      <a:pt x="969479" y="0"/>
                    </a:lnTo>
                    <a:cubicBezTo>
                      <a:pt x="995721" y="0"/>
                      <a:pt x="1016994" y="21273"/>
                      <a:pt x="1016994" y="47515"/>
                    </a:cubicBezTo>
                    <a:lnTo>
                      <a:pt x="1016994" y="643461"/>
                    </a:lnTo>
                    <a:cubicBezTo>
                      <a:pt x="1016994" y="669702"/>
                      <a:pt x="995721" y="690975"/>
                      <a:pt x="969479" y="690975"/>
                    </a:cubicBezTo>
                    <a:lnTo>
                      <a:pt x="47515" y="690975"/>
                    </a:lnTo>
                    <a:cubicBezTo>
                      <a:pt x="21273" y="690975"/>
                      <a:pt x="0" y="669702"/>
                      <a:pt x="0" y="643461"/>
                    </a:cubicBezTo>
                    <a:lnTo>
                      <a:pt x="0" y="47515"/>
                    </a:lnTo>
                    <a:cubicBezTo>
                      <a:pt x="0" y="21273"/>
                      <a:pt x="21273" y="0"/>
                      <a:pt x="47515" y="0"/>
                    </a:cubicBezTo>
                    <a:close/>
                  </a:path>
                </a:pathLst>
              </a:custGeom>
              <a:solidFill>
                <a:srgbClr val="FFFFFF"/>
              </a:solidFill>
              <a:ln w="9525" cap="sq">
                <a:solidFill>
                  <a:srgbClr val="F2F2F2"/>
                </a:solidFill>
                <a:prstDash val="solid"/>
                <a:miter/>
              </a:ln>
            </p:spPr>
            <p:txBody>
              <a:bodyPr/>
              <a:lstStyle/>
              <a:p>
                <a:endParaRPr lang="en-US" dirty="0"/>
              </a:p>
              <a:p>
                <a:endParaRPr lang="en-US" dirty="0"/>
              </a:p>
              <a:p>
                <a:r>
                  <a:rPr lang="en-US" dirty="0"/>
                  <a:t>      G Abhishek Goud</a:t>
                </a:r>
              </a:p>
              <a:p>
                <a:r>
                  <a:rPr lang="en-US" dirty="0"/>
                  <a:t>      G Sai Srujith</a:t>
                </a:r>
              </a:p>
              <a:p>
                <a:r>
                  <a:rPr lang="en-US" dirty="0"/>
                  <a:t>      V Pavan Kumar</a:t>
                </a:r>
              </a:p>
              <a:p>
                <a:r>
                  <a:rPr lang="en-US" dirty="0"/>
                  <a:t>      Y Saketh</a:t>
                </a:r>
              </a:p>
            </p:txBody>
          </p:sp>
          <p:sp>
            <p:nvSpPr>
              <p:cNvPr id="40" name="TextBox 40"/>
              <p:cNvSpPr txBox="1"/>
              <p:nvPr/>
            </p:nvSpPr>
            <p:spPr>
              <a:xfrm>
                <a:off x="0" y="-19050"/>
                <a:ext cx="1016994" cy="710025"/>
              </a:xfrm>
              <a:prstGeom prst="rect">
                <a:avLst/>
              </a:prstGeom>
            </p:spPr>
            <p:txBody>
              <a:bodyPr lIns="50800" tIns="50800" rIns="50800" bIns="50800" rtlCol="0" anchor="ctr"/>
              <a:lstStyle/>
              <a:p>
                <a:pPr algn="ctr">
                  <a:lnSpc>
                    <a:spcPts val="1437"/>
                  </a:lnSpc>
                </a:pPr>
                <a:endParaRPr/>
              </a:p>
            </p:txBody>
          </p:sp>
        </p:grpSp>
        <p:sp>
          <p:nvSpPr>
            <p:cNvPr id="41" name="AutoShape 41"/>
            <p:cNvSpPr/>
            <p:nvPr/>
          </p:nvSpPr>
          <p:spPr>
            <a:xfrm>
              <a:off x="11138280" y="563930"/>
              <a:ext cx="2191900" cy="0"/>
            </a:xfrm>
            <a:prstGeom prst="line">
              <a:avLst/>
            </a:prstGeom>
            <a:ln w="12700" cap="flat">
              <a:solidFill>
                <a:srgbClr val="31538F"/>
              </a:solidFill>
              <a:prstDash val="solid"/>
              <a:headEnd type="none" w="sm" len="sm"/>
              <a:tailEnd type="none" w="sm" len="sm"/>
            </a:ln>
          </p:spPr>
          <p:txBody>
            <a:bodyPr/>
            <a:lstStyle/>
            <a:p>
              <a:endParaRPr lang="en-US"/>
            </a:p>
          </p:txBody>
        </p:sp>
        <p:sp>
          <p:nvSpPr>
            <p:cNvPr id="42" name="Freeform 42"/>
            <p:cNvSpPr/>
            <p:nvPr/>
          </p:nvSpPr>
          <p:spPr>
            <a:xfrm>
              <a:off x="10169238" y="162075"/>
              <a:ext cx="750172" cy="537396"/>
            </a:xfrm>
            <a:custGeom>
              <a:avLst/>
              <a:gdLst/>
              <a:ahLst/>
              <a:cxnLst/>
              <a:rect l="l" t="t" r="r" b="b"/>
              <a:pathLst>
                <a:path w="750172" h="537396">
                  <a:moveTo>
                    <a:pt x="0" y="0"/>
                  </a:moveTo>
                  <a:lnTo>
                    <a:pt x="750172" y="0"/>
                  </a:lnTo>
                  <a:lnTo>
                    <a:pt x="750172" y="537396"/>
                  </a:lnTo>
                  <a:lnTo>
                    <a:pt x="0" y="537396"/>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US"/>
            </a:p>
          </p:txBody>
        </p:sp>
        <p:sp>
          <p:nvSpPr>
            <p:cNvPr id="43" name="TextBox 43"/>
            <p:cNvSpPr txBox="1"/>
            <p:nvPr/>
          </p:nvSpPr>
          <p:spPr>
            <a:xfrm>
              <a:off x="11135310" y="178563"/>
              <a:ext cx="731242" cy="342561"/>
            </a:xfrm>
            <a:prstGeom prst="rect">
              <a:avLst/>
            </a:prstGeom>
          </p:spPr>
          <p:txBody>
            <a:bodyPr lIns="0" tIns="0" rIns="0" bIns="0" rtlCol="0" anchor="t">
              <a:spAutoFit/>
            </a:bodyPr>
            <a:lstStyle/>
            <a:p>
              <a:pPr algn="ctr">
                <a:lnSpc>
                  <a:spcPts val="2113"/>
                </a:lnSpc>
              </a:pPr>
              <a:r>
                <a:rPr lang="en-US" sz="1509" b="1" spc="73">
                  <a:solidFill>
                    <a:srgbClr val="31538F"/>
                  </a:solidFill>
                  <a:latin typeface="Glacial Indifference Bold"/>
                  <a:ea typeface="Glacial Indifference Bold"/>
                  <a:cs typeface="Glacial Indifference Bold"/>
                  <a:sym typeface="Glacial Indifference Bold"/>
                </a:rPr>
                <a:t>TEAM</a:t>
              </a:r>
            </a:p>
          </p:txBody>
        </p:sp>
      </p:grpSp>
      <p:grpSp>
        <p:nvGrpSpPr>
          <p:cNvPr id="44" name="Group 44"/>
          <p:cNvGrpSpPr/>
          <p:nvPr/>
        </p:nvGrpSpPr>
        <p:grpSpPr>
          <a:xfrm>
            <a:off x="203646" y="7862093"/>
            <a:ext cx="10265251" cy="4929272"/>
            <a:chOff x="0" y="-69181"/>
            <a:chExt cx="13687001" cy="6572363"/>
          </a:xfrm>
        </p:grpSpPr>
        <p:grpSp>
          <p:nvGrpSpPr>
            <p:cNvPr id="45" name="Group 45"/>
            <p:cNvGrpSpPr/>
            <p:nvPr/>
          </p:nvGrpSpPr>
          <p:grpSpPr>
            <a:xfrm>
              <a:off x="0" y="-69181"/>
              <a:ext cx="7063565" cy="6572363"/>
              <a:chOff x="0" y="-19050"/>
              <a:chExt cx="1945061" cy="1809801"/>
            </a:xfrm>
          </p:grpSpPr>
          <p:sp>
            <p:nvSpPr>
              <p:cNvPr id="46" name="Freeform 46"/>
              <p:cNvSpPr/>
              <p:nvPr/>
            </p:nvSpPr>
            <p:spPr>
              <a:xfrm>
                <a:off x="0" y="0"/>
                <a:ext cx="1945061" cy="1790751"/>
              </a:xfrm>
              <a:custGeom>
                <a:avLst/>
                <a:gdLst/>
                <a:ahLst/>
                <a:cxnLst/>
                <a:rect l="l" t="t" r="r" b="b"/>
                <a:pathLst>
                  <a:path w="1855712" h="1790751">
                    <a:moveTo>
                      <a:pt x="26040" y="0"/>
                    </a:moveTo>
                    <a:lnTo>
                      <a:pt x="1829672" y="0"/>
                    </a:lnTo>
                    <a:cubicBezTo>
                      <a:pt x="1844053" y="0"/>
                      <a:pt x="1855712" y="11658"/>
                      <a:pt x="1855712" y="26040"/>
                    </a:cubicBezTo>
                    <a:lnTo>
                      <a:pt x="1855712" y="1764711"/>
                    </a:lnTo>
                    <a:cubicBezTo>
                      <a:pt x="1855712" y="1771617"/>
                      <a:pt x="1852968" y="1778240"/>
                      <a:pt x="1848085" y="1783124"/>
                    </a:cubicBezTo>
                    <a:cubicBezTo>
                      <a:pt x="1843201" y="1788007"/>
                      <a:pt x="1836578" y="1790751"/>
                      <a:pt x="1829672" y="1790751"/>
                    </a:cubicBezTo>
                    <a:lnTo>
                      <a:pt x="26040" y="1790751"/>
                    </a:lnTo>
                    <a:cubicBezTo>
                      <a:pt x="19133" y="1790751"/>
                      <a:pt x="12510" y="1788007"/>
                      <a:pt x="7627" y="1783124"/>
                    </a:cubicBezTo>
                    <a:cubicBezTo>
                      <a:pt x="2743" y="1778240"/>
                      <a:pt x="0" y="1771617"/>
                      <a:pt x="0" y="1764711"/>
                    </a:cubicBezTo>
                    <a:lnTo>
                      <a:pt x="0" y="26040"/>
                    </a:lnTo>
                    <a:cubicBezTo>
                      <a:pt x="0" y="19133"/>
                      <a:pt x="2743" y="12510"/>
                      <a:pt x="7627" y="7627"/>
                    </a:cubicBezTo>
                    <a:cubicBezTo>
                      <a:pt x="12510" y="2743"/>
                      <a:pt x="19133" y="0"/>
                      <a:pt x="26040" y="0"/>
                    </a:cubicBezTo>
                    <a:close/>
                  </a:path>
                </a:pathLst>
              </a:custGeom>
              <a:solidFill>
                <a:srgbClr val="FFFFFF"/>
              </a:solidFill>
              <a:ln w="9525" cap="sq">
                <a:solidFill>
                  <a:srgbClr val="F2F2F2"/>
                </a:solidFill>
                <a:prstDash val="solid"/>
                <a:miter/>
              </a:ln>
            </p:spPr>
            <p:txBody>
              <a:bodyPr/>
              <a:lstStyle/>
              <a:p>
                <a:endParaRPr lang="en-US"/>
              </a:p>
            </p:txBody>
          </p:sp>
          <p:sp>
            <p:nvSpPr>
              <p:cNvPr id="47" name="TextBox 47"/>
              <p:cNvSpPr txBox="1"/>
              <p:nvPr/>
            </p:nvSpPr>
            <p:spPr>
              <a:xfrm>
                <a:off x="0" y="-19050"/>
                <a:ext cx="1855712" cy="1809801"/>
              </a:xfrm>
              <a:prstGeom prst="rect">
                <a:avLst/>
              </a:prstGeom>
            </p:spPr>
            <p:txBody>
              <a:bodyPr lIns="50800" tIns="50800" rIns="50800" bIns="50800" rtlCol="0" anchor="ctr"/>
              <a:lstStyle/>
              <a:p>
                <a:pPr algn="ctr">
                  <a:lnSpc>
                    <a:spcPts val="1437"/>
                  </a:lnSpc>
                </a:pPr>
                <a:r>
                  <a:rPr lang="en-US" sz="1197" b="1">
                    <a:solidFill>
                      <a:srgbClr val="FFFFFF"/>
                    </a:solidFill>
                    <a:latin typeface="Arial Bold"/>
                    <a:ea typeface="Arial Bold"/>
                    <a:cs typeface="Arial Bold"/>
                    <a:sym typeface="Arial Bold"/>
                  </a:rPr>
                  <a:t>¡¡</a:t>
                </a:r>
              </a:p>
            </p:txBody>
          </p:sp>
        </p:grpSp>
        <p:sp>
          <p:nvSpPr>
            <p:cNvPr id="48" name="AutoShape 48"/>
            <p:cNvSpPr/>
            <p:nvPr/>
          </p:nvSpPr>
          <p:spPr>
            <a:xfrm>
              <a:off x="961944" y="579189"/>
              <a:ext cx="5370235" cy="0"/>
            </a:xfrm>
            <a:prstGeom prst="line">
              <a:avLst/>
            </a:prstGeom>
            <a:ln w="12700" cap="flat">
              <a:solidFill>
                <a:srgbClr val="31538F"/>
              </a:solidFill>
              <a:prstDash val="solid"/>
              <a:headEnd type="none" w="sm" len="sm"/>
              <a:tailEnd type="none" w="sm" len="sm"/>
            </a:ln>
          </p:spPr>
          <p:txBody>
            <a:bodyPr/>
            <a:lstStyle/>
            <a:p>
              <a:endParaRPr lang="en-US"/>
            </a:p>
          </p:txBody>
        </p:sp>
        <p:sp>
          <p:nvSpPr>
            <p:cNvPr id="49" name="Freeform 49"/>
            <p:cNvSpPr/>
            <p:nvPr/>
          </p:nvSpPr>
          <p:spPr>
            <a:xfrm>
              <a:off x="329277" y="198911"/>
              <a:ext cx="413289" cy="413289"/>
            </a:xfrm>
            <a:custGeom>
              <a:avLst/>
              <a:gdLst/>
              <a:ahLst/>
              <a:cxnLst/>
              <a:rect l="l" t="t" r="r" b="b"/>
              <a:pathLst>
                <a:path w="413289" h="413289">
                  <a:moveTo>
                    <a:pt x="0" y="0"/>
                  </a:moveTo>
                  <a:lnTo>
                    <a:pt x="413289" y="0"/>
                  </a:lnTo>
                  <a:lnTo>
                    <a:pt x="413289" y="413289"/>
                  </a:lnTo>
                  <a:lnTo>
                    <a:pt x="0" y="413289"/>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en-US"/>
            </a:p>
          </p:txBody>
        </p:sp>
        <p:sp>
          <p:nvSpPr>
            <p:cNvPr id="50" name="TextBox 50"/>
            <p:cNvSpPr txBox="1"/>
            <p:nvPr/>
          </p:nvSpPr>
          <p:spPr>
            <a:xfrm>
              <a:off x="961944" y="170336"/>
              <a:ext cx="4611343" cy="316925"/>
            </a:xfrm>
            <a:prstGeom prst="rect">
              <a:avLst/>
            </a:prstGeom>
          </p:spPr>
          <p:txBody>
            <a:bodyPr lIns="0" tIns="0" rIns="0" bIns="0" rtlCol="0" anchor="t">
              <a:spAutoFit/>
            </a:bodyPr>
            <a:lstStyle/>
            <a:p>
              <a:pPr algn="ctr">
                <a:lnSpc>
                  <a:spcPts val="1980"/>
                </a:lnSpc>
              </a:pPr>
              <a:r>
                <a:rPr lang="en-US" sz="1414" b="1" spc="69" dirty="0">
                  <a:solidFill>
                    <a:srgbClr val="31538F"/>
                  </a:solidFill>
                  <a:latin typeface="Glacial Indifference Bold"/>
                  <a:ea typeface="Glacial Indifference Bold"/>
                  <a:cs typeface="Glacial Indifference Bold"/>
                  <a:sym typeface="Glacial Indifference Bold"/>
                </a:rPr>
                <a:t>METHODOLOGY &amp; TECHNICAL STACK</a:t>
              </a:r>
            </a:p>
          </p:txBody>
        </p:sp>
        <p:grpSp>
          <p:nvGrpSpPr>
            <p:cNvPr id="51" name="Group 51"/>
            <p:cNvGrpSpPr/>
            <p:nvPr/>
          </p:nvGrpSpPr>
          <p:grpSpPr>
            <a:xfrm>
              <a:off x="6947910" y="-56481"/>
              <a:ext cx="6739091" cy="6559663"/>
              <a:chOff x="0" y="-19050"/>
              <a:chExt cx="1855712" cy="1806303"/>
            </a:xfrm>
          </p:grpSpPr>
          <p:sp>
            <p:nvSpPr>
              <p:cNvPr id="52" name="Freeform 52"/>
              <p:cNvSpPr/>
              <p:nvPr/>
            </p:nvSpPr>
            <p:spPr>
              <a:xfrm>
                <a:off x="77850" y="0"/>
                <a:ext cx="1777862" cy="1787253"/>
              </a:xfrm>
              <a:custGeom>
                <a:avLst/>
                <a:gdLst/>
                <a:ahLst/>
                <a:cxnLst/>
                <a:rect l="l" t="t" r="r" b="b"/>
                <a:pathLst>
                  <a:path w="1855712" h="1787253">
                    <a:moveTo>
                      <a:pt x="26040" y="0"/>
                    </a:moveTo>
                    <a:lnTo>
                      <a:pt x="1829672" y="0"/>
                    </a:lnTo>
                    <a:cubicBezTo>
                      <a:pt x="1844053" y="0"/>
                      <a:pt x="1855712" y="11658"/>
                      <a:pt x="1855712" y="26040"/>
                    </a:cubicBezTo>
                    <a:lnTo>
                      <a:pt x="1855712" y="1761214"/>
                    </a:lnTo>
                    <a:cubicBezTo>
                      <a:pt x="1855712" y="1768120"/>
                      <a:pt x="1852968" y="1774743"/>
                      <a:pt x="1848085" y="1779626"/>
                    </a:cubicBezTo>
                    <a:cubicBezTo>
                      <a:pt x="1843201" y="1784510"/>
                      <a:pt x="1836578" y="1787253"/>
                      <a:pt x="1829672" y="1787253"/>
                    </a:cubicBezTo>
                    <a:lnTo>
                      <a:pt x="26040" y="1787253"/>
                    </a:lnTo>
                    <a:cubicBezTo>
                      <a:pt x="19133" y="1787253"/>
                      <a:pt x="12510" y="1784510"/>
                      <a:pt x="7627" y="1779626"/>
                    </a:cubicBezTo>
                    <a:cubicBezTo>
                      <a:pt x="2743" y="1774743"/>
                      <a:pt x="0" y="1768120"/>
                      <a:pt x="0" y="1761214"/>
                    </a:cubicBezTo>
                    <a:lnTo>
                      <a:pt x="0" y="26040"/>
                    </a:lnTo>
                    <a:cubicBezTo>
                      <a:pt x="0" y="19133"/>
                      <a:pt x="2743" y="12510"/>
                      <a:pt x="7627" y="7627"/>
                    </a:cubicBezTo>
                    <a:cubicBezTo>
                      <a:pt x="12510" y="2743"/>
                      <a:pt x="19133" y="0"/>
                      <a:pt x="26040" y="0"/>
                    </a:cubicBezTo>
                    <a:close/>
                  </a:path>
                </a:pathLst>
              </a:custGeom>
              <a:solidFill>
                <a:srgbClr val="FFFFFF"/>
              </a:solidFill>
              <a:ln w="9525" cap="sq">
                <a:solidFill>
                  <a:srgbClr val="F2F2F2"/>
                </a:solidFill>
                <a:prstDash val="solid"/>
                <a:miter/>
              </a:ln>
            </p:spPr>
            <p:txBody>
              <a:bodyPr/>
              <a:lstStyle/>
              <a:p>
                <a:endParaRPr lang="en-US"/>
              </a:p>
            </p:txBody>
          </p:sp>
          <p:sp>
            <p:nvSpPr>
              <p:cNvPr id="53" name="TextBox 53"/>
              <p:cNvSpPr txBox="1"/>
              <p:nvPr/>
            </p:nvSpPr>
            <p:spPr>
              <a:xfrm>
                <a:off x="0" y="-19050"/>
                <a:ext cx="1855712" cy="1806303"/>
              </a:xfrm>
              <a:prstGeom prst="rect">
                <a:avLst/>
              </a:prstGeom>
            </p:spPr>
            <p:txBody>
              <a:bodyPr lIns="50800" tIns="50800" rIns="50800" bIns="50800" rtlCol="0" anchor="ctr"/>
              <a:lstStyle/>
              <a:p>
                <a:pPr algn="ctr">
                  <a:lnSpc>
                    <a:spcPts val="1437"/>
                  </a:lnSpc>
                </a:pPr>
                <a:r>
                  <a:rPr lang="en-US" sz="1197" b="1">
                    <a:solidFill>
                      <a:srgbClr val="FFFFFF"/>
                    </a:solidFill>
                    <a:latin typeface="Arial Bold"/>
                    <a:ea typeface="Arial Bold"/>
                    <a:cs typeface="Arial Bold"/>
                    <a:sym typeface="Arial Bold"/>
                  </a:rPr>
                  <a:t>¡¡</a:t>
                </a:r>
              </a:p>
            </p:txBody>
          </p:sp>
        </p:grpSp>
        <p:sp>
          <p:nvSpPr>
            <p:cNvPr id="54" name="AutoShape 54"/>
            <p:cNvSpPr/>
            <p:nvPr/>
          </p:nvSpPr>
          <p:spPr>
            <a:xfrm flipV="1">
              <a:off x="7950677" y="620460"/>
              <a:ext cx="5370245" cy="0"/>
            </a:xfrm>
            <a:prstGeom prst="line">
              <a:avLst/>
            </a:prstGeom>
            <a:ln w="12700" cap="flat">
              <a:solidFill>
                <a:srgbClr val="31538F"/>
              </a:solidFill>
              <a:prstDash val="solid"/>
              <a:headEnd type="none" w="sm" len="sm"/>
              <a:tailEnd type="none" w="sm" len="sm"/>
            </a:ln>
          </p:spPr>
          <p:txBody>
            <a:bodyPr/>
            <a:lstStyle/>
            <a:p>
              <a:endParaRPr lang="en-US"/>
            </a:p>
          </p:txBody>
        </p:sp>
        <p:sp>
          <p:nvSpPr>
            <p:cNvPr id="55" name="Freeform 55"/>
            <p:cNvSpPr/>
            <p:nvPr/>
          </p:nvSpPr>
          <p:spPr>
            <a:xfrm>
              <a:off x="7311016" y="172784"/>
              <a:ext cx="463207" cy="497280"/>
            </a:xfrm>
            <a:custGeom>
              <a:avLst/>
              <a:gdLst/>
              <a:ahLst/>
              <a:cxnLst/>
              <a:rect l="l" t="t" r="r" b="b"/>
              <a:pathLst>
                <a:path w="463207" h="497280">
                  <a:moveTo>
                    <a:pt x="0" y="0"/>
                  </a:moveTo>
                  <a:lnTo>
                    <a:pt x="463207" y="0"/>
                  </a:lnTo>
                  <a:lnTo>
                    <a:pt x="463207" y="497280"/>
                  </a:lnTo>
                  <a:lnTo>
                    <a:pt x="0" y="497280"/>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en-US"/>
            </a:p>
          </p:txBody>
        </p:sp>
        <p:sp>
          <p:nvSpPr>
            <p:cNvPr id="56" name="TextBox 56"/>
            <p:cNvSpPr txBox="1"/>
            <p:nvPr/>
          </p:nvSpPr>
          <p:spPr>
            <a:xfrm>
              <a:off x="7950677" y="162592"/>
              <a:ext cx="1131476" cy="332293"/>
            </a:xfrm>
            <a:prstGeom prst="rect">
              <a:avLst/>
            </a:prstGeom>
          </p:spPr>
          <p:txBody>
            <a:bodyPr wrap="square" lIns="0" tIns="0" rIns="0" bIns="0" rtlCol="0" anchor="t">
              <a:spAutoFit/>
            </a:bodyPr>
            <a:lstStyle/>
            <a:p>
              <a:pPr algn="ctr">
                <a:lnSpc>
                  <a:spcPts val="2115"/>
                </a:lnSpc>
              </a:pPr>
              <a:r>
                <a:rPr lang="en-US" sz="1510" b="1" spc="74" dirty="0">
                  <a:solidFill>
                    <a:srgbClr val="31538F"/>
                  </a:solidFill>
                  <a:latin typeface="Glacial Indifference Bold"/>
                  <a:ea typeface="Glacial Indifference Bold"/>
                  <a:cs typeface="Glacial Indifference Bold"/>
                  <a:sym typeface="Glacial Indifference Bold"/>
                </a:rPr>
                <a:t>RESULTS</a:t>
              </a:r>
            </a:p>
          </p:txBody>
        </p:sp>
      </p:grpSp>
      <p:sp>
        <p:nvSpPr>
          <p:cNvPr id="57" name="Freeform 57"/>
          <p:cNvSpPr/>
          <p:nvPr/>
        </p:nvSpPr>
        <p:spPr>
          <a:xfrm>
            <a:off x="9467279" y="36000"/>
            <a:ext cx="1002133" cy="1002133"/>
          </a:xfrm>
          <a:custGeom>
            <a:avLst/>
            <a:gdLst/>
            <a:ahLst/>
            <a:cxnLst/>
            <a:rect l="l" t="t" r="r" b="b"/>
            <a:pathLst>
              <a:path w="1002133" h="1002133">
                <a:moveTo>
                  <a:pt x="0" y="0"/>
                </a:moveTo>
                <a:lnTo>
                  <a:pt x="1002134" y="0"/>
                </a:lnTo>
                <a:lnTo>
                  <a:pt x="1002134" y="1002133"/>
                </a:lnTo>
                <a:lnTo>
                  <a:pt x="0" y="1002133"/>
                </a:lnTo>
                <a:lnTo>
                  <a:pt x="0" y="0"/>
                </a:lnTo>
                <a:close/>
              </a:path>
            </a:pathLst>
          </a:custGeom>
          <a:blipFill>
            <a:blip r:embed="rId18"/>
            <a:stretch>
              <a:fillRect/>
            </a:stretch>
          </a:blipFill>
        </p:spPr>
        <p:txBody>
          <a:bodyPr/>
          <a:lstStyle/>
          <a:p>
            <a:endParaRPr lang="en-US"/>
          </a:p>
        </p:txBody>
      </p:sp>
      <p:sp>
        <p:nvSpPr>
          <p:cNvPr id="59" name="TextBox 58">
            <a:extLst>
              <a:ext uri="{FF2B5EF4-FFF2-40B4-BE49-F238E27FC236}">
                <a16:creationId xmlns:a16="http://schemas.microsoft.com/office/drawing/2014/main" id="{8FCB6B0C-4F94-2FA7-6BAB-F0FF9771C4EB}"/>
              </a:ext>
            </a:extLst>
          </p:cNvPr>
          <p:cNvSpPr txBox="1"/>
          <p:nvPr/>
        </p:nvSpPr>
        <p:spPr>
          <a:xfrm>
            <a:off x="295522" y="2618632"/>
            <a:ext cx="5113921" cy="1477328"/>
          </a:xfrm>
          <a:prstGeom prst="rect">
            <a:avLst/>
          </a:prstGeom>
          <a:noFill/>
        </p:spPr>
        <p:txBody>
          <a:bodyPr wrap="square">
            <a:spAutoFit/>
          </a:bodyPr>
          <a:lstStyle/>
          <a:p>
            <a:pPr algn="just"/>
            <a:r>
              <a:rPr lang="en-US" dirty="0"/>
              <a:t>IoT devices such as smart bulbs are vulnerable to cyberattacks due to limited security mechanisms. There is a need ,for an intelligent system to monitor network traffic detect abnormal behavior, and identify different types of attacks in IoT networks.</a:t>
            </a:r>
            <a:endParaRPr lang="en-IN" dirty="0"/>
          </a:p>
        </p:txBody>
      </p:sp>
      <p:sp>
        <p:nvSpPr>
          <p:cNvPr id="61" name="TextBox 60">
            <a:extLst>
              <a:ext uri="{FF2B5EF4-FFF2-40B4-BE49-F238E27FC236}">
                <a16:creationId xmlns:a16="http://schemas.microsoft.com/office/drawing/2014/main" id="{4B3991D3-3C27-CA48-5757-3F46F79687ED}"/>
              </a:ext>
            </a:extLst>
          </p:cNvPr>
          <p:cNvSpPr txBox="1"/>
          <p:nvPr/>
        </p:nvSpPr>
        <p:spPr>
          <a:xfrm>
            <a:off x="170205" y="5018559"/>
            <a:ext cx="5379720" cy="2585323"/>
          </a:xfrm>
          <a:prstGeom prst="rect">
            <a:avLst/>
          </a:prstGeom>
          <a:noFill/>
        </p:spPr>
        <p:txBody>
          <a:bodyPr wrap="square">
            <a:spAutoFit/>
          </a:bodyPr>
          <a:lstStyle/>
          <a:p>
            <a:pPr algn="just"/>
            <a:r>
              <a:rPr lang="en-US" dirty="0"/>
              <a:t>This project proposes a machine learning-based intrusion detection system for smart bulb networks. The system analyzes network traffic to detect abnormal behavior and identify different types of cyberattacks. An anomaly detection model first identifies suspicious traffic patterns, and a classification model then determines the specific attack type. This approach improves IoT network security by enabling automated monitoring and attack detection.</a:t>
            </a:r>
            <a:endParaRPr lang="en-IN" dirty="0"/>
          </a:p>
        </p:txBody>
      </p:sp>
      <p:sp>
        <p:nvSpPr>
          <p:cNvPr id="63" name="TextBox 62">
            <a:extLst>
              <a:ext uri="{FF2B5EF4-FFF2-40B4-BE49-F238E27FC236}">
                <a16:creationId xmlns:a16="http://schemas.microsoft.com/office/drawing/2014/main" id="{564F3889-3F05-0557-2673-65AE3B486331}"/>
              </a:ext>
            </a:extLst>
          </p:cNvPr>
          <p:cNvSpPr txBox="1"/>
          <p:nvPr/>
        </p:nvSpPr>
        <p:spPr>
          <a:xfrm>
            <a:off x="174847" y="8445567"/>
            <a:ext cx="5379720" cy="4247317"/>
          </a:xfrm>
          <a:prstGeom prst="rect">
            <a:avLst/>
          </a:prstGeom>
          <a:noFill/>
        </p:spPr>
        <p:txBody>
          <a:bodyPr wrap="square">
            <a:spAutoFit/>
          </a:bodyPr>
          <a:lstStyle/>
          <a:p>
            <a:r>
              <a:rPr lang="en-IN" b="1" dirty="0">
                <a:solidFill>
                  <a:srgbClr val="31538F"/>
                </a:solidFill>
              </a:rPr>
              <a:t>Methodology</a:t>
            </a:r>
          </a:p>
          <a:p>
            <a:r>
              <a:rPr lang="en-IN" dirty="0"/>
              <a:t>• Collect IoT network traffic datasets.</a:t>
            </a:r>
            <a:br>
              <a:rPr lang="en-IN" dirty="0"/>
            </a:br>
            <a:r>
              <a:rPr lang="en-IN" dirty="0"/>
              <a:t>• Preprocess data (cleaning, encoding, scaling, feature selection).</a:t>
            </a:r>
            <a:br>
              <a:rPr lang="en-IN" dirty="0"/>
            </a:br>
            <a:r>
              <a:rPr lang="en-IN" dirty="0"/>
              <a:t>• Train anomaly detection model to detect abnormal traffic.</a:t>
            </a:r>
            <a:br>
              <a:rPr lang="en-IN" dirty="0"/>
            </a:br>
            <a:r>
              <a:rPr lang="en-IN" dirty="0"/>
              <a:t>• Train classification model to identify attack types.</a:t>
            </a:r>
            <a:br>
              <a:rPr lang="en-IN" dirty="0"/>
            </a:br>
            <a:r>
              <a:rPr lang="en-IN" dirty="0"/>
              <a:t>• Test the system on new network traffic data.</a:t>
            </a:r>
          </a:p>
          <a:p>
            <a:endParaRPr lang="en-IN" dirty="0"/>
          </a:p>
          <a:p>
            <a:r>
              <a:rPr lang="en-IN" b="1" dirty="0">
                <a:solidFill>
                  <a:srgbClr val="31538F"/>
                </a:solidFill>
              </a:rPr>
              <a:t>Technical Stack</a:t>
            </a:r>
          </a:p>
          <a:p>
            <a:r>
              <a:rPr lang="en-IN" dirty="0"/>
              <a:t>• </a:t>
            </a:r>
            <a:r>
              <a:rPr lang="en-IN" b="1" dirty="0"/>
              <a:t>Programming Language:</a:t>
            </a:r>
            <a:r>
              <a:rPr lang="en-IN" dirty="0"/>
              <a:t> Python</a:t>
            </a:r>
            <a:br>
              <a:rPr lang="en-IN" dirty="0"/>
            </a:br>
            <a:r>
              <a:rPr lang="en-IN" dirty="0"/>
              <a:t>• </a:t>
            </a:r>
            <a:r>
              <a:rPr lang="en-IN" b="1" dirty="0"/>
              <a:t>Libraries:</a:t>
            </a:r>
            <a:r>
              <a:rPr lang="en-IN" dirty="0"/>
              <a:t> Pandas, NumPy, Scikit-learn, TensorFlow, Matplotlib</a:t>
            </a:r>
            <a:br>
              <a:rPr lang="en-IN" dirty="0"/>
            </a:br>
            <a:r>
              <a:rPr lang="en-IN" dirty="0"/>
              <a:t>• </a:t>
            </a:r>
            <a:r>
              <a:rPr lang="en-IN" b="1" dirty="0"/>
              <a:t>Algorithms:</a:t>
            </a:r>
            <a:r>
              <a:rPr lang="en-IN" dirty="0"/>
              <a:t> Local Outlier Factor (LOF), Random Forest</a:t>
            </a:r>
            <a:br>
              <a:rPr lang="en-IN" dirty="0"/>
            </a:br>
            <a:r>
              <a:rPr lang="en-IN" dirty="0"/>
              <a:t>• </a:t>
            </a:r>
            <a:r>
              <a:rPr lang="en-IN" b="1" dirty="0"/>
              <a:t>Tools:</a:t>
            </a:r>
            <a:r>
              <a:rPr lang="en-IN" dirty="0"/>
              <a:t> CSV datasets, Python environment</a:t>
            </a:r>
          </a:p>
        </p:txBody>
      </p:sp>
      <p:sp>
        <p:nvSpPr>
          <p:cNvPr id="65" name="TextBox 64">
            <a:extLst>
              <a:ext uri="{FF2B5EF4-FFF2-40B4-BE49-F238E27FC236}">
                <a16:creationId xmlns:a16="http://schemas.microsoft.com/office/drawing/2014/main" id="{F1A57AFF-140E-0087-A6E3-62EE78A8AABE}"/>
              </a:ext>
            </a:extLst>
          </p:cNvPr>
          <p:cNvSpPr txBox="1"/>
          <p:nvPr/>
        </p:nvSpPr>
        <p:spPr>
          <a:xfrm>
            <a:off x="5583366" y="8526566"/>
            <a:ext cx="5415280" cy="369332"/>
          </a:xfrm>
          <a:prstGeom prst="rect">
            <a:avLst/>
          </a:prstGeom>
          <a:noFill/>
        </p:spPr>
        <p:txBody>
          <a:bodyPr wrap="square">
            <a:spAutoFit/>
          </a:bodyPr>
          <a:lstStyle/>
          <a:p>
            <a:pPr marL="285750" indent="-285750">
              <a:buFont typeface="Arial" panose="020B0604020202020204" pitchFamily="34" charset="0"/>
              <a:buChar char="•"/>
            </a:pPr>
            <a:endParaRPr lang="en-IN" dirty="0"/>
          </a:p>
        </p:txBody>
      </p:sp>
      <p:sp>
        <p:nvSpPr>
          <p:cNvPr id="69" name="TextBox 68">
            <a:extLst>
              <a:ext uri="{FF2B5EF4-FFF2-40B4-BE49-F238E27FC236}">
                <a16:creationId xmlns:a16="http://schemas.microsoft.com/office/drawing/2014/main" id="{131910AE-C337-B60D-2C5B-87D3D9858A93}"/>
              </a:ext>
            </a:extLst>
          </p:cNvPr>
          <p:cNvSpPr txBox="1"/>
          <p:nvPr/>
        </p:nvSpPr>
        <p:spPr>
          <a:xfrm>
            <a:off x="5678651" y="8500881"/>
            <a:ext cx="4672768" cy="4247317"/>
          </a:xfrm>
          <a:prstGeom prst="rect">
            <a:avLst/>
          </a:prstGeom>
          <a:noFill/>
        </p:spPr>
        <p:txBody>
          <a:bodyPr wrap="square">
            <a:spAutoFit/>
          </a:bodyPr>
          <a:lstStyle/>
          <a:p>
            <a:pPr marL="285750" indent="-285750" algn="just">
              <a:buFont typeface="Arial" panose="020B0604020202020204" pitchFamily="34" charset="0"/>
              <a:buChar char="•"/>
            </a:pPr>
            <a:r>
              <a:rPr lang="en-US" dirty="0"/>
              <a:t>Successfully implemented a smart home IoT environment using ESP32 and a smart bulb communicating over Wi-Fi.</a:t>
            </a:r>
          </a:p>
          <a:p>
            <a:pPr marL="285750" indent="-285750" algn="just">
              <a:buFont typeface="Arial" panose="020B0604020202020204" pitchFamily="34" charset="0"/>
              <a:buChar char="•"/>
            </a:pPr>
            <a:r>
              <a:rPr lang="en-US" dirty="0"/>
              <a:t>Successfully captured normal IoT network traffic and generated attack traffic through simulated network attacks.</a:t>
            </a:r>
          </a:p>
          <a:p>
            <a:pPr marL="285750" indent="-285750" algn="just">
              <a:buFont typeface="Arial" panose="020B0604020202020204" pitchFamily="34" charset="0"/>
              <a:buChar char="•"/>
            </a:pPr>
            <a:r>
              <a:rPr lang="en-US" dirty="0"/>
              <a:t>Successfully preprocessed and analyzed network traffic data to identify behavioral patterns.</a:t>
            </a:r>
          </a:p>
          <a:p>
            <a:pPr marL="285750" indent="-285750" algn="just">
              <a:buFont typeface="Arial" panose="020B0604020202020204" pitchFamily="34" charset="0"/>
              <a:buChar char="•"/>
            </a:pPr>
            <a:r>
              <a:rPr lang="en-US" dirty="0"/>
              <a:t>Successfully compared multiple anomaly detection models and selected the best-performing model.</a:t>
            </a:r>
          </a:p>
          <a:p>
            <a:pPr marL="285750" indent="-285750" algn="just">
              <a:buFont typeface="Arial" panose="020B0604020202020204" pitchFamily="34" charset="0"/>
              <a:buChar char="•"/>
            </a:pPr>
            <a:r>
              <a:rPr lang="en-US" dirty="0"/>
              <a:t>Successfully detected abnormal IoT network traffic and classified different types of attacks using machine learning.</a:t>
            </a:r>
            <a:endParaRPr lang="en-IN" dirty="0"/>
          </a:p>
        </p:txBody>
      </p:sp>
      <p:sp>
        <p:nvSpPr>
          <p:cNvPr id="75" name="TextBox 74">
            <a:extLst>
              <a:ext uri="{FF2B5EF4-FFF2-40B4-BE49-F238E27FC236}">
                <a16:creationId xmlns:a16="http://schemas.microsoft.com/office/drawing/2014/main" id="{0D338589-8434-0CEC-476F-1CB1C41675AD}"/>
              </a:ext>
            </a:extLst>
          </p:cNvPr>
          <p:cNvSpPr txBox="1"/>
          <p:nvPr/>
        </p:nvSpPr>
        <p:spPr>
          <a:xfrm>
            <a:off x="218811" y="13510969"/>
            <a:ext cx="7355442" cy="1200329"/>
          </a:xfrm>
          <a:prstGeom prst="rect">
            <a:avLst/>
          </a:prstGeom>
          <a:noFill/>
        </p:spPr>
        <p:txBody>
          <a:bodyPr wrap="square">
            <a:spAutoFit/>
          </a:bodyPr>
          <a:lstStyle/>
          <a:p>
            <a:pPr algn="just"/>
            <a:r>
              <a:rPr lang="en-US" dirty="0"/>
              <a:t>The project demonstrates a machine learning–based system for monitoring IoT smart bulb network traffic and detecting malicious activities. The system can identify abnormal traffic and classify different attack types, helping improve security in smart home IoT environments.</a:t>
            </a:r>
            <a:endParaRPr lang="en-IN" dirty="0"/>
          </a:p>
        </p:txBody>
      </p:sp>
      <p:pic>
        <p:nvPicPr>
          <p:cNvPr id="79" name="Picture 78">
            <a:extLst>
              <a:ext uri="{FF2B5EF4-FFF2-40B4-BE49-F238E27FC236}">
                <a16:creationId xmlns:a16="http://schemas.microsoft.com/office/drawing/2014/main" id="{99965696-46F8-EC83-DBEA-3E1CF019950D}"/>
              </a:ext>
            </a:extLst>
          </p:cNvPr>
          <p:cNvPicPr>
            <a:picLocks noChangeAspect="1"/>
          </p:cNvPicPr>
          <p:nvPr/>
        </p:nvPicPr>
        <p:blipFill>
          <a:blip r:embed="rId19" cstate="print">
            <a:extLst>
              <a:ext uri="{28A0092B-C50C-407E-A947-70E740481C1C}">
                <a14:useLocalDpi xmlns:a14="http://schemas.microsoft.com/office/drawing/2010/main" val="0"/>
              </a:ext>
            </a:extLst>
          </a:blip>
          <a:stretch>
            <a:fillRect/>
          </a:stretch>
        </p:blipFill>
        <p:spPr>
          <a:xfrm>
            <a:off x="5958674" y="2752413"/>
            <a:ext cx="4178164" cy="2350217"/>
          </a:xfrm>
          <a:prstGeom prst="rect">
            <a:avLst/>
          </a:prstGeom>
        </p:spPr>
      </p:pic>
      <p:pic>
        <p:nvPicPr>
          <p:cNvPr id="80" name="Picture 79">
            <a:extLst>
              <a:ext uri="{FF2B5EF4-FFF2-40B4-BE49-F238E27FC236}">
                <a16:creationId xmlns:a16="http://schemas.microsoft.com/office/drawing/2014/main" id="{FB57E9FB-EFA2-7BBD-6C8F-516217F3743B}"/>
              </a:ext>
            </a:extLst>
          </p:cNvPr>
          <p:cNvPicPr>
            <a:picLocks noChangeAspect="1"/>
          </p:cNvPicPr>
          <p:nvPr/>
        </p:nvPicPr>
        <p:blipFill>
          <a:blip r:embed="rId20"/>
          <a:stretch>
            <a:fillRect/>
          </a:stretch>
        </p:blipFill>
        <p:spPr>
          <a:xfrm>
            <a:off x="5740914" y="5241183"/>
            <a:ext cx="2274890" cy="2285381"/>
          </a:xfrm>
          <a:prstGeom prst="rect">
            <a:avLst/>
          </a:prstGeom>
        </p:spPr>
      </p:pic>
      <p:pic>
        <p:nvPicPr>
          <p:cNvPr id="81" name="Picture 80">
            <a:extLst>
              <a:ext uri="{FF2B5EF4-FFF2-40B4-BE49-F238E27FC236}">
                <a16:creationId xmlns:a16="http://schemas.microsoft.com/office/drawing/2014/main" id="{5CED9003-BF03-670E-E1EB-37CE5B043014}"/>
              </a:ext>
            </a:extLst>
          </p:cNvPr>
          <p:cNvPicPr>
            <a:picLocks noChangeAspect="1"/>
          </p:cNvPicPr>
          <p:nvPr/>
        </p:nvPicPr>
        <p:blipFill>
          <a:blip r:embed="rId21"/>
          <a:stretch>
            <a:fillRect/>
          </a:stretch>
        </p:blipFill>
        <p:spPr>
          <a:xfrm>
            <a:off x="8102056" y="5241182"/>
            <a:ext cx="2341585" cy="2285382"/>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33</TotalTime>
  <Words>366</Words>
  <Application>Microsoft Office PowerPoint</Application>
  <PresentationFormat>Custom</PresentationFormat>
  <Paragraphs>31</Paragraphs>
  <Slides>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Cambria Bold</vt:lpstr>
      <vt:lpstr>Arial Bold</vt:lpstr>
      <vt:lpstr>Calibri</vt:lpstr>
      <vt:lpstr>Arial</vt:lpstr>
      <vt:lpstr>Glacial Indifference Bold</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OpenHouse</dc:title>
  <dc:creator>Saketh Yamsani</dc:creator>
  <cp:lastModifiedBy>Saketh Yamsani</cp:lastModifiedBy>
  <cp:revision>3</cp:revision>
  <dcterms:created xsi:type="dcterms:W3CDTF">2006-08-16T00:00:00Z</dcterms:created>
  <dcterms:modified xsi:type="dcterms:W3CDTF">2026-03-09T15:28:20Z</dcterms:modified>
  <dc:identifier>DAHCz1dI6Q4</dc:identifier>
</cp:coreProperties>
</file>